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256" r:id="rId2"/>
    <p:sldId id="257" r:id="rId3"/>
    <p:sldId id="258" r:id="rId4"/>
    <p:sldId id="260" r:id="rId5"/>
    <p:sldId id="283" r:id="rId6"/>
    <p:sldId id="261" r:id="rId7"/>
    <p:sldId id="259" r:id="rId8"/>
    <p:sldId id="268" r:id="rId9"/>
    <p:sldId id="267" r:id="rId10"/>
    <p:sldId id="269" r:id="rId11"/>
    <p:sldId id="270" r:id="rId12"/>
    <p:sldId id="284" r:id="rId13"/>
    <p:sldId id="271" r:id="rId14"/>
    <p:sldId id="272" r:id="rId15"/>
    <p:sldId id="274" r:id="rId16"/>
    <p:sldId id="273" r:id="rId17"/>
    <p:sldId id="285" r:id="rId18"/>
    <p:sldId id="265" r:id="rId19"/>
    <p:sldId id="266" r:id="rId20"/>
    <p:sldId id="280" r:id="rId21"/>
    <p:sldId id="275" r:id="rId22"/>
    <p:sldId id="279" r:id="rId23"/>
    <p:sldId id="276" r:id="rId24"/>
    <p:sldId id="277" r:id="rId25"/>
    <p:sldId id="278" r:id="rId26"/>
    <p:sldId id="281" r:id="rId27"/>
    <p:sldId id="264" r:id="rId28"/>
    <p:sldId id="263" r:id="rId2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3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5D5D"/>
    <a:srgbClr val="0F1012"/>
    <a:srgbClr val="000000"/>
    <a:srgbClr val="AEAEAE"/>
    <a:srgbClr val="8484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80170" autoAdjust="0"/>
  </p:normalViewPr>
  <p:slideViewPr>
    <p:cSldViewPr snapToGrid="0" showGuides="1">
      <p:cViewPr>
        <p:scale>
          <a:sx n="70" d="100"/>
          <a:sy n="70" d="100"/>
        </p:scale>
        <p:origin x="891" y="51"/>
      </p:cViewPr>
      <p:guideLst>
        <p:guide orient="horz" pos="2432"/>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B57D2-1350-41EF-8E3A-D603F4A26CA6}" type="doc">
      <dgm:prSet loTypeId="urn:microsoft.com/office/officeart/2009/3/layout/IncreasingArrowsProcess" loCatId="process" qsTypeId="urn:microsoft.com/office/officeart/2005/8/quickstyle/3d3" qsCatId="3D" csTypeId="urn:microsoft.com/office/officeart/2005/8/colors/accent0_1" csCatId="mainScheme" phldr="1"/>
      <dgm:spPr/>
    </dgm:pt>
    <dgm:pt modelId="{62181298-3E1D-4127-90D0-4BC2851C8C97}">
      <dgm:prSet phldrT="[텍스트]" custT="1"/>
      <dgm:spPr/>
      <dgm:t>
        <a:bodyPr/>
        <a:lstStyle/>
        <a:p>
          <a:pPr latinLnBrk="1"/>
          <a:r>
            <a:rPr lang="en-US" altLang="ko-KR" sz="24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 (2018)</a:t>
          </a:r>
          <a:endParaRPr lang="ko-KR" altLang="en-US" sz="2400" dirty="0">
            <a:solidFill>
              <a:srgbClr val="5D5D5D"/>
            </a:solidFill>
            <a:latin typeface="Calibri" panose="020F0502020204030204" pitchFamily="34" charset="0"/>
            <a:cs typeface="Calibri" panose="020F0502020204030204" pitchFamily="34" charset="0"/>
          </a:endParaRPr>
        </a:p>
      </dgm:t>
    </dgm:pt>
    <dgm:pt modelId="{9239A760-6623-4036-B8C4-46D1DADCB2F7}" type="parTrans" cxnId="{696EA164-2D76-4AE1-A53E-263764D690CB}">
      <dgm:prSet/>
      <dgm:spPr/>
      <dgm:t>
        <a:bodyPr/>
        <a:lstStyle/>
        <a:p>
          <a:pPr latinLnBrk="1"/>
          <a:endParaRPr lang="ko-KR" altLang="en-US" sz="1600">
            <a:solidFill>
              <a:srgbClr val="5D5D5D"/>
            </a:solidFill>
            <a:latin typeface="Calibri" panose="020F0502020204030204" pitchFamily="34" charset="0"/>
            <a:cs typeface="Calibri" panose="020F0502020204030204" pitchFamily="34" charset="0"/>
          </a:endParaRPr>
        </a:p>
      </dgm:t>
    </dgm:pt>
    <dgm:pt modelId="{1E4D0A08-51F8-4CA0-A7B8-EF37150DADFC}" type="sibTrans" cxnId="{696EA164-2D76-4AE1-A53E-263764D690CB}">
      <dgm:prSet/>
      <dgm:spPr/>
      <dgm:t>
        <a:bodyPr/>
        <a:lstStyle/>
        <a:p>
          <a:pPr latinLnBrk="1"/>
          <a:endParaRPr lang="ko-KR" altLang="en-US" sz="1600">
            <a:solidFill>
              <a:srgbClr val="5D5D5D"/>
            </a:solidFill>
            <a:latin typeface="Calibri" panose="020F0502020204030204" pitchFamily="34" charset="0"/>
            <a:cs typeface="Calibri" panose="020F0502020204030204" pitchFamily="34" charset="0"/>
          </a:endParaRPr>
        </a:p>
      </dgm:t>
    </dgm:pt>
    <dgm:pt modelId="{08E38A6A-1489-431D-83E0-C184386782B2}">
      <dgm:prSet phldrT="[텍스트]" custT="1"/>
      <dgm:spPr/>
      <dgm:t>
        <a:bodyPr/>
        <a:lstStyle/>
        <a:p>
          <a:pPr latinLnBrk="1"/>
          <a:r>
            <a:rPr lang="en-US" altLang="ko-KR" sz="24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 2 (2020) / </a:t>
          </a:r>
          <a:r>
            <a:rPr lang="en-US" altLang="ko-KR" sz="24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-multimer (2021)</a:t>
          </a:r>
          <a:endParaRPr lang="ko-KR" altLang="en-US" sz="2400" dirty="0">
            <a:solidFill>
              <a:srgbClr val="5D5D5D"/>
            </a:solidFill>
            <a:latin typeface="Calibri" panose="020F0502020204030204" pitchFamily="34" charset="0"/>
            <a:cs typeface="Calibri" panose="020F0502020204030204" pitchFamily="34" charset="0"/>
          </a:endParaRPr>
        </a:p>
      </dgm:t>
    </dgm:pt>
    <dgm:pt modelId="{15FC2E35-827F-4D23-8084-085923895031}" type="parTrans" cxnId="{674E2887-F766-4928-8AA0-60156E35C3BD}">
      <dgm:prSet/>
      <dgm:spPr/>
      <dgm:t>
        <a:bodyPr/>
        <a:lstStyle/>
        <a:p>
          <a:pPr latinLnBrk="1"/>
          <a:endParaRPr lang="ko-KR" altLang="en-US" sz="1600">
            <a:solidFill>
              <a:srgbClr val="5D5D5D"/>
            </a:solidFill>
            <a:latin typeface="Calibri" panose="020F0502020204030204" pitchFamily="34" charset="0"/>
            <a:cs typeface="Calibri" panose="020F0502020204030204" pitchFamily="34" charset="0"/>
          </a:endParaRPr>
        </a:p>
      </dgm:t>
    </dgm:pt>
    <dgm:pt modelId="{32908B1C-31F6-49CC-B554-0DF389446B39}" type="sibTrans" cxnId="{674E2887-F766-4928-8AA0-60156E35C3BD}">
      <dgm:prSet/>
      <dgm:spPr/>
      <dgm:t>
        <a:bodyPr/>
        <a:lstStyle/>
        <a:p>
          <a:pPr latinLnBrk="1"/>
          <a:endParaRPr lang="ko-KR" altLang="en-US" sz="1600">
            <a:solidFill>
              <a:srgbClr val="5D5D5D"/>
            </a:solidFill>
            <a:latin typeface="Calibri" panose="020F0502020204030204" pitchFamily="34" charset="0"/>
            <a:cs typeface="Calibri" panose="020F0502020204030204" pitchFamily="34" charset="0"/>
          </a:endParaRPr>
        </a:p>
      </dgm:t>
    </dgm:pt>
    <dgm:pt modelId="{A98AB0DC-22C5-42D9-8F5C-60498F237B21}">
      <dgm:prSet phldrT="[텍스트]" custT="1"/>
      <dgm:spPr/>
      <dgm:t>
        <a:bodyPr/>
        <a:lstStyle/>
        <a:p>
          <a:pPr latinLnBrk="1"/>
          <a:r>
            <a:rPr lang="en-US" altLang="ko-KR" sz="24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 3 (2024)</a:t>
          </a:r>
          <a:endParaRPr lang="ko-KR" altLang="en-US" sz="2400" dirty="0">
            <a:solidFill>
              <a:srgbClr val="5D5D5D"/>
            </a:solidFill>
            <a:latin typeface="Calibri" panose="020F0502020204030204" pitchFamily="34" charset="0"/>
            <a:cs typeface="Calibri" panose="020F0502020204030204" pitchFamily="34" charset="0"/>
          </a:endParaRPr>
        </a:p>
      </dgm:t>
    </dgm:pt>
    <dgm:pt modelId="{5A863284-41AF-418F-AD4C-EB23AEDD58C4}" type="parTrans" cxnId="{F47CEB7A-4A92-4C22-80A1-F103E449DE49}">
      <dgm:prSet/>
      <dgm:spPr/>
      <dgm:t>
        <a:bodyPr/>
        <a:lstStyle/>
        <a:p>
          <a:pPr latinLnBrk="1"/>
          <a:endParaRPr lang="ko-KR" altLang="en-US" sz="1600">
            <a:solidFill>
              <a:srgbClr val="5D5D5D"/>
            </a:solidFill>
            <a:latin typeface="Calibri" panose="020F0502020204030204" pitchFamily="34" charset="0"/>
            <a:cs typeface="Calibri" panose="020F0502020204030204" pitchFamily="34" charset="0"/>
          </a:endParaRPr>
        </a:p>
      </dgm:t>
    </dgm:pt>
    <dgm:pt modelId="{9B0896D8-F275-4241-BF2A-459EAFFF345D}" type="sibTrans" cxnId="{F47CEB7A-4A92-4C22-80A1-F103E449DE49}">
      <dgm:prSet/>
      <dgm:spPr/>
      <dgm:t>
        <a:bodyPr/>
        <a:lstStyle/>
        <a:p>
          <a:pPr latinLnBrk="1"/>
          <a:endParaRPr lang="ko-KR" altLang="en-US" sz="1600">
            <a:solidFill>
              <a:srgbClr val="5D5D5D"/>
            </a:solidFill>
            <a:latin typeface="Calibri" panose="020F0502020204030204" pitchFamily="34" charset="0"/>
            <a:cs typeface="Calibri" panose="020F0502020204030204" pitchFamily="34" charset="0"/>
          </a:endParaRPr>
        </a:p>
      </dgm:t>
    </dgm:pt>
    <dgm:pt modelId="{06EDC54E-6212-4E84-990F-4A0C3A023F1D}" type="pres">
      <dgm:prSet presAssocID="{5FDB57D2-1350-41EF-8E3A-D603F4A26CA6}" presName="Name0" presStyleCnt="0">
        <dgm:presLayoutVars>
          <dgm:chMax val="5"/>
          <dgm:chPref val="5"/>
          <dgm:dir/>
          <dgm:animLvl val="lvl"/>
        </dgm:presLayoutVars>
      </dgm:prSet>
      <dgm:spPr/>
    </dgm:pt>
    <dgm:pt modelId="{3FB5F39A-4915-43D3-94A2-2228FBA571D4}" type="pres">
      <dgm:prSet presAssocID="{62181298-3E1D-4127-90D0-4BC2851C8C97}" presName="parentText1" presStyleLbl="node1" presStyleIdx="0" presStyleCnt="3" custLinFactNeighborX="-65">
        <dgm:presLayoutVars>
          <dgm:chMax/>
          <dgm:chPref val="3"/>
          <dgm:bulletEnabled val="1"/>
        </dgm:presLayoutVars>
      </dgm:prSet>
      <dgm:spPr/>
    </dgm:pt>
    <dgm:pt modelId="{C191F2E9-76B3-4FBD-B160-64F3DDF1B4AA}" type="pres">
      <dgm:prSet presAssocID="{08E38A6A-1489-431D-83E0-C184386782B2}" presName="parentText2" presStyleLbl="node1" presStyleIdx="1" presStyleCnt="3" custScaleX="112178" custLinFactNeighborX="-4688" custLinFactNeighborY="-195">
        <dgm:presLayoutVars>
          <dgm:chMax/>
          <dgm:chPref val="3"/>
          <dgm:bulletEnabled val="1"/>
        </dgm:presLayoutVars>
      </dgm:prSet>
      <dgm:spPr/>
    </dgm:pt>
    <dgm:pt modelId="{7E905FB8-2EC5-437E-886F-4F16DC32F2FE}" type="pres">
      <dgm:prSet presAssocID="{A98AB0DC-22C5-42D9-8F5C-60498F237B21}" presName="parentText3" presStyleLbl="node1" presStyleIdx="2" presStyleCnt="3" custScaleX="97169" custLinFactNeighborX="6733" custLinFactNeighborY="8040">
        <dgm:presLayoutVars>
          <dgm:chMax/>
          <dgm:chPref val="3"/>
          <dgm:bulletEnabled val="1"/>
        </dgm:presLayoutVars>
      </dgm:prSet>
      <dgm:spPr/>
    </dgm:pt>
  </dgm:ptLst>
  <dgm:cxnLst>
    <dgm:cxn modelId="{AAC88C2F-A607-4C0B-AAE3-F01035EF9F32}" type="presOf" srcId="{08E38A6A-1489-431D-83E0-C184386782B2}" destId="{C191F2E9-76B3-4FBD-B160-64F3DDF1B4AA}" srcOrd="0" destOrd="0" presId="urn:microsoft.com/office/officeart/2009/3/layout/IncreasingArrowsProcess"/>
    <dgm:cxn modelId="{696EA164-2D76-4AE1-A53E-263764D690CB}" srcId="{5FDB57D2-1350-41EF-8E3A-D603F4A26CA6}" destId="{62181298-3E1D-4127-90D0-4BC2851C8C97}" srcOrd="0" destOrd="0" parTransId="{9239A760-6623-4036-B8C4-46D1DADCB2F7}" sibTransId="{1E4D0A08-51F8-4CA0-A7B8-EF37150DADFC}"/>
    <dgm:cxn modelId="{F47CEB7A-4A92-4C22-80A1-F103E449DE49}" srcId="{5FDB57D2-1350-41EF-8E3A-D603F4A26CA6}" destId="{A98AB0DC-22C5-42D9-8F5C-60498F237B21}" srcOrd="2" destOrd="0" parTransId="{5A863284-41AF-418F-AD4C-EB23AEDD58C4}" sibTransId="{9B0896D8-F275-4241-BF2A-459EAFFF345D}"/>
    <dgm:cxn modelId="{674E2887-F766-4928-8AA0-60156E35C3BD}" srcId="{5FDB57D2-1350-41EF-8E3A-D603F4A26CA6}" destId="{08E38A6A-1489-431D-83E0-C184386782B2}" srcOrd="1" destOrd="0" parTransId="{15FC2E35-827F-4D23-8084-085923895031}" sibTransId="{32908B1C-31F6-49CC-B554-0DF389446B39}"/>
    <dgm:cxn modelId="{DC1BCF8A-474F-4145-A08F-61BCB3A8E9BC}" type="presOf" srcId="{62181298-3E1D-4127-90D0-4BC2851C8C97}" destId="{3FB5F39A-4915-43D3-94A2-2228FBA571D4}" srcOrd="0" destOrd="0" presId="urn:microsoft.com/office/officeart/2009/3/layout/IncreasingArrowsProcess"/>
    <dgm:cxn modelId="{FCF7858B-CC32-4841-88CA-B714908804FA}" type="presOf" srcId="{5FDB57D2-1350-41EF-8E3A-D603F4A26CA6}" destId="{06EDC54E-6212-4E84-990F-4A0C3A023F1D}" srcOrd="0" destOrd="0" presId="urn:microsoft.com/office/officeart/2009/3/layout/IncreasingArrowsProcess"/>
    <dgm:cxn modelId="{2669AFF5-FCF9-4C25-B8FB-1966BD44B4E7}" type="presOf" srcId="{A98AB0DC-22C5-42D9-8F5C-60498F237B21}" destId="{7E905FB8-2EC5-437E-886F-4F16DC32F2FE}" srcOrd="0" destOrd="0" presId="urn:microsoft.com/office/officeart/2009/3/layout/IncreasingArrowsProcess"/>
    <dgm:cxn modelId="{81B416BB-1BDD-43EE-8D2C-10864CBACBF9}" type="presParOf" srcId="{06EDC54E-6212-4E84-990F-4A0C3A023F1D}" destId="{3FB5F39A-4915-43D3-94A2-2228FBA571D4}" srcOrd="0" destOrd="0" presId="urn:microsoft.com/office/officeart/2009/3/layout/IncreasingArrowsProcess"/>
    <dgm:cxn modelId="{74AE151F-3DFE-4FB2-B063-E621391AABA6}" type="presParOf" srcId="{06EDC54E-6212-4E84-990F-4A0C3A023F1D}" destId="{C191F2E9-76B3-4FBD-B160-64F3DDF1B4AA}" srcOrd="1" destOrd="0" presId="urn:microsoft.com/office/officeart/2009/3/layout/IncreasingArrowsProcess"/>
    <dgm:cxn modelId="{F4439303-D60E-44D0-84B5-271B6BBC01D3}" type="presParOf" srcId="{06EDC54E-6212-4E84-990F-4A0C3A023F1D}" destId="{7E905FB8-2EC5-437E-886F-4F16DC32F2FE}" srcOrd="2" destOrd="0" presId="urn:microsoft.com/office/officeart/2009/3/layout/IncreasingArrowsProcess"/>
  </dgm:cxnLst>
  <dgm:bg/>
  <dgm:whole>
    <a:ln>
      <a:noFill/>
    </a:ln>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5F39A-4915-43D3-94A2-2228FBA571D4}">
      <dsp:nvSpPr>
        <dsp:cNvPr id="0" name=""/>
        <dsp:cNvSpPr/>
      </dsp:nvSpPr>
      <dsp:spPr>
        <a:xfrm>
          <a:off x="-221542" y="899441"/>
          <a:ext cx="10515600" cy="1531472"/>
        </a:xfrm>
        <a:prstGeom prst="rightArrow">
          <a:avLst>
            <a:gd name="adj1" fmla="val 50000"/>
            <a:gd name="adj2" fmla="val 5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254000" bIns="243121" numCol="1" spcCol="1270" anchor="ctr" anchorCtr="0">
          <a:noAutofit/>
        </a:bodyPr>
        <a:lstStyle/>
        <a:p>
          <a:pPr marL="0" lvl="0" indent="0" algn="l" defTabSz="1066800" latinLnBrk="1">
            <a:lnSpc>
              <a:spcPct val="90000"/>
            </a:lnSpc>
            <a:spcBef>
              <a:spcPct val="0"/>
            </a:spcBef>
            <a:spcAft>
              <a:spcPct val="35000"/>
            </a:spcAft>
            <a:buNone/>
          </a:pPr>
          <a:r>
            <a:rPr lang="en-US" altLang="ko-KR" sz="2400" kern="12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kern="1200" dirty="0">
              <a:solidFill>
                <a:srgbClr val="5D5D5D"/>
              </a:solidFill>
              <a:latin typeface="Calibri" panose="020F0502020204030204" pitchFamily="34" charset="0"/>
              <a:ea typeface="Calibri" panose="020F0502020204030204" pitchFamily="34" charset="0"/>
              <a:cs typeface="Calibri" panose="020F0502020204030204" pitchFamily="34" charset="0"/>
            </a:rPr>
            <a:t> (2018)</a:t>
          </a:r>
          <a:endParaRPr lang="ko-KR" altLang="en-US" sz="2400" kern="1200" dirty="0">
            <a:solidFill>
              <a:srgbClr val="5D5D5D"/>
            </a:solidFill>
            <a:latin typeface="Calibri" panose="020F0502020204030204" pitchFamily="34" charset="0"/>
            <a:cs typeface="Calibri" panose="020F0502020204030204" pitchFamily="34" charset="0"/>
          </a:endParaRPr>
        </a:p>
      </dsp:txBody>
      <dsp:txXfrm>
        <a:off x="-221542" y="1282309"/>
        <a:ext cx="10132732" cy="765736"/>
      </dsp:txXfrm>
    </dsp:sp>
    <dsp:sp modelId="{C191F2E9-76B3-4FBD-B160-64F3DDF1B4AA}">
      <dsp:nvSpPr>
        <dsp:cNvPr id="0" name=""/>
        <dsp:cNvSpPr/>
      </dsp:nvSpPr>
      <dsp:spPr>
        <a:xfrm>
          <a:off x="2233042" y="1406946"/>
          <a:ext cx="8162963" cy="1531472"/>
        </a:xfrm>
        <a:prstGeom prst="rightArrow">
          <a:avLst>
            <a:gd name="adj1" fmla="val 50000"/>
            <a:gd name="adj2" fmla="val 5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254000" bIns="243121" numCol="1" spcCol="1270" anchor="ctr" anchorCtr="0">
          <a:noAutofit/>
        </a:bodyPr>
        <a:lstStyle/>
        <a:p>
          <a:pPr marL="0" lvl="0" indent="0" algn="l" defTabSz="1066800" latinLnBrk="1">
            <a:lnSpc>
              <a:spcPct val="90000"/>
            </a:lnSpc>
            <a:spcBef>
              <a:spcPct val="0"/>
            </a:spcBef>
            <a:spcAft>
              <a:spcPct val="35000"/>
            </a:spcAft>
            <a:buNone/>
          </a:pPr>
          <a:r>
            <a:rPr lang="en-US" altLang="ko-KR" sz="2400" kern="12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kern="1200" dirty="0">
              <a:solidFill>
                <a:srgbClr val="5D5D5D"/>
              </a:solidFill>
              <a:latin typeface="Calibri" panose="020F0502020204030204" pitchFamily="34" charset="0"/>
              <a:ea typeface="Calibri" panose="020F0502020204030204" pitchFamily="34" charset="0"/>
              <a:cs typeface="Calibri" panose="020F0502020204030204" pitchFamily="34" charset="0"/>
            </a:rPr>
            <a:t> 2 (2020) / </a:t>
          </a:r>
          <a:r>
            <a:rPr lang="en-US" altLang="ko-KR" sz="2400" kern="12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kern="1200" dirty="0">
              <a:solidFill>
                <a:srgbClr val="5D5D5D"/>
              </a:solidFill>
              <a:latin typeface="Calibri" panose="020F0502020204030204" pitchFamily="34" charset="0"/>
              <a:ea typeface="Calibri" panose="020F0502020204030204" pitchFamily="34" charset="0"/>
              <a:cs typeface="Calibri" panose="020F0502020204030204" pitchFamily="34" charset="0"/>
            </a:rPr>
            <a:t>-multimer (2021)</a:t>
          </a:r>
          <a:endParaRPr lang="ko-KR" altLang="en-US" sz="2400" kern="1200" dirty="0">
            <a:solidFill>
              <a:srgbClr val="5D5D5D"/>
            </a:solidFill>
            <a:latin typeface="Calibri" panose="020F0502020204030204" pitchFamily="34" charset="0"/>
            <a:cs typeface="Calibri" panose="020F0502020204030204" pitchFamily="34" charset="0"/>
          </a:endParaRPr>
        </a:p>
      </dsp:txBody>
      <dsp:txXfrm>
        <a:off x="2233042" y="1789814"/>
        <a:ext cx="7780095" cy="765736"/>
      </dsp:txXfrm>
    </dsp:sp>
    <dsp:sp modelId="{7E905FB8-2EC5-437E-886F-4F16DC32F2FE}">
      <dsp:nvSpPr>
        <dsp:cNvPr id="0" name=""/>
        <dsp:cNvSpPr/>
      </dsp:nvSpPr>
      <dsp:spPr>
        <a:xfrm>
          <a:off x="6585103" y="2043553"/>
          <a:ext cx="3923674" cy="1531472"/>
        </a:xfrm>
        <a:prstGeom prst="rightArrow">
          <a:avLst>
            <a:gd name="adj1" fmla="val 50000"/>
            <a:gd name="adj2" fmla="val 50000"/>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254000" bIns="243121" numCol="1" spcCol="1270" anchor="ctr" anchorCtr="0">
          <a:noAutofit/>
        </a:bodyPr>
        <a:lstStyle/>
        <a:p>
          <a:pPr marL="0" lvl="0" indent="0" algn="l" defTabSz="1066800" latinLnBrk="1">
            <a:lnSpc>
              <a:spcPct val="90000"/>
            </a:lnSpc>
            <a:spcBef>
              <a:spcPct val="0"/>
            </a:spcBef>
            <a:spcAft>
              <a:spcPct val="35000"/>
            </a:spcAft>
            <a:buNone/>
          </a:pPr>
          <a:r>
            <a:rPr lang="en-US" altLang="ko-KR" sz="2400" kern="1200" dirty="0" err="1">
              <a:solidFill>
                <a:srgbClr val="5D5D5D"/>
              </a:solidFill>
              <a:latin typeface="Calibri" panose="020F0502020204030204" pitchFamily="34" charset="0"/>
              <a:ea typeface="Calibri" panose="020F0502020204030204" pitchFamily="34" charset="0"/>
              <a:cs typeface="Calibri" panose="020F0502020204030204" pitchFamily="34" charset="0"/>
            </a:rPr>
            <a:t>Alphafold</a:t>
          </a:r>
          <a:r>
            <a:rPr lang="en-US" altLang="ko-KR" sz="2400" kern="1200" dirty="0">
              <a:solidFill>
                <a:srgbClr val="5D5D5D"/>
              </a:solidFill>
              <a:latin typeface="Calibri" panose="020F0502020204030204" pitchFamily="34" charset="0"/>
              <a:ea typeface="Calibri" panose="020F0502020204030204" pitchFamily="34" charset="0"/>
              <a:cs typeface="Calibri" panose="020F0502020204030204" pitchFamily="34" charset="0"/>
            </a:rPr>
            <a:t> 3 (2024)</a:t>
          </a:r>
          <a:endParaRPr lang="ko-KR" altLang="en-US" sz="2400" kern="1200" dirty="0">
            <a:solidFill>
              <a:srgbClr val="5D5D5D"/>
            </a:solidFill>
            <a:latin typeface="Calibri" panose="020F0502020204030204" pitchFamily="34" charset="0"/>
            <a:cs typeface="Calibri" panose="020F0502020204030204" pitchFamily="34" charset="0"/>
          </a:endParaRPr>
        </a:p>
      </dsp:txBody>
      <dsp:txXfrm>
        <a:off x="6585103" y="2426421"/>
        <a:ext cx="3540806" cy="765736"/>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16476D-5110-4A22-8344-16DAB8E69A85}" type="datetimeFigureOut">
              <a:rPr lang="ko-KR" altLang="en-US" smtClean="0"/>
              <a:t>2025-07-18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7DCE0-779D-4395-A80B-A67310E5D275}" type="slidenum">
              <a:rPr lang="ko-KR" altLang="en-US" smtClean="0"/>
              <a:t>‹#›</a:t>
            </a:fld>
            <a:endParaRPr lang="ko-KR" altLang="en-US"/>
          </a:p>
        </p:txBody>
      </p:sp>
    </p:spTree>
    <p:extLst>
      <p:ext uri="{BB962C8B-B14F-4D97-AF65-F5344CB8AC3E}">
        <p14:creationId xmlns:p14="http://schemas.microsoft.com/office/powerpoint/2010/main" val="174230072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nl-BE" altLang="ko-KR" dirty="0" err="1"/>
              <a:t>motivation</a:t>
            </a:r>
            <a:endParaRPr lang="nl-BE" altLang="ko-KR" dirty="0"/>
          </a:p>
          <a:p>
            <a:r>
              <a:rPr lang="nl-BE" altLang="ko-KR" dirty="0" err="1"/>
              <a:t>result</a:t>
            </a:r>
            <a:endParaRPr lang="nl-BE" altLang="ko-KR" dirty="0"/>
          </a:p>
          <a:p>
            <a:r>
              <a:rPr lang="nl-BE" altLang="ko-KR" dirty="0"/>
              <a:t>model </a:t>
            </a:r>
            <a:r>
              <a:rPr lang="nl-BE" altLang="ko-KR" dirty="0" err="1"/>
              <a:t>architecture</a:t>
            </a:r>
            <a:r>
              <a:rPr lang="nl-BE" altLang="ko-KR" dirty="0"/>
              <a:t> (</a:t>
            </a:r>
            <a:r>
              <a:rPr lang="ko-KR" altLang="en-US" dirty="0"/>
              <a:t>이전의 모델 벤치마킹과의 차이점</a:t>
            </a:r>
            <a:r>
              <a:rPr lang="en-US" altLang="ko-KR" dirty="0"/>
              <a:t>?)</a:t>
            </a:r>
          </a:p>
          <a:p>
            <a:r>
              <a:rPr lang="nl-BE" altLang="ko-KR" dirty="0" err="1"/>
              <a:t>discussion</a:t>
            </a:r>
            <a:r>
              <a:rPr lang="nl-BE" altLang="ko-KR" dirty="0"/>
              <a:t> (pros/</a:t>
            </a:r>
            <a:r>
              <a:rPr lang="nl-BE" altLang="ko-KR" dirty="0" err="1"/>
              <a:t>cons</a:t>
            </a:r>
            <a:r>
              <a:rPr lang="nl-BE" altLang="ko-KR" dirty="0"/>
              <a:t>) </a:t>
            </a:r>
            <a:r>
              <a:rPr lang="nl-BE" altLang="ko-KR" dirty="0" err="1"/>
              <a:t>and</a:t>
            </a:r>
            <a:r>
              <a:rPr lang="nl-BE" altLang="ko-KR" dirty="0"/>
              <a:t> </a:t>
            </a:r>
            <a:r>
              <a:rPr lang="nl-BE" altLang="ko-KR" dirty="0" err="1"/>
              <a:t>the</a:t>
            </a:r>
            <a:r>
              <a:rPr lang="nl-BE" altLang="ko-KR" dirty="0"/>
              <a:t> </a:t>
            </a:r>
            <a:r>
              <a:rPr lang="nl-BE" altLang="ko-KR" dirty="0" err="1"/>
              <a:t>reason</a:t>
            </a:r>
            <a:endParaRPr lang="nl-BE" altLang="ko-KR" dirty="0"/>
          </a:p>
          <a:p>
            <a:r>
              <a:rPr lang="nl-BE" altLang="ko-KR" dirty="0"/>
              <a:t>(+ case </a:t>
            </a:r>
            <a:r>
              <a:rPr lang="nl-BE" altLang="ko-KR" dirty="0" err="1"/>
              <a:t>study</a:t>
            </a:r>
            <a:r>
              <a:rPr lang="nl-BE" altLang="ko-KR" dirty="0"/>
              <a:t>/</a:t>
            </a:r>
            <a:r>
              <a:rPr lang="ko-KR" altLang="en-US" dirty="0"/>
              <a:t>실제 모델 돌려본 결과</a:t>
            </a:r>
            <a:r>
              <a:rPr lang="en-US" altLang="ko-KR" dirty="0"/>
              <a:t>-</a:t>
            </a:r>
            <a:r>
              <a:rPr lang="nl-BE" altLang="ko-KR" dirty="0" err="1"/>
              <a:t>github</a:t>
            </a:r>
            <a:r>
              <a:rPr lang="nl-BE" altLang="ko-KR" dirty="0"/>
              <a:t>, </a:t>
            </a:r>
            <a:r>
              <a:rPr lang="nl-BE" altLang="ko-KR" dirty="0" err="1"/>
              <a:t>copilot</a:t>
            </a:r>
            <a:r>
              <a:rPr lang="nl-BE" altLang="ko-KR" dirty="0"/>
              <a:t> </a:t>
            </a:r>
            <a:r>
              <a:rPr lang="ko-KR" altLang="en-US" dirty="0"/>
              <a:t>등</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1</a:t>
            </a:fld>
            <a:endParaRPr lang="ko-KR" altLang="en-US"/>
          </a:p>
        </p:txBody>
      </p:sp>
    </p:spTree>
    <p:extLst>
      <p:ext uri="{BB962C8B-B14F-4D97-AF65-F5344CB8AC3E}">
        <p14:creationId xmlns:p14="http://schemas.microsoft.com/office/powerpoint/2010/main" val="1001222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시퀀스를 기반으로 입체 구조 예측</a:t>
            </a:r>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2</a:t>
            </a:fld>
            <a:endParaRPr lang="ko-KR" altLang="en-US"/>
          </a:p>
        </p:txBody>
      </p:sp>
    </p:spTree>
    <p:extLst>
      <p:ext uri="{BB962C8B-B14F-4D97-AF65-F5344CB8AC3E}">
        <p14:creationId xmlns:p14="http://schemas.microsoft.com/office/powerpoint/2010/main" val="3837560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a:t>Alphafold</a:t>
            </a:r>
            <a:r>
              <a:rPr lang="en-US" altLang="ko-KR" dirty="0"/>
              <a:t> 3 </a:t>
            </a:r>
            <a:r>
              <a:rPr lang="ko-KR" altLang="en-US" dirty="0"/>
              <a:t>는 </a:t>
            </a:r>
            <a:r>
              <a:rPr lang="en-US" altLang="ko-KR" dirty="0"/>
              <a:t>protein, DNA, RNA, ligand, ion </a:t>
            </a:r>
            <a:r>
              <a:rPr lang="ko-KR" altLang="en-US" dirty="0"/>
              <a:t>등 다양한 생체분자들의 </a:t>
            </a:r>
            <a:r>
              <a:rPr lang="en-US" altLang="ko-KR" dirty="0"/>
              <a:t>3</a:t>
            </a:r>
            <a:r>
              <a:rPr lang="ko-KR" altLang="en-US" dirty="0"/>
              <a:t>차원 입체 구조를 예측할 수 있음 </a:t>
            </a:r>
            <a:r>
              <a:rPr lang="en-US" altLang="ko-KR" dirty="0"/>
              <a:t>+ </a:t>
            </a:r>
            <a:r>
              <a:rPr lang="ko-KR" altLang="en-US" dirty="0"/>
              <a:t>단백질</a:t>
            </a:r>
            <a:r>
              <a:rPr lang="en-US" altLang="ko-KR" dirty="0"/>
              <a:t>, DNA, small molecule</a:t>
            </a:r>
            <a:r>
              <a:rPr lang="ko-KR" altLang="en-US" dirty="0"/>
              <a:t> 이 섞여 있는 복합체 구조의 경우에도 정확한 예측 가능</a:t>
            </a:r>
            <a:endParaRPr lang="en-US" altLang="ko-KR" dirty="0"/>
          </a:p>
          <a:p>
            <a:r>
              <a:rPr lang="en-US" altLang="ko-KR" dirty="0"/>
              <a:t>AF/AF2/AF-multimer </a:t>
            </a:r>
            <a:r>
              <a:rPr lang="ko-KR" altLang="en-US" dirty="0"/>
              <a:t>에 비해 더 빠르고 정확하게 더 다양한 분자의 구조 예측이 가능</a:t>
            </a:r>
            <a:endParaRPr lang="en-US" altLang="ko-KR" dirty="0"/>
          </a:p>
          <a:p>
            <a:endParaRPr lang="en-US" altLang="ko-KR" dirty="0"/>
          </a:p>
          <a:p>
            <a:r>
              <a:rPr lang="en-US" altLang="ko-KR" dirty="0"/>
              <a:t>***</a:t>
            </a:r>
            <a:r>
              <a:rPr lang="ko-KR" altLang="en-US" dirty="0"/>
              <a:t>특히</a:t>
            </a:r>
            <a:r>
              <a:rPr lang="en-US" altLang="ko-KR" dirty="0"/>
              <a:t>, Alphafold2</a:t>
            </a:r>
            <a:r>
              <a:rPr lang="ko-KR" altLang="en-US" dirty="0"/>
              <a:t>와 비교하자면</a:t>
            </a:r>
            <a:r>
              <a:rPr lang="en-US" altLang="ko-KR" dirty="0"/>
              <a:t>;</a:t>
            </a:r>
            <a:r>
              <a:rPr lang="ko-KR" altLang="en-US" dirty="0"/>
              <a:t> 구조 예측 대상의 범위도 넓어졌을 뿐 아니라</a:t>
            </a:r>
            <a:r>
              <a:rPr lang="en-US" altLang="ko-KR" dirty="0"/>
              <a:t>, </a:t>
            </a:r>
            <a:r>
              <a:rPr lang="ko-KR" altLang="en-US" dirty="0"/>
              <a:t>원자 구조 생성 방식이 </a:t>
            </a:r>
            <a:r>
              <a:rPr lang="en-US" altLang="ko-KR" dirty="0"/>
              <a:t>frame/</a:t>
            </a:r>
            <a:r>
              <a:rPr lang="ko-KR" altLang="en-US" dirty="0" err="1"/>
              <a:t>토션</a:t>
            </a:r>
            <a:r>
              <a:rPr lang="en-US" altLang="ko-KR" dirty="0"/>
              <a:t>(</a:t>
            </a:r>
            <a:r>
              <a:rPr lang="ko-KR" altLang="en-US" dirty="0"/>
              <a:t>각 부위</a:t>
            </a:r>
            <a:r>
              <a:rPr lang="en-US" altLang="ko-KR" dirty="0"/>
              <a:t>)</a:t>
            </a:r>
            <a:r>
              <a:rPr lang="ko-KR" altLang="en-US" dirty="0"/>
              <a:t>단위가 아닌</a:t>
            </a:r>
            <a:r>
              <a:rPr lang="en-US" altLang="ko-KR" dirty="0"/>
              <a:t>, </a:t>
            </a:r>
            <a:r>
              <a:rPr lang="ko-KR" altLang="en-US" dirty="0"/>
              <a:t>전체 좌표를 직접 생성하므로 더 유연함</a:t>
            </a:r>
            <a:endParaRPr lang="en-US" altLang="ko-KR" dirty="0"/>
          </a:p>
          <a:p>
            <a:r>
              <a:rPr lang="ko-KR" altLang="en-US" dirty="0"/>
              <a:t>또한 </a:t>
            </a:r>
            <a:r>
              <a:rPr lang="en-US" altLang="ko-KR" dirty="0"/>
              <a:t>AF3</a:t>
            </a:r>
            <a:r>
              <a:rPr lang="ko-KR" altLang="en-US" dirty="0"/>
              <a:t>으로 갈수록 </a:t>
            </a:r>
            <a:r>
              <a:rPr lang="en-US" altLang="ko-KR" dirty="0"/>
              <a:t>MSA(</a:t>
            </a:r>
            <a:r>
              <a:rPr lang="ko-KR" altLang="en-US" dirty="0" err="1"/>
              <a:t>다중서열정렬</a:t>
            </a:r>
            <a:r>
              <a:rPr lang="en-US" altLang="ko-KR" dirty="0"/>
              <a:t>)</a:t>
            </a:r>
            <a:r>
              <a:rPr lang="ko-KR" altLang="en-US" dirty="0"/>
              <a:t>에 대한 의존도가 낮아져 </a:t>
            </a:r>
            <a:endParaRPr lang="en-US" altLang="ko-KR"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3</a:t>
            </a:fld>
            <a:endParaRPr lang="ko-KR" altLang="en-US"/>
          </a:p>
        </p:txBody>
      </p:sp>
    </p:spTree>
    <p:extLst>
      <p:ext uri="{BB962C8B-B14F-4D97-AF65-F5344CB8AC3E}">
        <p14:creationId xmlns:p14="http://schemas.microsoft.com/office/powerpoint/2010/main" val="1979042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0" i="0" kern="1200" dirty="0">
                <a:solidFill>
                  <a:schemeClr val="tx1"/>
                </a:solidFill>
                <a:effectLst/>
                <a:latin typeface="+mn-lt"/>
                <a:ea typeface="+mn-ea"/>
                <a:cs typeface="+mn-cs"/>
              </a:rPr>
              <a:t>여러 생물에서 얻은 비슷한 단백질</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혹은 </a:t>
            </a:r>
            <a:r>
              <a:rPr lang="en-US" altLang="ko-KR" sz="1200" b="0" i="0" kern="1200" dirty="0">
                <a:solidFill>
                  <a:schemeClr val="tx1"/>
                </a:solidFill>
                <a:effectLst/>
                <a:latin typeface="+mn-lt"/>
                <a:ea typeface="+mn-ea"/>
                <a:cs typeface="+mn-cs"/>
              </a:rPr>
              <a:t>DNA/RNA) </a:t>
            </a:r>
            <a:r>
              <a:rPr lang="ko-KR" altLang="en-US" sz="1200" b="0" i="0" kern="1200" dirty="0">
                <a:solidFill>
                  <a:schemeClr val="tx1"/>
                </a:solidFill>
                <a:effectLst/>
                <a:latin typeface="+mn-lt"/>
                <a:ea typeface="+mn-ea"/>
                <a:cs typeface="+mn-cs"/>
              </a:rPr>
              <a:t>서열들을 한 줄로 나란히 맞춰 비교하는 도구</a:t>
            </a:r>
            <a:endParaRPr lang="en-US" altLang="ko-KR" sz="1200" b="0" i="0" kern="1200" dirty="0">
              <a:solidFill>
                <a:schemeClr val="tx1"/>
              </a:solidFill>
              <a:effectLst/>
              <a:latin typeface="+mn-lt"/>
              <a:ea typeface="+mn-ea"/>
              <a:cs typeface="+mn-cs"/>
            </a:endParaRPr>
          </a:p>
          <a:p>
            <a:endParaRPr lang="en-US" altLang="ko-KR" sz="1200" b="0" i="0" kern="1200" dirty="0">
              <a:solidFill>
                <a:schemeClr val="tx1"/>
              </a:solidFill>
              <a:effectLst/>
              <a:latin typeface="+mn-lt"/>
              <a:ea typeface="+mn-ea"/>
              <a:cs typeface="+mn-cs"/>
            </a:endParaRPr>
          </a:p>
          <a:p>
            <a:r>
              <a:rPr lang="ko-KR" altLang="en-US" sz="1200" b="0" i="0" kern="1200" dirty="0">
                <a:solidFill>
                  <a:schemeClr val="tx1"/>
                </a:solidFill>
                <a:effectLst/>
                <a:latin typeface="+mn-lt"/>
                <a:ea typeface="+mn-ea"/>
                <a:cs typeface="+mn-cs"/>
              </a:rPr>
              <a:t>데이터가 적은 단백질도 예측 가능</a:t>
            </a:r>
            <a:r>
              <a:rPr lang="en-US" altLang="ko-KR" sz="1200" b="0" i="0" kern="1200" dirty="0">
                <a:solidFill>
                  <a:schemeClr val="tx1"/>
                </a:solidFill>
                <a:effectLst/>
                <a:latin typeface="+mn-lt"/>
                <a:ea typeface="+mn-ea"/>
                <a:cs typeface="+mn-cs"/>
              </a:rPr>
              <a:t>:</a:t>
            </a:r>
            <a:br>
              <a:rPr lang="en-US" altLang="ko-KR" sz="1200" b="0" i="0" kern="1200" dirty="0">
                <a:solidFill>
                  <a:schemeClr val="tx1"/>
                </a:solidFill>
                <a:effectLst/>
                <a:latin typeface="+mn-lt"/>
                <a:ea typeface="+mn-ea"/>
                <a:cs typeface="+mn-cs"/>
              </a:rPr>
            </a:br>
            <a:r>
              <a:rPr lang="ko-KR" altLang="en-US" sz="1200" b="0" i="0" kern="1200" dirty="0">
                <a:solidFill>
                  <a:schemeClr val="tx1"/>
                </a:solidFill>
                <a:effectLst/>
                <a:latin typeface="+mn-lt"/>
                <a:ea typeface="+mn-ea"/>
                <a:cs typeface="+mn-cs"/>
              </a:rPr>
              <a:t>기존 </a:t>
            </a:r>
            <a:r>
              <a:rPr lang="en-US" altLang="ko-KR" sz="1200" b="0" i="0" kern="1200" dirty="0">
                <a:solidFill>
                  <a:schemeClr val="tx1"/>
                </a:solidFill>
                <a:effectLst/>
                <a:latin typeface="+mn-lt"/>
                <a:ea typeface="+mn-ea"/>
                <a:cs typeface="+mn-cs"/>
              </a:rPr>
              <a:t>AlphaFold2</a:t>
            </a:r>
            <a:r>
              <a:rPr lang="ko-KR" altLang="en-US" sz="1200" b="0" i="0" kern="1200" dirty="0">
                <a:solidFill>
                  <a:schemeClr val="tx1"/>
                </a:solidFill>
                <a:effectLst/>
                <a:latin typeface="+mn-lt"/>
                <a:ea typeface="+mn-ea"/>
                <a:cs typeface="+mn-cs"/>
              </a:rPr>
              <a:t>는 </a:t>
            </a:r>
            <a:r>
              <a:rPr lang="en-US" altLang="ko-KR" sz="1200" b="0" i="0" kern="1200" dirty="0">
                <a:solidFill>
                  <a:schemeClr val="tx1"/>
                </a:solidFill>
                <a:effectLst/>
                <a:latin typeface="+mn-lt"/>
                <a:ea typeface="+mn-ea"/>
                <a:cs typeface="+mn-cs"/>
              </a:rPr>
              <a:t>MSA(</a:t>
            </a:r>
            <a:r>
              <a:rPr lang="ko-KR" altLang="en-US" sz="1200" b="0" i="0" kern="1200" dirty="0">
                <a:solidFill>
                  <a:schemeClr val="tx1"/>
                </a:solidFill>
                <a:effectLst/>
                <a:latin typeface="+mn-lt"/>
                <a:ea typeface="+mn-ea"/>
                <a:cs typeface="+mn-cs"/>
              </a:rPr>
              <a:t>즉</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다양한 생물에서 비슷한 단백질 서열 데이터</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가 많을수록 정확도가 높았습니다</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하지만 새롭거나 특이한 단백질</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혹은 희귀 생물의 단백질처럼 </a:t>
            </a:r>
            <a:r>
              <a:rPr lang="en-US" altLang="ko-KR" sz="1200" b="0" i="0" kern="1200" dirty="0">
                <a:solidFill>
                  <a:schemeClr val="tx1"/>
                </a:solidFill>
                <a:effectLst/>
                <a:latin typeface="+mn-lt"/>
                <a:ea typeface="+mn-ea"/>
                <a:cs typeface="+mn-cs"/>
              </a:rPr>
              <a:t>MSA </a:t>
            </a:r>
            <a:r>
              <a:rPr lang="ko-KR" altLang="en-US" sz="1200" b="0" i="0" kern="1200" dirty="0">
                <a:solidFill>
                  <a:schemeClr val="tx1"/>
                </a:solidFill>
                <a:effectLst/>
                <a:latin typeface="+mn-lt"/>
                <a:ea typeface="+mn-ea"/>
                <a:cs typeface="+mn-cs"/>
              </a:rPr>
              <a:t>데이터가 부족하면 성능이 크게 떨어졌죠</a:t>
            </a:r>
            <a:r>
              <a:rPr lang="en-US" altLang="ko-KR" sz="1200" b="0" i="0" kern="1200" dirty="0">
                <a:solidFill>
                  <a:schemeClr val="tx1"/>
                </a:solidFill>
                <a:effectLst/>
                <a:latin typeface="+mn-lt"/>
                <a:ea typeface="+mn-ea"/>
                <a:cs typeface="+mn-cs"/>
              </a:rPr>
              <a:t>. AF3</a:t>
            </a:r>
            <a:r>
              <a:rPr lang="ko-KR" altLang="en-US" sz="1200" b="0" i="0" kern="1200" dirty="0">
                <a:solidFill>
                  <a:schemeClr val="tx1"/>
                </a:solidFill>
                <a:effectLst/>
                <a:latin typeface="+mn-lt"/>
                <a:ea typeface="+mn-ea"/>
                <a:cs typeface="+mn-cs"/>
              </a:rPr>
              <a:t>는 </a:t>
            </a:r>
            <a:r>
              <a:rPr lang="en-US" altLang="ko-KR" sz="1200" b="0" i="0" kern="1200" dirty="0">
                <a:solidFill>
                  <a:schemeClr val="tx1"/>
                </a:solidFill>
                <a:effectLst/>
                <a:latin typeface="+mn-lt"/>
                <a:ea typeface="+mn-ea"/>
                <a:cs typeface="+mn-cs"/>
              </a:rPr>
              <a:t>MSA</a:t>
            </a:r>
            <a:r>
              <a:rPr lang="ko-KR" altLang="en-US" sz="1200" b="0" i="0" kern="1200" dirty="0">
                <a:solidFill>
                  <a:schemeClr val="tx1"/>
                </a:solidFill>
                <a:effectLst/>
                <a:latin typeface="+mn-lt"/>
                <a:ea typeface="+mn-ea"/>
                <a:cs typeface="+mn-cs"/>
              </a:rPr>
              <a:t>의 영향력을 낮춤으로써 이런 자료가 적은 경우에도 구조를 잘 예측할 수 있습니다</a:t>
            </a:r>
            <a:r>
              <a:rPr lang="en-US" altLang="ko-KR" sz="1200" b="0" i="0" kern="1200" dirty="0">
                <a:solidFill>
                  <a:schemeClr val="tx1"/>
                </a:solidFill>
                <a:effectLst/>
                <a:latin typeface="+mn-lt"/>
                <a:ea typeface="+mn-ea"/>
                <a:cs typeface="+mn-cs"/>
              </a:rPr>
              <a:t>.</a:t>
            </a:r>
          </a:p>
          <a:p>
            <a:r>
              <a:rPr lang="ko-KR" altLang="en-US" sz="1200" b="0" i="0" kern="1200" dirty="0">
                <a:solidFill>
                  <a:schemeClr val="tx1"/>
                </a:solidFill>
                <a:effectLst/>
                <a:latin typeface="+mn-lt"/>
                <a:ea typeface="+mn-ea"/>
                <a:cs typeface="+mn-cs"/>
              </a:rPr>
              <a:t>계산 비용과 시간 단축</a:t>
            </a:r>
            <a:r>
              <a:rPr lang="en-US" altLang="ko-KR" sz="1200" b="0" i="0" kern="1200" dirty="0">
                <a:solidFill>
                  <a:schemeClr val="tx1"/>
                </a:solidFill>
                <a:effectLst/>
                <a:latin typeface="+mn-lt"/>
                <a:ea typeface="+mn-ea"/>
                <a:cs typeface="+mn-cs"/>
              </a:rPr>
              <a:t>:</a:t>
            </a:r>
            <a:br>
              <a:rPr lang="en-US" altLang="ko-KR" sz="1200" b="0" i="0" kern="1200" dirty="0">
                <a:solidFill>
                  <a:schemeClr val="tx1"/>
                </a:solidFill>
                <a:effectLst/>
                <a:latin typeface="+mn-lt"/>
                <a:ea typeface="+mn-ea"/>
                <a:cs typeface="+mn-cs"/>
              </a:rPr>
            </a:br>
            <a:r>
              <a:rPr lang="en-US" altLang="ko-KR" sz="1200" b="0" i="0" kern="1200" dirty="0">
                <a:solidFill>
                  <a:schemeClr val="tx1"/>
                </a:solidFill>
                <a:effectLst/>
                <a:latin typeface="+mn-lt"/>
                <a:ea typeface="+mn-ea"/>
                <a:cs typeface="+mn-cs"/>
              </a:rPr>
              <a:t>MSA</a:t>
            </a:r>
            <a:r>
              <a:rPr lang="ko-KR" altLang="en-US" sz="1200" b="0" i="0" kern="1200" dirty="0">
                <a:solidFill>
                  <a:schemeClr val="tx1"/>
                </a:solidFill>
                <a:effectLst/>
                <a:latin typeface="+mn-lt"/>
                <a:ea typeface="+mn-ea"/>
                <a:cs typeface="+mn-cs"/>
              </a:rPr>
              <a:t>를 만들려면 전세계 데이터베이스</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수십억 개의 생물 유전체</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를 검색해야 하므로 시간이 오래 걸렸습니다</a:t>
            </a:r>
            <a:r>
              <a:rPr lang="en-US" altLang="ko-KR" sz="1200" b="0" i="0" kern="1200" dirty="0">
                <a:solidFill>
                  <a:schemeClr val="tx1"/>
                </a:solidFill>
                <a:effectLst/>
                <a:latin typeface="+mn-lt"/>
                <a:ea typeface="+mn-ea"/>
                <a:cs typeface="+mn-cs"/>
              </a:rPr>
              <a:t>. AF3</a:t>
            </a:r>
            <a:r>
              <a:rPr lang="ko-KR" altLang="en-US" sz="1200" b="0" i="0" kern="1200" dirty="0">
                <a:solidFill>
                  <a:schemeClr val="tx1"/>
                </a:solidFill>
                <a:effectLst/>
                <a:latin typeface="+mn-lt"/>
                <a:ea typeface="+mn-ea"/>
                <a:cs typeface="+mn-cs"/>
              </a:rPr>
              <a:t>는 구조 예측 과정에서 </a:t>
            </a:r>
            <a:r>
              <a:rPr lang="en-US" altLang="ko-KR" sz="1200" b="0" i="0" kern="1200" dirty="0">
                <a:solidFill>
                  <a:schemeClr val="tx1"/>
                </a:solidFill>
                <a:effectLst/>
                <a:latin typeface="+mn-lt"/>
                <a:ea typeface="+mn-ea"/>
                <a:cs typeface="+mn-cs"/>
              </a:rPr>
              <a:t>MSA </a:t>
            </a:r>
            <a:r>
              <a:rPr lang="ko-KR" altLang="en-US" sz="1200" b="0" i="0" kern="1200" dirty="0">
                <a:solidFill>
                  <a:schemeClr val="tx1"/>
                </a:solidFill>
                <a:effectLst/>
                <a:latin typeface="+mn-lt"/>
                <a:ea typeface="+mn-ea"/>
                <a:cs typeface="+mn-cs"/>
              </a:rPr>
              <a:t>처리를 단순화</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블록도 </a:t>
            </a:r>
            <a:r>
              <a:rPr lang="en-US" altLang="ko-KR" sz="1200" b="0" i="0" kern="1200" dirty="0">
                <a:solidFill>
                  <a:schemeClr val="tx1"/>
                </a:solidFill>
                <a:effectLst/>
                <a:latin typeface="+mn-lt"/>
                <a:ea typeface="+mn-ea"/>
                <a:cs typeface="+mn-cs"/>
              </a:rPr>
              <a:t>4</a:t>
            </a:r>
            <a:r>
              <a:rPr lang="ko-KR" altLang="en-US" sz="1200" b="0" i="0" kern="1200" dirty="0">
                <a:solidFill>
                  <a:schemeClr val="tx1"/>
                </a:solidFill>
                <a:effectLst/>
                <a:latin typeface="+mn-lt"/>
                <a:ea typeface="+mn-ea"/>
                <a:cs typeface="+mn-cs"/>
              </a:rPr>
              <a:t>개로 감축</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추가 계산 최소화</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하여 연산 효율이 훨씬 좋아졌습니다</a:t>
            </a:r>
            <a:r>
              <a:rPr lang="en-US" altLang="ko-KR" sz="1200" b="0" i="0" kern="1200" dirty="0">
                <a:solidFill>
                  <a:schemeClr val="tx1"/>
                </a:solidFill>
                <a:effectLst/>
                <a:latin typeface="+mn-lt"/>
                <a:ea typeface="+mn-ea"/>
                <a:cs typeface="+mn-cs"/>
              </a:rPr>
              <a:t>.</a:t>
            </a:r>
          </a:p>
          <a:p>
            <a:r>
              <a:rPr lang="ko-KR" altLang="en-US" sz="1200" b="0" i="0" kern="1200" dirty="0">
                <a:solidFill>
                  <a:schemeClr val="tx1"/>
                </a:solidFill>
                <a:effectLst/>
                <a:latin typeface="+mn-lt"/>
                <a:ea typeface="+mn-ea"/>
                <a:cs typeface="+mn-cs"/>
              </a:rPr>
              <a:t>범용성</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확장성 향상</a:t>
            </a:r>
            <a:r>
              <a:rPr lang="en-US" altLang="ko-KR" sz="1200" b="0" i="0" kern="1200" dirty="0">
                <a:solidFill>
                  <a:schemeClr val="tx1"/>
                </a:solidFill>
                <a:effectLst/>
                <a:latin typeface="+mn-lt"/>
                <a:ea typeface="+mn-ea"/>
                <a:cs typeface="+mn-cs"/>
              </a:rPr>
              <a:t>:</a:t>
            </a:r>
            <a:br>
              <a:rPr lang="en-US" altLang="ko-KR" sz="1200" b="0" i="0" kern="1200" dirty="0">
                <a:solidFill>
                  <a:schemeClr val="tx1"/>
                </a:solidFill>
                <a:effectLst/>
                <a:latin typeface="+mn-lt"/>
                <a:ea typeface="+mn-ea"/>
                <a:cs typeface="+mn-cs"/>
              </a:rPr>
            </a:br>
            <a:r>
              <a:rPr lang="en-US" altLang="ko-KR" sz="1200" b="0" i="0" kern="1200" dirty="0">
                <a:solidFill>
                  <a:schemeClr val="tx1"/>
                </a:solidFill>
                <a:effectLst/>
                <a:latin typeface="+mn-lt"/>
                <a:ea typeface="+mn-ea"/>
                <a:cs typeface="+mn-cs"/>
              </a:rPr>
              <a:t>AF3</a:t>
            </a:r>
            <a:r>
              <a:rPr lang="ko-KR" altLang="en-US" sz="1200" b="0" i="0" kern="1200" dirty="0">
                <a:solidFill>
                  <a:schemeClr val="tx1"/>
                </a:solidFill>
                <a:effectLst/>
                <a:latin typeface="+mn-lt"/>
                <a:ea typeface="+mn-ea"/>
                <a:cs typeface="+mn-cs"/>
              </a:rPr>
              <a:t>는 </a:t>
            </a:r>
            <a:r>
              <a:rPr lang="ko-KR" altLang="en-US" sz="1200" b="0" i="0" kern="1200" dirty="0" err="1">
                <a:solidFill>
                  <a:schemeClr val="tx1"/>
                </a:solidFill>
                <a:effectLst/>
                <a:latin typeface="+mn-lt"/>
                <a:ea typeface="+mn-ea"/>
                <a:cs typeface="+mn-cs"/>
              </a:rPr>
              <a:t>단백질뿐</a:t>
            </a:r>
            <a:r>
              <a:rPr lang="ko-KR" altLang="en-US" sz="1200" b="0" i="0" kern="1200" dirty="0">
                <a:solidFill>
                  <a:schemeClr val="tx1"/>
                </a:solidFill>
                <a:effectLst/>
                <a:latin typeface="+mn-lt"/>
                <a:ea typeface="+mn-ea"/>
                <a:cs typeface="+mn-cs"/>
              </a:rPr>
              <a:t> 아니라 </a:t>
            </a:r>
            <a:r>
              <a:rPr lang="en-US" altLang="ko-KR" sz="1200" b="0" i="0" kern="1200" dirty="0">
                <a:solidFill>
                  <a:schemeClr val="tx1"/>
                </a:solidFill>
                <a:effectLst/>
                <a:latin typeface="+mn-lt"/>
                <a:ea typeface="+mn-ea"/>
                <a:cs typeface="+mn-cs"/>
              </a:rPr>
              <a:t>DNA, RNA, </a:t>
            </a:r>
            <a:r>
              <a:rPr lang="ko-KR" altLang="en-US" sz="1200" b="0" i="0" kern="1200" dirty="0">
                <a:solidFill>
                  <a:schemeClr val="tx1"/>
                </a:solidFill>
                <a:effectLst/>
                <a:latin typeface="+mn-lt"/>
                <a:ea typeface="+mn-ea"/>
                <a:cs typeface="+mn-cs"/>
              </a:rPr>
              <a:t>작은 분자</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약물</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이온 등 다양한 분자 및 복합체까지 예측하기 위해 설계되었습니다</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이처럼 종류가 다른 분자</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특히 약물 등</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는 </a:t>
            </a:r>
            <a:r>
              <a:rPr lang="en-US" altLang="ko-KR" sz="1200" b="0" i="0" kern="1200" dirty="0">
                <a:solidFill>
                  <a:schemeClr val="tx1"/>
                </a:solidFill>
                <a:effectLst/>
                <a:latin typeface="+mn-lt"/>
                <a:ea typeface="+mn-ea"/>
                <a:cs typeface="+mn-cs"/>
              </a:rPr>
              <a:t>MSA </a:t>
            </a:r>
            <a:r>
              <a:rPr lang="ko-KR" altLang="en-US" sz="1200" b="0" i="0" kern="1200" dirty="0">
                <a:solidFill>
                  <a:schemeClr val="tx1"/>
                </a:solidFill>
                <a:effectLst/>
                <a:latin typeface="+mn-lt"/>
                <a:ea typeface="+mn-ea"/>
                <a:cs typeface="+mn-cs"/>
              </a:rPr>
              <a:t>정보가 아예 존재하지 않거나 쓸 수 없습니다</a:t>
            </a:r>
            <a:r>
              <a:rPr lang="en-US" altLang="ko-KR" sz="1200" b="0" i="0" kern="1200" dirty="0">
                <a:solidFill>
                  <a:schemeClr val="tx1"/>
                </a:solidFill>
                <a:effectLst/>
                <a:latin typeface="+mn-lt"/>
                <a:ea typeface="+mn-ea"/>
                <a:cs typeface="+mn-cs"/>
              </a:rPr>
              <a:t>. MSA </a:t>
            </a:r>
            <a:r>
              <a:rPr lang="ko-KR" altLang="en-US" sz="1200" b="0" i="0" kern="1200" dirty="0">
                <a:solidFill>
                  <a:schemeClr val="tx1"/>
                </a:solidFill>
                <a:effectLst/>
                <a:latin typeface="+mn-lt"/>
                <a:ea typeface="+mn-ea"/>
                <a:cs typeface="+mn-cs"/>
              </a:rPr>
              <a:t>의존성을 낮추면서</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다양한 종류의 생체분자 구조 예측 문제에도 유연하게 대응할 수 있습니다</a:t>
            </a:r>
            <a:r>
              <a:rPr lang="en-US" altLang="ko-KR" sz="1200" b="0" i="0" kern="1200" dirty="0">
                <a:solidFill>
                  <a:schemeClr val="tx1"/>
                </a:solidFill>
                <a:effectLst/>
                <a:latin typeface="+mn-lt"/>
                <a:ea typeface="+mn-ea"/>
                <a:cs typeface="+mn-cs"/>
              </a:rPr>
              <a:t>.</a:t>
            </a:r>
          </a:p>
          <a:p>
            <a:r>
              <a:rPr lang="ko-KR" altLang="en-US" sz="1200" b="0" i="0" kern="1200" dirty="0">
                <a:solidFill>
                  <a:schemeClr val="tx1"/>
                </a:solidFill>
                <a:effectLst/>
                <a:latin typeface="+mn-lt"/>
                <a:ea typeface="+mn-ea"/>
                <a:cs typeface="+mn-cs"/>
              </a:rPr>
              <a:t>새로운 아키텍처 실현</a:t>
            </a:r>
            <a:r>
              <a:rPr lang="en-US" altLang="ko-KR" sz="1200" b="0" i="0" kern="1200" dirty="0">
                <a:solidFill>
                  <a:schemeClr val="tx1"/>
                </a:solidFill>
                <a:effectLst/>
                <a:latin typeface="+mn-lt"/>
                <a:ea typeface="+mn-ea"/>
                <a:cs typeface="+mn-cs"/>
              </a:rPr>
              <a:t>:</a:t>
            </a:r>
            <a:br>
              <a:rPr lang="en-US" altLang="ko-KR" sz="1200" b="0" i="0" kern="1200" dirty="0">
                <a:solidFill>
                  <a:schemeClr val="tx1"/>
                </a:solidFill>
                <a:effectLst/>
                <a:latin typeface="+mn-lt"/>
                <a:ea typeface="+mn-ea"/>
                <a:cs typeface="+mn-cs"/>
              </a:rPr>
            </a:br>
            <a:r>
              <a:rPr lang="en-US" altLang="ko-KR" sz="1200" b="0" i="0" kern="1200" dirty="0">
                <a:solidFill>
                  <a:schemeClr val="tx1"/>
                </a:solidFill>
                <a:effectLst/>
                <a:latin typeface="+mn-lt"/>
                <a:ea typeface="+mn-ea"/>
                <a:cs typeface="+mn-cs"/>
              </a:rPr>
              <a:t>MSA</a:t>
            </a:r>
            <a:r>
              <a:rPr lang="ko-KR" altLang="en-US" sz="1200" b="0" i="0" kern="1200" dirty="0">
                <a:solidFill>
                  <a:schemeClr val="tx1"/>
                </a:solidFill>
                <a:effectLst/>
                <a:latin typeface="+mn-lt"/>
                <a:ea typeface="+mn-ea"/>
                <a:cs typeface="+mn-cs"/>
              </a:rPr>
              <a:t>에 덜 의존하면서도 높은 정확도를 유지하려면</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네트워크가 단백질 구조에서 쌍별</a:t>
            </a:r>
            <a:r>
              <a:rPr lang="en-US" altLang="ko-KR" sz="1200" b="0" i="0" kern="1200" dirty="0">
                <a:solidFill>
                  <a:schemeClr val="tx1"/>
                </a:solidFill>
                <a:effectLst/>
                <a:latin typeface="+mn-lt"/>
                <a:ea typeface="+mn-ea"/>
                <a:cs typeface="+mn-cs"/>
              </a:rPr>
              <a:t>(pairwise) </a:t>
            </a:r>
            <a:r>
              <a:rPr lang="ko-KR" altLang="en-US" sz="1200" b="0" i="0" kern="1200" dirty="0">
                <a:solidFill>
                  <a:schemeClr val="tx1"/>
                </a:solidFill>
                <a:effectLst/>
                <a:latin typeface="+mn-lt"/>
                <a:ea typeface="+mn-ea"/>
                <a:cs typeface="+mn-cs"/>
              </a:rPr>
              <a:t>상호작용 등 구체적인 물리적</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화학적 정보를 더 잘 학습해야 합니다</a:t>
            </a:r>
            <a:r>
              <a:rPr lang="en-US" altLang="ko-KR" sz="1200" b="0" i="0" kern="1200" dirty="0">
                <a:solidFill>
                  <a:schemeClr val="tx1"/>
                </a:solidFill>
                <a:effectLst/>
                <a:latin typeface="+mn-lt"/>
                <a:ea typeface="+mn-ea"/>
                <a:cs typeface="+mn-cs"/>
              </a:rPr>
              <a:t>. AF3</a:t>
            </a:r>
            <a:r>
              <a:rPr lang="ko-KR" altLang="en-US" sz="1200" b="0" i="0" kern="1200" dirty="0">
                <a:solidFill>
                  <a:schemeClr val="tx1"/>
                </a:solidFill>
                <a:effectLst/>
                <a:latin typeface="+mn-lt"/>
                <a:ea typeface="+mn-ea"/>
                <a:cs typeface="+mn-cs"/>
              </a:rPr>
              <a:t>의 핵심인 </a:t>
            </a:r>
            <a:r>
              <a:rPr lang="en-US" altLang="ko-KR" sz="1200" b="0" i="0" kern="1200" dirty="0" err="1">
                <a:solidFill>
                  <a:schemeClr val="tx1"/>
                </a:solidFill>
                <a:effectLst/>
                <a:latin typeface="+mn-lt"/>
                <a:ea typeface="+mn-ea"/>
                <a:cs typeface="+mn-cs"/>
              </a:rPr>
              <a:t>pairformer</a:t>
            </a:r>
            <a:r>
              <a:rPr lang="ko-KR" altLang="en-US" sz="1200" b="0" i="0" kern="1200" dirty="0">
                <a:solidFill>
                  <a:schemeClr val="tx1"/>
                </a:solidFill>
                <a:effectLst/>
                <a:latin typeface="+mn-lt"/>
                <a:ea typeface="+mn-ea"/>
                <a:cs typeface="+mn-cs"/>
              </a:rPr>
              <a:t>와 </a:t>
            </a:r>
            <a:r>
              <a:rPr lang="en-US" altLang="ko-KR" sz="1200" b="0" i="0" kern="1200" dirty="0">
                <a:solidFill>
                  <a:schemeClr val="tx1"/>
                </a:solidFill>
                <a:effectLst/>
                <a:latin typeface="+mn-lt"/>
                <a:ea typeface="+mn-ea"/>
                <a:cs typeface="+mn-cs"/>
              </a:rPr>
              <a:t>diffusion </a:t>
            </a:r>
            <a:r>
              <a:rPr lang="ko-KR" altLang="en-US" sz="1200" b="0" i="0" kern="1200" dirty="0">
                <a:solidFill>
                  <a:schemeClr val="tx1"/>
                </a:solidFill>
                <a:effectLst/>
                <a:latin typeface="+mn-lt"/>
                <a:ea typeface="+mn-ea"/>
                <a:cs typeface="+mn-cs"/>
              </a:rPr>
              <a:t>모듈 등이 이를 효과적으로 대체합니다</a:t>
            </a:r>
            <a:r>
              <a:rPr lang="en-US" altLang="ko-KR" sz="1200" b="0" i="0" kern="1200" dirty="0">
                <a:solidFill>
                  <a:schemeClr val="tx1"/>
                </a:solidFill>
                <a:effectLst/>
                <a:latin typeface="+mn-lt"/>
                <a:ea typeface="+mn-ea"/>
                <a:cs typeface="+mn-cs"/>
              </a:rPr>
              <a:t>.</a:t>
            </a:r>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4</a:t>
            </a:fld>
            <a:endParaRPr lang="ko-KR" altLang="en-US"/>
          </a:p>
        </p:txBody>
      </p:sp>
    </p:spTree>
    <p:extLst>
      <p:ext uri="{BB962C8B-B14F-4D97-AF65-F5344CB8AC3E}">
        <p14:creationId xmlns:p14="http://schemas.microsoft.com/office/powerpoint/2010/main" val="3443279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188D3-DCB9-1515-911B-C4395000473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48856D2-E836-C065-46E9-61371C9830D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A12D36A-524B-C17C-4F83-356772E20366}"/>
              </a:ext>
            </a:extLst>
          </p:cNvPr>
          <p:cNvSpPr>
            <a:spLocks noGrp="1"/>
          </p:cNvSpPr>
          <p:nvPr>
            <p:ph type="body" idx="1"/>
          </p:nvPr>
        </p:nvSpPr>
        <p:spPr/>
        <p:txBody>
          <a:bodyPr/>
          <a:lstStyle/>
          <a:p>
            <a:r>
              <a:rPr lang="en-US" altLang="ko-KR" dirty="0"/>
              <a:t>CNN ensemble (</a:t>
            </a:r>
            <a:r>
              <a:rPr lang="ko-KR" altLang="en-US" dirty="0"/>
              <a:t>앙상블 기법</a:t>
            </a:r>
            <a:r>
              <a:rPr lang="en-US" altLang="ko-KR" dirty="0"/>
              <a:t>-overfitting</a:t>
            </a:r>
            <a:r>
              <a:rPr lang="ko-KR" altLang="en-US" dirty="0"/>
              <a:t> 최소화</a:t>
            </a:r>
            <a:r>
              <a:rPr lang="en-US" altLang="ko-KR" dirty="0"/>
              <a:t>):</a:t>
            </a:r>
            <a:r>
              <a:rPr lang="ko-KR" altLang="en-US" dirty="0"/>
              <a:t> 여러 모델을 </a:t>
            </a:r>
            <a:r>
              <a:rPr lang="en-US" altLang="ko-KR" dirty="0"/>
              <a:t>train </a:t>
            </a:r>
            <a:r>
              <a:rPr lang="ko-KR" altLang="en-US" dirty="0"/>
              <a:t>해서 그 중 가장 좋은 </a:t>
            </a:r>
            <a:r>
              <a:rPr lang="en-US" altLang="ko-KR" dirty="0"/>
              <a:t>eval</a:t>
            </a:r>
            <a:r>
              <a:rPr lang="ko-KR" altLang="en-US" dirty="0"/>
              <a:t> 결과를 내는 것을 취사선택하는 방법 </a:t>
            </a:r>
            <a:r>
              <a:rPr lang="en-US" altLang="ko-KR" dirty="0"/>
              <a:t>(</a:t>
            </a:r>
            <a:r>
              <a:rPr lang="en-US" altLang="ko-KR" dirty="0" err="1"/>
              <a:t>my_best_model</a:t>
            </a:r>
            <a:r>
              <a:rPr lang="en-US" altLang="ko-KR" dirty="0"/>
              <a:t> </a:t>
            </a:r>
            <a:r>
              <a:rPr lang="ko-KR" altLang="en-US" dirty="0"/>
              <a:t>저장</a:t>
            </a:r>
            <a:r>
              <a:rPr lang="en-US" altLang="ko-KR" dirty="0"/>
              <a:t>)</a:t>
            </a:r>
          </a:p>
          <a:p>
            <a:endParaRPr lang="en-US" altLang="ko-KR" dirty="0"/>
          </a:p>
          <a:p>
            <a:r>
              <a:rPr lang="en-US" altLang="ko-KR" sz="1200" b="0" i="0" kern="1200" dirty="0">
                <a:solidFill>
                  <a:schemeClr val="tx1"/>
                </a:solidFill>
                <a:effectLst/>
                <a:latin typeface="+mn-lt"/>
                <a:ea typeface="+mn-ea"/>
                <a:cs typeface="+mn-cs"/>
              </a:rPr>
              <a:t>1. MSA </a:t>
            </a:r>
            <a:r>
              <a:rPr lang="ko-KR" altLang="en-US" sz="1200" b="0" i="0" kern="1200" dirty="0">
                <a:solidFill>
                  <a:schemeClr val="tx1"/>
                </a:solidFill>
                <a:effectLst/>
                <a:latin typeface="+mn-lt"/>
                <a:ea typeface="+mn-ea"/>
                <a:cs typeface="+mn-cs"/>
              </a:rPr>
              <a:t>데이터를 활용한 학습 데이터 구성</a:t>
            </a:r>
          </a:p>
          <a:p>
            <a:r>
              <a:rPr lang="en-US" altLang="ko-KR" sz="1200" b="0" i="0" kern="1200" dirty="0">
                <a:solidFill>
                  <a:schemeClr val="tx1"/>
                </a:solidFill>
                <a:effectLst/>
                <a:latin typeface="+mn-lt"/>
                <a:ea typeface="+mn-ea"/>
                <a:cs typeface="+mn-cs"/>
              </a:rPr>
              <a:t>2. CNN </a:t>
            </a:r>
            <a:r>
              <a:rPr lang="ko-KR" altLang="en-US" sz="1200" b="0" i="0" kern="1200" dirty="0">
                <a:solidFill>
                  <a:schemeClr val="tx1"/>
                </a:solidFill>
                <a:effectLst/>
                <a:latin typeface="+mn-lt"/>
                <a:ea typeface="+mn-ea"/>
                <a:cs typeface="+mn-cs"/>
              </a:rPr>
              <a:t>네트워크 구조를 차용한 심층 신경망</a:t>
            </a:r>
            <a:r>
              <a:rPr lang="en-US" altLang="ko-KR" sz="1200" b="0" i="0" kern="1200" dirty="0">
                <a:solidFill>
                  <a:schemeClr val="tx1"/>
                </a:solidFill>
                <a:effectLst/>
                <a:latin typeface="+mn-lt"/>
                <a:ea typeface="+mn-ea"/>
                <a:cs typeface="+mn-cs"/>
              </a:rPr>
              <a:t>(deep NN)</a:t>
            </a:r>
            <a:r>
              <a:rPr lang="ko-KR" altLang="en-US" sz="1200" b="0" i="0" kern="1200" dirty="0">
                <a:solidFill>
                  <a:schemeClr val="tx1"/>
                </a:solidFill>
                <a:effectLst/>
                <a:latin typeface="+mn-lt"/>
                <a:ea typeface="+mn-ea"/>
                <a:cs typeface="+mn-cs"/>
              </a:rPr>
              <a:t> 구축 아미노산들 간의 거리 및 </a:t>
            </a:r>
            <a:r>
              <a:rPr lang="ko-KR" altLang="en-US" sz="1200" b="0" i="0" kern="1200" dirty="0" err="1">
                <a:solidFill>
                  <a:schemeClr val="tx1"/>
                </a:solidFill>
                <a:effectLst/>
                <a:latin typeface="+mn-lt"/>
                <a:ea typeface="+mn-ea"/>
                <a:cs typeface="+mn-cs"/>
              </a:rPr>
              <a:t>뒤틀림각</a:t>
            </a:r>
            <a:r>
              <a:rPr lang="en-US" altLang="ko-KR" sz="1200" b="0" i="0" kern="1200" dirty="0">
                <a:solidFill>
                  <a:schemeClr val="tx1"/>
                </a:solidFill>
                <a:effectLst/>
                <a:latin typeface="+mn-lt"/>
                <a:ea typeface="+mn-ea"/>
                <a:cs typeface="+mn-cs"/>
              </a:rPr>
              <a:t>(torsion)</a:t>
            </a:r>
            <a:r>
              <a:rPr lang="ko-KR" altLang="en-US" sz="1200" b="0" i="0" kern="1200" dirty="0">
                <a:solidFill>
                  <a:schemeClr val="tx1"/>
                </a:solidFill>
                <a:effectLst/>
                <a:latin typeface="+mn-lt"/>
                <a:ea typeface="+mn-ea"/>
                <a:cs typeface="+mn-cs"/>
              </a:rPr>
              <a:t> 분포를 학습</a:t>
            </a:r>
          </a:p>
          <a:p>
            <a:r>
              <a:rPr lang="en-US" altLang="ko-KR" sz="1200" b="0" i="0" kern="1200" dirty="0">
                <a:solidFill>
                  <a:schemeClr val="tx1"/>
                </a:solidFill>
                <a:effectLst/>
                <a:latin typeface="+mn-lt"/>
                <a:ea typeface="+mn-ea"/>
                <a:cs typeface="+mn-cs"/>
              </a:rPr>
              <a:t>3. </a:t>
            </a:r>
            <a:r>
              <a:rPr lang="ko-KR" altLang="en-US" sz="1200" b="0" i="0" kern="1200" dirty="0">
                <a:solidFill>
                  <a:schemeClr val="tx1"/>
                </a:solidFill>
                <a:effectLst/>
                <a:latin typeface="+mn-lt"/>
                <a:ea typeface="+mn-ea"/>
                <a:cs typeface="+mn-cs"/>
              </a:rPr>
              <a:t>네트워크로부터 예측된 아미노산 간의 거리 및 </a:t>
            </a:r>
            <a:r>
              <a:rPr lang="ko-KR" altLang="en-US" sz="1200" b="0" i="0" kern="1200" dirty="0" err="1">
                <a:solidFill>
                  <a:schemeClr val="tx1"/>
                </a:solidFill>
                <a:effectLst/>
                <a:latin typeface="+mn-lt"/>
                <a:ea typeface="+mn-ea"/>
                <a:cs typeface="+mn-cs"/>
              </a:rPr>
              <a:t>뒤틀림각</a:t>
            </a:r>
            <a:r>
              <a:rPr lang="ko-KR" altLang="en-US" sz="1200" b="0" i="0" kern="1200" dirty="0">
                <a:solidFill>
                  <a:schemeClr val="tx1"/>
                </a:solidFill>
                <a:effectLst/>
                <a:latin typeface="+mn-lt"/>
                <a:ea typeface="+mn-ea"/>
                <a:cs typeface="+mn-cs"/>
              </a:rPr>
              <a:t> 분포를 이용한 퍼텐셜 함수 구성</a:t>
            </a:r>
          </a:p>
          <a:p>
            <a:r>
              <a:rPr lang="en-US" altLang="ko-KR" sz="1200" b="0" i="0" kern="1200" dirty="0">
                <a:solidFill>
                  <a:schemeClr val="tx1"/>
                </a:solidFill>
                <a:effectLst/>
                <a:latin typeface="+mn-lt"/>
                <a:ea typeface="+mn-ea"/>
                <a:cs typeface="+mn-cs"/>
              </a:rPr>
              <a:t>3</a:t>
            </a:r>
            <a:r>
              <a:rPr lang="ko-KR" altLang="en-US" sz="1200" b="0" i="0" kern="1200" dirty="0">
                <a:solidFill>
                  <a:schemeClr val="tx1"/>
                </a:solidFill>
                <a:effectLst/>
                <a:latin typeface="+mn-lt"/>
                <a:ea typeface="+mn-ea"/>
                <a:cs typeface="+mn-cs"/>
              </a:rPr>
              <a:t>차원 구조를 아미노산들의 </a:t>
            </a:r>
            <a:r>
              <a:rPr lang="ko-KR" altLang="en-US" sz="1200" b="0" i="0" kern="1200" dirty="0" err="1">
                <a:solidFill>
                  <a:schemeClr val="tx1"/>
                </a:solidFill>
                <a:effectLst/>
                <a:latin typeface="+mn-lt"/>
                <a:ea typeface="+mn-ea"/>
                <a:cs typeface="+mn-cs"/>
              </a:rPr>
              <a:t>뒤틀림각으로</a:t>
            </a:r>
            <a:r>
              <a:rPr lang="ko-KR" altLang="en-US" sz="1200" b="0" i="0" kern="1200" dirty="0">
                <a:solidFill>
                  <a:schemeClr val="tx1"/>
                </a:solidFill>
                <a:effectLst/>
                <a:latin typeface="+mn-lt"/>
                <a:ea typeface="+mn-ea"/>
                <a:cs typeface="+mn-cs"/>
              </a:rPr>
              <a:t> 수치화 한 뒤 경사 하강법을 통해 </a:t>
            </a:r>
            <a:r>
              <a:rPr lang="ko-KR" altLang="en-US" sz="1200" b="0" i="0" kern="1200" dirty="0" err="1">
                <a:solidFill>
                  <a:schemeClr val="tx1"/>
                </a:solidFill>
                <a:effectLst/>
                <a:latin typeface="+mn-lt"/>
                <a:ea typeface="+mn-ea"/>
                <a:cs typeface="+mn-cs"/>
              </a:rPr>
              <a:t>퍼텐셜이</a:t>
            </a:r>
            <a:r>
              <a:rPr lang="ko-KR" altLang="en-US" sz="1200" b="0" i="0" kern="1200" dirty="0">
                <a:solidFill>
                  <a:schemeClr val="tx1"/>
                </a:solidFill>
                <a:effectLst/>
                <a:latin typeface="+mn-lt"/>
                <a:ea typeface="+mn-ea"/>
                <a:cs typeface="+mn-cs"/>
              </a:rPr>
              <a:t> 최소가 되도록 </a:t>
            </a:r>
            <a:r>
              <a:rPr lang="ko-KR" altLang="en-US" sz="1200" b="0" i="0" kern="1200" dirty="0" err="1">
                <a:solidFill>
                  <a:schemeClr val="tx1"/>
                </a:solidFill>
                <a:effectLst/>
                <a:latin typeface="+mn-lt"/>
                <a:ea typeface="+mn-ea"/>
                <a:cs typeface="+mn-cs"/>
              </a:rPr>
              <a:t>뒤틀림각</a:t>
            </a:r>
            <a:r>
              <a:rPr lang="ko-KR" altLang="en-US" sz="1200" b="0" i="0" kern="1200" dirty="0">
                <a:solidFill>
                  <a:schemeClr val="tx1"/>
                </a:solidFill>
                <a:effectLst/>
                <a:latin typeface="+mn-lt"/>
                <a:ea typeface="+mn-ea"/>
                <a:cs typeface="+mn-cs"/>
              </a:rPr>
              <a:t> 조합 최적화</a:t>
            </a:r>
            <a:endParaRPr lang="en-US" altLang="ko-KR" sz="1200" b="0" i="0" kern="1200" dirty="0">
              <a:solidFill>
                <a:schemeClr val="tx1"/>
              </a:solidFill>
              <a:effectLst/>
              <a:latin typeface="+mn-lt"/>
              <a:ea typeface="+mn-ea"/>
              <a:cs typeface="+mn-cs"/>
            </a:endParaRPr>
          </a:p>
          <a:p>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-&gt; </a:t>
            </a:r>
            <a:r>
              <a:rPr lang="ko-KR" altLang="en-US" sz="1200" b="0" i="0" kern="1200" dirty="0">
                <a:solidFill>
                  <a:schemeClr val="tx1"/>
                </a:solidFill>
                <a:effectLst/>
                <a:latin typeface="+mn-lt"/>
                <a:ea typeface="+mn-ea"/>
                <a:cs typeface="+mn-cs"/>
              </a:rPr>
              <a:t>이 </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각도</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를 활용하는 아이디어로 </a:t>
            </a:r>
            <a:r>
              <a:rPr lang="en-US" altLang="ko-KR" sz="1200" b="0" i="0" kern="1200" dirty="0">
                <a:solidFill>
                  <a:schemeClr val="tx1"/>
                </a:solidFill>
                <a:effectLst/>
                <a:latin typeface="+mn-lt"/>
                <a:ea typeface="+mn-ea"/>
                <a:cs typeface="+mn-cs"/>
              </a:rPr>
              <a:t>CASP13</a:t>
            </a:r>
            <a:r>
              <a:rPr lang="ko-KR" altLang="en-US" sz="1200" b="0" i="0" kern="1200" dirty="0">
                <a:solidFill>
                  <a:schemeClr val="tx1"/>
                </a:solidFill>
                <a:effectLst/>
                <a:latin typeface="+mn-lt"/>
                <a:ea typeface="+mn-ea"/>
                <a:cs typeface="+mn-cs"/>
              </a:rPr>
              <a:t>에서 우승</a:t>
            </a:r>
            <a:r>
              <a:rPr lang="en-US" altLang="ko-KR" sz="1200" b="0" i="0" kern="1200" dirty="0">
                <a:solidFill>
                  <a:schemeClr val="tx1"/>
                </a:solidFill>
                <a:effectLst/>
                <a:latin typeface="+mn-lt"/>
                <a:ea typeface="+mn-ea"/>
                <a:cs typeface="+mn-cs"/>
              </a:rPr>
              <a:t> but </a:t>
            </a:r>
            <a:r>
              <a:rPr lang="ko-KR" altLang="en-US" sz="1200" b="0" i="0" kern="1200" dirty="0">
                <a:solidFill>
                  <a:schemeClr val="tx1"/>
                </a:solidFill>
                <a:effectLst/>
                <a:latin typeface="+mn-lt"/>
                <a:ea typeface="+mn-ea"/>
                <a:cs typeface="+mn-cs"/>
              </a:rPr>
              <a:t>바로 </a:t>
            </a:r>
            <a:r>
              <a:rPr lang="en-US" altLang="ko-KR" sz="1200" b="0" i="0" kern="1200" dirty="0">
                <a:solidFill>
                  <a:schemeClr val="tx1"/>
                </a:solidFill>
                <a:effectLst/>
                <a:latin typeface="+mn-lt"/>
                <a:ea typeface="+mn-ea"/>
                <a:cs typeface="+mn-cs"/>
              </a:rPr>
              <a:t>baker </a:t>
            </a:r>
            <a:r>
              <a:rPr lang="ko-KR" altLang="en-US" sz="1200" b="0" i="0" kern="1200" dirty="0">
                <a:solidFill>
                  <a:schemeClr val="tx1"/>
                </a:solidFill>
                <a:effectLst/>
                <a:latin typeface="+mn-lt"/>
                <a:ea typeface="+mn-ea"/>
                <a:cs typeface="+mn-cs"/>
              </a:rPr>
              <a:t>에 </a:t>
            </a:r>
            <a:r>
              <a:rPr lang="ko-KR" altLang="en-US" sz="1200" b="0" i="0" kern="1200" dirty="0" err="1">
                <a:solidFill>
                  <a:schemeClr val="tx1"/>
                </a:solidFill>
                <a:effectLst/>
                <a:latin typeface="+mn-lt"/>
                <a:ea typeface="+mn-ea"/>
                <a:cs typeface="+mn-cs"/>
              </a:rPr>
              <a:t>따라잡힘</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단순히 </a:t>
            </a:r>
            <a:r>
              <a:rPr lang="en-US" altLang="ko-KR" sz="1200" b="0" i="0" kern="1200" dirty="0">
                <a:solidFill>
                  <a:schemeClr val="tx1"/>
                </a:solidFill>
                <a:effectLst/>
                <a:latin typeface="+mn-lt"/>
                <a:ea typeface="+mn-ea"/>
                <a:cs typeface="+mn-cs"/>
              </a:rPr>
              <a:t>CNN</a:t>
            </a:r>
            <a:r>
              <a:rPr lang="ko-KR" altLang="en-US" sz="1200" b="0" i="0" kern="1200" dirty="0">
                <a:solidFill>
                  <a:schemeClr val="tx1"/>
                </a:solidFill>
                <a:effectLst/>
                <a:latin typeface="+mn-lt"/>
                <a:ea typeface="+mn-ea"/>
                <a:cs typeface="+mn-cs"/>
              </a:rPr>
              <a:t>의 변형일 뿐이기 때문에 쉽게 </a:t>
            </a:r>
            <a:r>
              <a:rPr lang="ko-KR" altLang="en-US" sz="1200" b="0" i="0" kern="1200" dirty="0" err="1">
                <a:solidFill>
                  <a:schemeClr val="tx1"/>
                </a:solidFill>
                <a:effectLst/>
                <a:latin typeface="+mn-lt"/>
                <a:ea typeface="+mn-ea"/>
                <a:cs typeface="+mn-cs"/>
              </a:rPr>
              <a:t>따라잡힘</a:t>
            </a:r>
            <a:r>
              <a:rPr lang="en-US" altLang="ko-KR" sz="1200" b="0" i="0" kern="1200" dirty="0">
                <a:solidFill>
                  <a:schemeClr val="tx1"/>
                </a:solidFill>
                <a:effectLst/>
                <a:latin typeface="+mn-lt"/>
                <a:ea typeface="+mn-ea"/>
                <a:cs typeface="+mn-cs"/>
              </a:rPr>
              <a:t>)</a:t>
            </a:r>
            <a:endParaRPr lang="ko-KR" altLang="en-US" sz="1200" b="0" i="0" kern="1200" dirty="0">
              <a:solidFill>
                <a:schemeClr val="tx1"/>
              </a:solidFill>
              <a:effectLst/>
              <a:latin typeface="+mn-lt"/>
              <a:ea typeface="+mn-ea"/>
              <a:cs typeface="+mn-cs"/>
            </a:endParaRPr>
          </a:p>
        </p:txBody>
      </p:sp>
      <p:sp>
        <p:nvSpPr>
          <p:cNvPr id="4" name="슬라이드 번호 개체 틀 3">
            <a:extLst>
              <a:ext uri="{FF2B5EF4-FFF2-40B4-BE49-F238E27FC236}">
                <a16:creationId xmlns:a16="http://schemas.microsoft.com/office/drawing/2014/main" id="{93B4828F-0245-0CE0-9D8A-C70F6BD725A9}"/>
              </a:ext>
            </a:extLst>
          </p:cNvPr>
          <p:cNvSpPr>
            <a:spLocks noGrp="1"/>
          </p:cNvSpPr>
          <p:nvPr>
            <p:ph type="sldNum" sz="quarter" idx="5"/>
          </p:nvPr>
        </p:nvSpPr>
        <p:spPr/>
        <p:txBody>
          <a:bodyPr/>
          <a:lstStyle/>
          <a:p>
            <a:fld id="{4EF7DCE0-779D-4395-A80B-A67310E5D275}" type="slidenum">
              <a:rPr lang="ko-KR" altLang="en-US" smtClean="0"/>
              <a:t>5</a:t>
            </a:fld>
            <a:endParaRPr lang="ko-KR" altLang="en-US"/>
          </a:p>
        </p:txBody>
      </p:sp>
    </p:spTree>
    <p:extLst>
      <p:ext uri="{BB962C8B-B14F-4D97-AF65-F5344CB8AC3E}">
        <p14:creationId xmlns:p14="http://schemas.microsoft.com/office/powerpoint/2010/main" val="126138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CASP14 </a:t>
            </a:r>
            <a:r>
              <a:rPr lang="ko-KR" altLang="en-US" dirty="0"/>
              <a:t>에서 다시 </a:t>
            </a:r>
            <a:r>
              <a:rPr lang="en-US" altLang="ko-KR" dirty="0"/>
              <a:t>AF2</a:t>
            </a:r>
            <a:r>
              <a:rPr lang="ko-KR" altLang="en-US" dirty="0"/>
              <a:t>가 우승 차지 </a:t>
            </a:r>
            <a:r>
              <a:rPr lang="en-US" altLang="ko-KR" dirty="0"/>
              <a:t>(baker </a:t>
            </a:r>
            <a:r>
              <a:rPr lang="ko-KR" altLang="en-US" dirty="0"/>
              <a:t>보다 훨씬 월등한 성적</a:t>
            </a:r>
            <a:r>
              <a:rPr lang="en-US" altLang="ko-KR" dirty="0"/>
              <a:t>)</a:t>
            </a:r>
          </a:p>
          <a:p>
            <a:r>
              <a:rPr lang="en-US" altLang="ko-KR" dirty="0" err="1"/>
              <a:t>ResNet</a:t>
            </a:r>
            <a:r>
              <a:rPr lang="en-US" altLang="ko-KR" dirty="0"/>
              <a:t> -&gt; </a:t>
            </a:r>
            <a:r>
              <a:rPr lang="en-US" altLang="ko-KR" dirty="0" err="1"/>
              <a:t>Evoformer</a:t>
            </a:r>
            <a:r>
              <a:rPr lang="en-US" altLang="ko-KR" dirty="0"/>
              <a:t>; </a:t>
            </a:r>
            <a:r>
              <a:rPr lang="ko-KR" altLang="en-US" dirty="0"/>
              <a:t>과감하게 </a:t>
            </a:r>
            <a:r>
              <a:rPr lang="en-US" altLang="ko-KR" dirty="0"/>
              <a:t>CNN </a:t>
            </a:r>
            <a:r>
              <a:rPr lang="ko-KR" altLang="en-US" dirty="0"/>
              <a:t>을 버리고 </a:t>
            </a:r>
            <a:r>
              <a:rPr lang="en-US" altLang="ko-KR" dirty="0"/>
              <a:t>transformer </a:t>
            </a:r>
            <a:r>
              <a:rPr lang="ko-KR" altLang="en-US" dirty="0"/>
              <a:t>도입</a:t>
            </a:r>
            <a:r>
              <a:rPr lang="en-US" altLang="ko-KR" dirty="0"/>
              <a:t>, attention </a:t>
            </a:r>
            <a:r>
              <a:rPr lang="ko-KR" altLang="en-US" dirty="0"/>
              <a:t>기반으로 </a:t>
            </a:r>
            <a:r>
              <a:rPr lang="en-US" altLang="ko-KR" dirty="0"/>
              <a:t>MSA rep </a:t>
            </a:r>
            <a:r>
              <a:rPr lang="ko-KR" altLang="en-US" dirty="0"/>
              <a:t>와 </a:t>
            </a:r>
            <a:r>
              <a:rPr lang="en-US" altLang="ko-KR" dirty="0"/>
              <a:t>pair rep </a:t>
            </a:r>
            <a:r>
              <a:rPr lang="ko-KR" altLang="en-US" dirty="0"/>
              <a:t>가 서로 정보 교환하는 연산 포함 </a:t>
            </a:r>
            <a:r>
              <a:rPr lang="en-US" altLang="ko-KR" dirty="0"/>
              <a:t>– </a:t>
            </a:r>
            <a:r>
              <a:rPr lang="ko-KR" altLang="en-US" dirty="0"/>
              <a:t>서로 업데이트 가능</a:t>
            </a:r>
            <a:endParaRPr lang="en-US" altLang="ko-KR" dirty="0"/>
          </a:p>
          <a:p>
            <a:r>
              <a:rPr lang="en-US" altLang="ko-KR" dirty="0"/>
              <a:t>AF1: </a:t>
            </a:r>
            <a:r>
              <a:rPr lang="en-US" altLang="ko-KR" sz="1200" b="0" i="0" kern="1200" dirty="0">
                <a:solidFill>
                  <a:schemeClr val="tx1"/>
                </a:solidFill>
                <a:effectLst/>
                <a:latin typeface="+mn-lt"/>
                <a:ea typeface="+mn-ea"/>
                <a:cs typeface="+mn-cs"/>
              </a:rPr>
              <a:t>1. </a:t>
            </a:r>
            <a:r>
              <a:rPr lang="ko-KR" altLang="en-US" sz="1200" b="0" i="0" kern="1200" dirty="0">
                <a:solidFill>
                  <a:schemeClr val="tx1"/>
                </a:solidFill>
                <a:effectLst/>
                <a:latin typeface="+mn-lt"/>
                <a:ea typeface="+mn-ea"/>
                <a:cs typeface="+mn-cs"/>
              </a:rPr>
              <a:t>네트워크를 통한 거리 및 </a:t>
            </a:r>
            <a:r>
              <a:rPr lang="ko-KR" altLang="en-US" sz="1200" b="0" i="0" kern="1200" dirty="0" err="1">
                <a:solidFill>
                  <a:schemeClr val="tx1"/>
                </a:solidFill>
                <a:effectLst/>
                <a:latin typeface="+mn-lt"/>
                <a:ea typeface="+mn-ea"/>
                <a:cs typeface="+mn-cs"/>
              </a:rPr>
              <a:t>뒤틀림각</a:t>
            </a:r>
            <a:r>
              <a:rPr lang="ko-KR" altLang="en-US" sz="1200" b="0" i="0" kern="1200" dirty="0">
                <a:solidFill>
                  <a:schemeClr val="tx1"/>
                </a:solidFill>
                <a:effectLst/>
                <a:latin typeface="+mn-lt"/>
                <a:ea typeface="+mn-ea"/>
                <a:cs typeface="+mn-cs"/>
              </a:rPr>
              <a:t> 분포 예측 → </a:t>
            </a:r>
            <a:r>
              <a:rPr lang="en-US" altLang="ko-KR" sz="1200" b="0" i="0" kern="1200" dirty="0">
                <a:solidFill>
                  <a:schemeClr val="tx1"/>
                </a:solidFill>
                <a:effectLst/>
                <a:latin typeface="+mn-lt"/>
                <a:ea typeface="+mn-ea"/>
                <a:cs typeface="+mn-cs"/>
              </a:rPr>
              <a:t>2. </a:t>
            </a:r>
            <a:r>
              <a:rPr lang="ko-KR" altLang="en-US" sz="1200" b="0" i="0" kern="1200" dirty="0">
                <a:solidFill>
                  <a:schemeClr val="tx1"/>
                </a:solidFill>
                <a:effectLst/>
                <a:latin typeface="+mn-lt"/>
                <a:ea typeface="+mn-ea"/>
                <a:cs typeface="+mn-cs"/>
              </a:rPr>
              <a:t>예측한 분포를 통해 구성한 퍼텐셜 함수의 최적화</a:t>
            </a:r>
            <a:endParaRPr lang="en-US" altLang="ko-KR" sz="1200" b="0" i="0" kern="1200" dirty="0">
              <a:solidFill>
                <a:schemeClr val="tx1"/>
              </a:solidFill>
              <a:effectLst/>
              <a:latin typeface="+mn-lt"/>
              <a:ea typeface="+mn-ea"/>
              <a:cs typeface="+mn-cs"/>
            </a:endParaRPr>
          </a:p>
          <a:p>
            <a:r>
              <a:rPr lang="nl-BE" altLang="ko-KR" sz="1200" b="0" i="0" kern="1200" dirty="0">
                <a:solidFill>
                  <a:schemeClr val="tx1"/>
                </a:solidFill>
                <a:effectLst/>
                <a:latin typeface="+mn-lt"/>
                <a:ea typeface="+mn-ea"/>
                <a:cs typeface="+mn-cs"/>
              </a:rPr>
              <a:t>AF2: </a:t>
            </a:r>
            <a:r>
              <a:rPr lang="ko-KR" altLang="en-US" sz="1200" b="0" i="0" kern="1200" dirty="0">
                <a:solidFill>
                  <a:schemeClr val="tx1"/>
                </a:solidFill>
                <a:effectLst/>
                <a:latin typeface="+mn-lt"/>
                <a:ea typeface="+mn-ea"/>
                <a:cs typeface="+mn-cs"/>
              </a:rPr>
              <a:t>입력 데이터</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최종 구조 예측 이 하나의 네트워크로 이어짐 </a:t>
            </a:r>
            <a:r>
              <a:rPr lang="en-US" altLang="ko-KR" sz="1200" b="0" i="0" kern="1200" dirty="0">
                <a:solidFill>
                  <a:schemeClr val="tx1"/>
                </a:solidFill>
                <a:effectLst/>
                <a:latin typeface="+mn-lt"/>
                <a:ea typeface="+mn-ea"/>
                <a:cs typeface="+mn-cs"/>
              </a:rPr>
              <a:t>(end-to-end prediction)</a:t>
            </a:r>
          </a:p>
          <a:p>
            <a:endParaRPr lang="en-US" altLang="ko-KR" sz="1200" b="0" i="0" kern="1200" dirty="0">
              <a:solidFill>
                <a:schemeClr val="tx1"/>
              </a:solidFill>
              <a:effectLst/>
              <a:latin typeface="+mn-lt"/>
              <a:ea typeface="+mn-ea"/>
              <a:cs typeface="+mn-cs"/>
            </a:endParaRPr>
          </a:p>
          <a:p>
            <a:r>
              <a:rPr lang="ko-KR" altLang="en-US" sz="1200" b="0" i="0" kern="1200" dirty="0">
                <a:solidFill>
                  <a:schemeClr val="tx1"/>
                </a:solidFill>
                <a:effectLst/>
                <a:latin typeface="+mn-lt"/>
                <a:ea typeface="+mn-ea"/>
                <a:cs typeface="+mn-cs"/>
              </a:rPr>
              <a:t>이 </a:t>
            </a:r>
            <a:r>
              <a:rPr lang="en-US" altLang="ko-KR" sz="1200" b="0" i="0" kern="1200" dirty="0">
                <a:solidFill>
                  <a:schemeClr val="tx1"/>
                </a:solidFill>
                <a:effectLst/>
                <a:latin typeface="+mn-lt"/>
                <a:ea typeface="+mn-ea"/>
                <a:cs typeface="+mn-cs"/>
              </a:rPr>
              <a:t>end-to-end prediction</a:t>
            </a:r>
            <a:r>
              <a:rPr lang="ko-KR" altLang="en-US" sz="1200" b="0" i="0" kern="1200" dirty="0">
                <a:solidFill>
                  <a:schemeClr val="tx1"/>
                </a:solidFill>
                <a:effectLst/>
                <a:latin typeface="+mn-lt"/>
                <a:ea typeface="+mn-ea"/>
                <a:cs typeface="+mn-cs"/>
              </a:rPr>
              <a:t>을 가능하게 해주는 것이 </a:t>
            </a:r>
            <a:r>
              <a:rPr lang="en-US" altLang="ko-KR" sz="1200" b="0" i="0" kern="1200" dirty="0" err="1">
                <a:solidFill>
                  <a:schemeClr val="tx1"/>
                </a:solidFill>
                <a:effectLst/>
                <a:latin typeface="+mn-lt"/>
                <a:ea typeface="+mn-ea"/>
                <a:cs typeface="+mn-cs"/>
              </a:rPr>
              <a:t>Evoformer</a:t>
            </a:r>
            <a:r>
              <a:rPr lang="en-US" altLang="ko-KR" sz="1200" b="0" i="0" kern="1200" dirty="0">
                <a:solidFill>
                  <a:schemeClr val="tx1"/>
                </a:solidFill>
                <a:effectLst/>
                <a:latin typeface="+mn-lt"/>
                <a:ea typeface="+mn-ea"/>
                <a:cs typeface="+mn-cs"/>
              </a:rPr>
              <a:t> </a:t>
            </a:r>
            <a:r>
              <a:rPr lang="ko-KR" altLang="en-US" sz="1200" b="0" i="0" kern="1200" dirty="0" err="1">
                <a:solidFill>
                  <a:schemeClr val="tx1"/>
                </a:solidFill>
                <a:effectLst/>
                <a:latin typeface="+mn-lt"/>
                <a:ea typeface="+mn-ea"/>
                <a:cs typeface="+mn-cs"/>
              </a:rPr>
              <a:t>뒷단에</a:t>
            </a:r>
            <a:r>
              <a:rPr lang="ko-KR" altLang="en-US" sz="1200" b="0" i="0" kern="1200" dirty="0">
                <a:solidFill>
                  <a:schemeClr val="tx1"/>
                </a:solidFill>
                <a:effectLst/>
                <a:latin typeface="+mn-lt"/>
                <a:ea typeface="+mn-ea"/>
                <a:cs typeface="+mn-cs"/>
              </a:rPr>
              <a:t> 추가된 </a:t>
            </a:r>
            <a:r>
              <a:rPr lang="en-US" altLang="ko-KR" sz="1200" b="0" i="0" kern="1200" dirty="0">
                <a:solidFill>
                  <a:schemeClr val="tx1"/>
                </a:solidFill>
                <a:effectLst/>
                <a:latin typeface="+mn-lt"/>
                <a:ea typeface="+mn-ea"/>
                <a:cs typeface="+mn-cs"/>
              </a:rPr>
              <a:t>Structure module</a:t>
            </a:r>
            <a:r>
              <a:rPr lang="ko-KR" altLang="en-US" sz="1200" b="0" i="0" kern="1200" dirty="0">
                <a:solidFill>
                  <a:schemeClr val="tx1"/>
                </a:solidFill>
                <a:effectLst/>
                <a:latin typeface="+mn-lt"/>
                <a:ea typeface="+mn-ea"/>
                <a:cs typeface="+mn-cs"/>
              </a:rPr>
              <a:t>입니다</a:t>
            </a:r>
            <a:r>
              <a:rPr lang="en-US" altLang="ko-KR" sz="1200" b="0" i="0" kern="1200" dirty="0">
                <a:solidFill>
                  <a:schemeClr val="tx1"/>
                </a:solidFill>
                <a:effectLst/>
                <a:latin typeface="+mn-lt"/>
                <a:ea typeface="+mn-ea"/>
                <a:cs typeface="+mn-cs"/>
              </a:rPr>
              <a:t>. Structure module</a:t>
            </a:r>
            <a:r>
              <a:rPr lang="ko-KR" altLang="en-US" sz="1200" b="0" i="0" kern="1200" dirty="0">
                <a:solidFill>
                  <a:schemeClr val="tx1"/>
                </a:solidFill>
                <a:effectLst/>
                <a:latin typeface="+mn-lt"/>
                <a:ea typeface="+mn-ea"/>
                <a:cs typeface="+mn-cs"/>
              </a:rPr>
              <a:t>은 </a:t>
            </a:r>
            <a:r>
              <a:rPr lang="en-US" altLang="ko-KR" sz="1200" b="0" i="0" kern="1200" dirty="0" err="1">
                <a:solidFill>
                  <a:schemeClr val="tx1"/>
                </a:solidFill>
                <a:effectLst/>
                <a:latin typeface="+mn-lt"/>
                <a:ea typeface="+mn-ea"/>
                <a:cs typeface="+mn-cs"/>
              </a:rPr>
              <a:t>Evoformer</a:t>
            </a:r>
            <a:r>
              <a:rPr lang="ko-KR" altLang="en-US" sz="1200" b="0" i="0" kern="1200" dirty="0">
                <a:solidFill>
                  <a:schemeClr val="tx1"/>
                </a:solidFill>
                <a:effectLst/>
                <a:latin typeface="+mn-lt"/>
                <a:ea typeface="+mn-ea"/>
                <a:cs typeface="+mn-cs"/>
              </a:rPr>
              <a:t>를 통해 업데이트된 </a:t>
            </a:r>
            <a:r>
              <a:rPr lang="en-US" altLang="ko-KR" sz="1200" b="0" i="0" kern="1200" dirty="0">
                <a:solidFill>
                  <a:schemeClr val="tx1"/>
                </a:solidFill>
                <a:effectLst/>
                <a:latin typeface="+mn-lt"/>
                <a:ea typeface="+mn-ea"/>
                <a:cs typeface="+mn-cs"/>
              </a:rPr>
              <a:t>MSA </a:t>
            </a:r>
            <a:r>
              <a:rPr lang="ko-KR" altLang="en-US" sz="1200" b="0" i="0" kern="1200" dirty="0">
                <a:solidFill>
                  <a:schemeClr val="tx1"/>
                </a:solidFill>
                <a:effectLst/>
                <a:latin typeface="+mn-lt"/>
                <a:ea typeface="+mn-ea"/>
                <a:cs typeface="+mn-cs"/>
              </a:rPr>
              <a:t>및 </a:t>
            </a:r>
            <a:r>
              <a:rPr lang="en-US" altLang="ko-KR" sz="1200" b="0" i="0" kern="1200" dirty="0">
                <a:solidFill>
                  <a:schemeClr val="tx1"/>
                </a:solidFill>
                <a:effectLst/>
                <a:latin typeface="+mn-lt"/>
                <a:ea typeface="+mn-ea"/>
                <a:cs typeface="+mn-cs"/>
              </a:rPr>
              <a:t>pair representation</a:t>
            </a:r>
            <a:r>
              <a:rPr lang="ko-KR" altLang="en-US" sz="1200" b="0" i="0" kern="1200" dirty="0">
                <a:solidFill>
                  <a:schemeClr val="tx1"/>
                </a:solidFill>
                <a:effectLst/>
                <a:latin typeface="+mn-lt"/>
                <a:ea typeface="+mn-ea"/>
                <a:cs typeface="+mn-cs"/>
              </a:rPr>
              <a:t>을 입력으로 받아</a:t>
            </a:r>
            <a:r>
              <a:rPr lang="en-US" altLang="ko-KR" sz="1200" b="0" i="0" kern="1200" dirty="0">
                <a:solidFill>
                  <a:schemeClr val="tx1"/>
                </a:solidFill>
                <a:effectLst/>
                <a:latin typeface="+mn-lt"/>
                <a:ea typeface="+mn-ea"/>
                <a:cs typeface="+mn-cs"/>
              </a:rPr>
              <a:t>, Invariant Point Attention module (IPA module)</a:t>
            </a:r>
            <a:r>
              <a:rPr lang="ko-KR" altLang="en-US" sz="1200" b="0" i="0" kern="1200" dirty="0">
                <a:solidFill>
                  <a:schemeClr val="tx1"/>
                </a:solidFill>
                <a:effectLst/>
                <a:latin typeface="+mn-lt"/>
                <a:ea typeface="+mn-ea"/>
                <a:cs typeface="+mn-cs"/>
              </a:rPr>
              <a:t>이라는 </a:t>
            </a:r>
            <a:r>
              <a:rPr lang="en-US" altLang="ko-KR" sz="1200" b="0" i="0" kern="1200" dirty="0">
                <a:solidFill>
                  <a:schemeClr val="tx1"/>
                </a:solidFill>
                <a:effectLst/>
                <a:latin typeface="+mn-lt"/>
                <a:ea typeface="+mn-ea"/>
                <a:cs typeface="+mn-cs"/>
              </a:rPr>
              <a:t>attention</a:t>
            </a:r>
            <a:r>
              <a:rPr lang="ko-KR" altLang="en-US" sz="1200" b="0" i="0" kern="1200" dirty="0">
                <a:solidFill>
                  <a:schemeClr val="tx1"/>
                </a:solidFill>
                <a:effectLst/>
                <a:latin typeface="+mn-lt"/>
                <a:ea typeface="+mn-ea"/>
                <a:cs typeface="+mn-cs"/>
              </a:rPr>
              <a:t>이 접목된 네트워크를 통해 추가 업데이트를 진행합니다</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이렇게 최종적으로 업데이트된 정보를 바탕으로 각 아미노산마다 </a:t>
            </a:r>
            <a:r>
              <a:rPr lang="ko-KR" altLang="en-US" sz="1200" b="0" i="0" kern="1200" dirty="0" err="1">
                <a:solidFill>
                  <a:schemeClr val="tx1"/>
                </a:solidFill>
                <a:effectLst/>
                <a:latin typeface="+mn-lt"/>
                <a:ea typeface="+mn-ea"/>
                <a:cs typeface="+mn-cs"/>
              </a:rPr>
              <a:t>유클리디언</a:t>
            </a:r>
            <a:r>
              <a:rPr lang="ko-KR" altLang="en-US" sz="1200" b="0" i="0" kern="1200" dirty="0">
                <a:solidFill>
                  <a:schemeClr val="tx1"/>
                </a:solidFill>
                <a:effectLst/>
                <a:latin typeface="+mn-lt"/>
                <a:ea typeface="+mn-ea"/>
                <a:cs typeface="+mn-cs"/>
              </a:rPr>
              <a:t> 변환 </a:t>
            </a:r>
            <a:r>
              <a:rPr lang="en-US" altLang="ko-KR" sz="1200" b="0" i="0" kern="1200" dirty="0">
                <a:solidFill>
                  <a:schemeClr val="tx1"/>
                </a:solidFill>
                <a:effectLst/>
                <a:latin typeface="+mn-lt"/>
                <a:ea typeface="+mn-ea"/>
                <a:cs typeface="+mn-cs"/>
              </a:rPr>
              <a:t>(Euclidean Transformation) </a:t>
            </a:r>
            <a:r>
              <a:rPr lang="ko-KR" altLang="en-US" sz="1200" b="0" i="0" kern="1200" dirty="0">
                <a:solidFill>
                  <a:schemeClr val="tx1"/>
                </a:solidFill>
                <a:effectLst/>
                <a:latin typeface="+mn-lt"/>
                <a:ea typeface="+mn-ea"/>
                <a:cs typeface="+mn-cs"/>
              </a:rPr>
              <a:t>행렬을 예측하게 됩니다</a:t>
            </a:r>
            <a:r>
              <a:rPr lang="en-US" altLang="ko-KR" sz="1200" b="0" i="0" kern="1200" dirty="0">
                <a:solidFill>
                  <a:schemeClr val="tx1"/>
                </a:solidFill>
                <a:effectLst/>
                <a:latin typeface="+mn-lt"/>
                <a:ea typeface="+mn-ea"/>
                <a:cs typeface="+mn-cs"/>
              </a:rPr>
              <a:t>.</a:t>
            </a:r>
          </a:p>
          <a:p>
            <a:r>
              <a:rPr lang="ko-KR" altLang="en-US" sz="1200" b="0" i="0" kern="1200" dirty="0">
                <a:solidFill>
                  <a:schemeClr val="tx1"/>
                </a:solidFill>
                <a:effectLst/>
                <a:latin typeface="+mn-lt"/>
                <a:ea typeface="+mn-ea"/>
                <a:cs typeface="+mn-cs"/>
              </a:rPr>
              <a:t>원점에서 시작해 아미노산 </a:t>
            </a:r>
            <a:r>
              <a:rPr lang="en-US" altLang="ko-KR" sz="1200" b="0" i="0" kern="1200" dirty="0">
                <a:solidFill>
                  <a:schemeClr val="tx1"/>
                </a:solidFill>
                <a:effectLst/>
                <a:latin typeface="+mn-lt"/>
                <a:ea typeface="+mn-ea"/>
                <a:cs typeface="+mn-cs"/>
              </a:rPr>
              <a:t>backbone </a:t>
            </a:r>
            <a:r>
              <a:rPr lang="ko-KR" altLang="en-US" sz="1200" b="0" i="0" kern="1200" dirty="0">
                <a:solidFill>
                  <a:schemeClr val="tx1"/>
                </a:solidFill>
                <a:effectLst/>
                <a:latin typeface="+mn-lt"/>
                <a:ea typeface="+mn-ea"/>
                <a:cs typeface="+mn-cs"/>
              </a:rPr>
              <a:t>정보 업데이트 </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실제 단백질 구조에 가까운 위치로 이동</a:t>
            </a:r>
            <a:r>
              <a:rPr lang="en-US" altLang="ko-KR" sz="1200" b="0" i="0" kern="1200" dirty="0">
                <a:solidFill>
                  <a:schemeClr val="tx1"/>
                </a:solidFill>
                <a:effectLst/>
                <a:latin typeface="+mn-lt"/>
                <a:ea typeface="+mn-ea"/>
                <a:cs typeface="+mn-cs"/>
              </a:rPr>
              <a:t>; backbone </a:t>
            </a:r>
            <a:r>
              <a:rPr lang="ko-KR" altLang="en-US" sz="1200" b="0" i="0" kern="1200" dirty="0">
                <a:solidFill>
                  <a:schemeClr val="tx1"/>
                </a:solidFill>
                <a:effectLst/>
                <a:latin typeface="+mn-lt"/>
                <a:ea typeface="+mn-ea"/>
                <a:cs typeface="+mn-cs"/>
              </a:rPr>
              <a:t>기반으로 각 아미노산의 </a:t>
            </a:r>
            <a:r>
              <a:rPr lang="ko-KR" altLang="en-US" sz="1200" b="0" i="0" kern="1200" dirty="0" err="1">
                <a:solidFill>
                  <a:schemeClr val="tx1"/>
                </a:solidFill>
                <a:effectLst/>
                <a:latin typeface="+mn-lt"/>
                <a:ea typeface="+mn-ea"/>
                <a:cs typeface="+mn-cs"/>
              </a:rPr>
              <a:t>뒤틀림각</a:t>
            </a:r>
            <a:r>
              <a:rPr lang="ko-KR" altLang="en-US" sz="1200" b="0" i="0" kern="1200" dirty="0">
                <a:solidFill>
                  <a:schemeClr val="tx1"/>
                </a:solidFill>
                <a:effectLst/>
                <a:latin typeface="+mn-lt"/>
                <a:ea typeface="+mn-ea"/>
                <a:cs typeface="+mn-cs"/>
              </a:rPr>
              <a:t> 예측</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개별 원자 좌표 예측 </a:t>
            </a:r>
            <a:r>
              <a:rPr lang="en-US" altLang="ko-KR" sz="1200" b="0" i="0" kern="1200" dirty="0">
                <a:solidFill>
                  <a:schemeClr val="tx1"/>
                </a:solidFill>
                <a:effectLst/>
                <a:latin typeface="+mn-lt"/>
                <a:ea typeface="+mn-ea"/>
                <a:cs typeface="+mn-cs"/>
              </a:rPr>
              <a:t>=&gt; </a:t>
            </a:r>
            <a:r>
              <a:rPr lang="ko-KR" altLang="en-US" sz="1200" b="0" i="0" kern="1200" dirty="0">
                <a:solidFill>
                  <a:schemeClr val="tx1"/>
                </a:solidFill>
                <a:effectLst/>
                <a:latin typeface="+mn-lt"/>
                <a:ea typeface="+mn-ea"/>
                <a:cs typeface="+mn-cs"/>
              </a:rPr>
              <a:t>업데이트된 </a:t>
            </a:r>
            <a:r>
              <a:rPr lang="en-US" altLang="ko-KR" sz="1200" b="0" i="0" kern="1200" dirty="0">
                <a:solidFill>
                  <a:schemeClr val="tx1"/>
                </a:solidFill>
                <a:effectLst/>
                <a:latin typeface="+mn-lt"/>
                <a:ea typeface="+mn-ea"/>
                <a:cs typeface="+mn-cs"/>
              </a:rPr>
              <a:t>MSA/</a:t>
            </a:r>
            <a:r>
              <a:rPr lang="nl-BE" altLang="ko-KR" sz="1200" b="0" i="0" kern="1200" dirty="0">
                <a:solidFill>
                  <a:schemeClr val="tx1"/>
                </a:solidFill>
                <a:effectLst/>
                <a:latin typeface="+mn-lt"/>
                <a:ea typeface="+mn-ea"/>
                <a:cs typeface="+mn-cs"/>
              </a:rPr>
              <a:t>pair</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rep/</a:t>
            </a:r>
            <a:r>
              <a:rPr lang="ko-KR" altLang="en-US" sz="1200" b="0" i="0" kern="1200" dirty="0">
                <a:solidFill>
                  <a:schemeClr val="tx1"/>
                </a:solidFill>
                <a:effectLst/>
                <a:latin typeface="+mn-lt"/>
                <a:ea typeface="+mn-ea"/>
                <a:cs typeface="+mn-cs"/>
              </a:rPr>
              <a:t>예측된 구조 정보 다시 </a:t>
            </a:r>
            <a:r>
              <a:rPr lang="en-US" altLang="ko-KR" sz="1200" b="0" i="0" kern="1200" dirty="0" err="1">
                <a:solidFill>
                  <a:schemeClr val="tx1"/>
                </a:solidFill>
                <a:effectLst/>
                <a:latin typeface="+mn-lt"/>
                <a:ea typeface="+mn-ea"/>
                <a:cs typeface="+mn-cs"/>
              </a:rPr>
              <a:t>evoformer</a:t>
            </a:r>
            <a:r>
              <a:rPr lang="en-US" altLang="ko-KR" sz="1200" b="0" i="0" kern="1200" dirty="0">
                <a:solidFill>
                  <a:schemeClr val="tx1"/>
                </a:solidFill>
                <a:effectLst/>
                <a:latin typeface="+mn-lt"/>
                <a:ea typeface="+mn-ea"/>
                <a:cs typeface="+mn-cs"/>
              </a:rPr>
              <a:t>, structure module</a:t>
            </a:r>
            <a:r>
              <a:rPr lang="ko-KR" altLang="en-US" sz="1200" b="0" i="0" kern="1200" dirty="0">
                <a:solidFill>
                  <a:schemeClr val="tx1"/>
                </a:solidFill>
                <a:effectLst/>
                <a:latin typeface="+mn-lt"/>
                <a:ea typeface="+mn-ea"/>
                <a:cs typeface="+mn-cs"/>
              </a:rPr>
              <a:t>에 입력 </a:t>
            </a:r>
            <a:r>
              <a:rPr lang="en-US" altLang="ko-KR" sz="1200" b="0" i="0" kern="1200" dirty="0">
                <a:solidFill>
                  <a:schemeClr val="tx1"/>
                </a:solidFill>
                <a:effectLst/>
                <a:latin typeface="+mn-lt"/>
                <a:ea typeface="+mn-ea"/>
                <a:cs typeface="+mn-cs"/>
              </a:rPr>
              <a:t>(recycling</a:t>
            </a:r>
            <a:r>
              <a:rPr lang="ko-KR" altLang="en-US" sz="1200" b="0" i="0" kern="1200" dirty="0">
                <a:solidFill>
                  <a:schemeClr val="tx1"/>
                </a:solidFill>
                <a:effectLst/>
                <a:latin typeface="+mn-lt"/>
                <a:ea typeface="+mn-ea"/>
                <a:cs typeface="+mn-cs"/>
              </a:rPr>
              <a:t> 과정</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반복</a:t>
            </a:r>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6</a:t>
            </a:fld>
            <a:endParaRPr lang="ko-KR" altLang="en-US"/>
          </a:p>
        </p:txBody>
      </p:sp>
    </p:spTree>
    <p:extLst>
      <p:ext uri="{BB962C8B-B14F-4D97-AF65-F5344CB8AC3E}">
        <p14:creationId xmlns:p14="http://schemas.microsoft.com/office/powerpoint/2010/main" val="2085562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0" i="0" kern="1200" dirty="0">
                <a:solidFill>
                  <a:schemeClr val="tx1"/>
                </a:solidFill>
                <a:effectLst/>
                <a:latin typeface="+mn-lt"/>
                <a:ea typeface="+mn-ea"/>
                <a:cs typeface="+mn-cs"/>
              </a:rPr>
              <a:t>입력 </a:t>
            </a:r>
            <a:r>
              <a:rPr lang="ko-KR" altLang="en-US" sz="1200" b="0" i="0" kern="1200" dirty="0" err="1">
                <a:solidFill>
                  <a:schemeClr val="tx1"/>
                </a:solidFill>
                <a:effectLst/>
                <a:latin typeface="+mn-lt"/>
                <a:ea typeface="+mn-ea"/>
                <a:cs typeface="+mn-cs"/>
              </a:rPr>
              <a:t>임베더</a:t>
            </a:r>
            <a:r>
              <a:rPr lang="ko-KR" altLang="en-US" sz="1200" b="0" i="0" kern="1200" dirty="0">
                <a:solidFill>
                  <a:schemeClr val="tx1"/>
                </a:solidFill>
                <a:effectLst/>
                <a:latin typeface="+mn-lt"/>
                <a:ea typeface="+mn-ea"/>
                <a:cs typeface="+mn-cs"/>
              </a:rPr>
              <a:t> → </a:t>
            </a:r>
            <a:r>
              <a:rPr lang="nl-BE" altLang="ko-KR" sz="1200" b="0" i="0" kern="1200" dirty="0">
                <a:solidFill>
                  <a:schemeClr val="tx1"/>
                </a:solidFill>
                <a:effectLst/>
                <a:latin typeface="+mn-lt"/>
                <a:ea typeface="+mn-ea"/>
                <a:cs typeface="+mn-cs"/>
              </a:rPr>
              <a:t>MSA </a:t>
            </a:r>
            <a:r>
              <a:rPr lang="ko-KR" altLang="en-US" sz="1200" b="0" i="0" kern="1200" dirty="0">
                <a:solidFill>
                  <a:schemeClr val="tx1"/>
                </a:solidFill>
                <a:effectLst/>
                <a:latin typeface="+mn-lt"/>
                <a:ea typeface="+mn-ea"/>
                <a:cs typeface="+mn-cs"/>
              </a:rPr>
              <a:t>모듈 → </a:t>
            </a:r>
            <a:r>
              <a:rPr lang="nl-BE" altLang="ko-KR" sz="1200" b="0" i="0" kern="1200" dirty="0" err="1">
                <a:solidFill>
                  <a:schemeClr val="tx1"/>
                </a:solidFill>
                <a:effectLst/>
                <a:latin typeface="+mn-lt"/>
                <a:ea typeface="+mn-ea"/>
                <a:cs typeface="+mn-cs"/>
              </a:rPr>
              <a:t>Pairformer</a:t>
            </a:r>
            <a:r>
              <a:rPr lang="nl-BE" altLang="ko-KR" sz="1200" b="0" i="0" kern="1200" dirty="0">
                <a:solidFill>
                  <a:schemeClr val="tx1"/>
                </a:solidFill>
                <a:effectLst/>
                <a:latin typeface="+mn-lt"/>
                <a:ea typeface="+mn-ea"/>
                <a:cs typeface="+mn-cs"/>
              </a:rPr>
              <a:t> → </a:t>
            </a:r>
            <a:r>
              <a:rPr lang="nl-BE" altLang="ko-KR" sz="1200" b="0" i="0" kern="1200" dirty="0" err="1">
                <a:solidFill>
                  <a:schemeClr val="tx1"/>
                </a:solidFill>
                <a:effectLst/>
                <a:latin typeface="+mn-lt"/>
                <a:ea typeface="+mn-ea"/>
                <a:cs typeface="+mn-cs"/>
              </a:rPr>
              <a:t>Diffusion</a:t>
            </a:r>
            <a:r>
              <a:rPr lang="nl-BE"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구조 모듈 → </a:t>
            </a:r>
            <a:r>
              <a:rPr lang="nl-BE" altLang="ko-KR" sz="1200" b="0" i="0" kern="1200" dirty="0" err="1">
                <a:solidFill>
                  <a:schemeClr val="tx1"/>
                </a:solidFill>
                <a:effectLst/>
                <a:latin typeface="+mn-lt"/>
                <a:ea typeface="+mn-ea"/>
                <a:cs typeface="+mn-cs"/>
              </a:rPr>
              <a:t>Confidence</a:t>
            </a:r>
            <a:r>
              <a:rPr lang="nl-BE"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모듈</a:t>
            </a:r>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7</a:t>
            </a:fld>
            <a:endParaRPr lang="ko-KR" altLang="en-US"/>
          </a:p>
        </p:txBody>
      </p:sp>
    </p:spTree>
    <p:extLst>
      <p:ext uri="{BB962C8B-B14F-4D97-AF65-F5344CB8AC3E}">
        <p14:creationId xmlns:p14="http://schemas.microsoft.com/office/powerpoint/2010/main" val="780048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A9F3-26E6-5080-A084-FD24E92FA82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B1EC6FC-C26D-DDC7-4662-5C3CF0A6D12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C9BC4B6-734B-A63F-B848-8FDE90E15256}"/>
              </a:ext>
            </a:extLst>
          </p:cNvPr>
          <p:cNvSpPr>
            <a:spLocks noGrp="1"/>
          </p:cNvSpPr>
          <p:nvPr>
            <p:ph type="body" idx="1"/>
          </p:nvPr>
        </p:nvSpPr>
        <p:spPr/>
        <p:txBody>
          <a:bodyPr/>
          <a:lstStyle/>
          <a:p>
            <a:r>
              <a:rPr lang="en-US" altLang="ko-KR" sz="1200" b="0" i="0" kern="1200" dirty="0">
                <a:solidFill>
                  <a:schemeClr val="tx1"/>
                </a:solidFill>
                <a:effectLst/>
                <a:latin typeface="+mn-lt"/>
                <a:ea typeface="+mn-ea"/>
                <a:cs typeface="+mn-cs"/>
              </a:rPr>
              <a:t>(d) </a:t>
            </a:r>
            <a:r>
              <a:rPr lang="ko-KR" altLang="en-US" sz="1200" b="0" i="0" kern="1200" dirty="0">
                <a:solidFill>
                  <a:schemeClr val="tx1"/>
                </a:solidFill>
                <a:effectLst/>
                <a:latin typeface="+mn-lt"/>
                <a:ea typeface="+mn-ea"/>
                <a:cs typeface="+mn-cs"/>
              </a:rPr>
              <a:t>는 </a:t>
            </a:r>
            <a:r>
              <a:rPr lang="en-US" altLang="ko-KR" sz="1200" b="0" i="0" kern="1200" dirty="0">
                <a:solidFill>
                  <a:schemeClr val="tx1"/>
                </a:solidFill>
                <a:effectLst/>
                <a:latin typeface="+mn-lt"/>
                <a:ea typeface="+mn-ea"/>
                <a:cs typeface="+mn-cs"/>
              </a:rPr>
              <a:t>training </a:t>
            </a:r>
            <a:r>
              <a:rPr lang="ko-KR" altLang="en-US" sz="1200" b="0" i="0" kern="1200" dirty="0">
                <a:solidFill>
                  <a:schemeClr val="tx1"/>
                </a:solidFill>
                <a:effectLst/>
                <a:latin typeface="+mn-lt"/>
                <a:ea typeface="+mn-ea"/>
                <a:cs typeface="+mn-cs"/>
              </a:rPr>
              <a:t>시 각 생체분자 별 </a:t>
            </a:r>
            <a:r>
              <a:rPr lang="en-US" altLang="ko-KR" sz="1200" b="0" i="0" kern="1200" dirty="0">
                <a:solidFill>
                  <a:schemeClr val="tx1"/>
                </a:solidFill>
                <a:effectLst/>
                <a:latin typeface="+mn-lt"/>
                <a:ea typeface="+mn-ea"/>
                <a:cs typeface="+mn-cs"/>
              </a:rPr>
              <a:t>LLDT (</a:t>
            </a:r>
            <a:r>
              <a:rPr lang="ko-KR" altLang="en-US" sz="1200" b="0" i="0" kern="1200" dirty="0">
                <a:solidFill>
                  <a:schemeClr val="tx1"/>
                </a:solidFill>
                <a:effectLst/>
                <a:latin typeface="+mn-lt"/>
                <a:ea typeface="+mn-ea"/>
                <a:cs typeface="+mn-cs"/>
              </a:rPr>
              <a:t>예측 정확도</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에 대한 그래프를 나타낸 것</a:t>
            </a:r>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Local Distance Difference Test, is </a:t>
            </a:r>
            <a:r>
              <a:rPr lang="en-US" altLang="ko-KR" dirty="0"/>
              <a:t>a metric used to assess the local accuracy of protein structure models</a:t>
            </a:r>
            <a:endParaRPr lang="ko-KR" altLang="en-US" dirty="0"/>
          </a:p>
        </p:txBody>
      </p:sp>
      <p:sp>
        <p:nvSpPr>
          <p:cNvPr id="4" name="슬라이드 번호 개체 틀 3">
            <a:extLst>
              <a:ext uri="{FF2B5EF4-FFF2-40B4-BE49-F238E27FC236}">
                <a16:creationId xmlns:a16="http://schemas.microsoft.com/office/drawing/2014/main" id="{A14B300D-5D56-25CD-D698-784ED91FA1ED}"/>
              </a:ext>
            </a:extLst>
          </p:cNvPr>
          <p:cNvSpPr>
            <a:spLocks noGrp="1"/>
          </p:cNvSpPr>
          <p:nvPr>
            <p:ph type="sldNum" sz="quarter" idx="5"/>
          </p:nvPr>
        </p:nvSpPr>
        <p:spPr/>
        <p:txBody>
          <a:bodyPr/>
          <a:lstStyle/>
          <a:p>
            <a:fld id="{4EF7DCE0-779D-4395-A80B-A67310E5D275}" type="slidenum">
              <a:rPr lang="ko-KR" altLang="en-US" smtClean="0"/>
              <a:t>9</a:t>
            </a:fld>
            <a:endParaRPr lang="ko-KR" altLang="en-US"/>
          </a:p>
        </p:txBody>
      </p:sp>
    </p:spTree>
    <p:extLst>
      <p:ext uri="{BB962C8B-B14F-4D97-AF65-F5344CB8AC3E}">
        <p14:creationId xmlns:p14="http://schemas.microsoft.com/office/powerpoint/2010/main" val="2517135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0" i="0" kern="1200" dirty="0">
                <a:solidFill>
                  <a:schemeClr val="tx1"/>
                </a:solidFill>
                <a:effectLst/>
                <a:latin typeface="+mn-lt"/>
                <a:ea typeface="+mn-ea"/>
                <a:cs typeface="+mn-cs"/>
              </a:rPr>
              <a:t>기존 </a:t>
            </a:r>
            <a:r>
              <a:rPr lang="en-US" altLang="ko-KR" sz="1200" b="0" i="0" kern="1200" dirty="0">
                <a:solidFill>
                  <a:schemeClr val="tx1"/>
                </a:solidFill>
                <a:effectLst/>
                <a:latin typeface="+mn-lt"/>
                <a:ea typeface="+mn-ea"/>
                <a:cs typeface="+mn-cs"/>
              </a:rPr>
              <a:t>AlphaFold2</a:t>
            </a:r>
            <a:r>
              <a:rPr lang="ko-KR" altLang="en-US" sz="1200" b="0" i="0" kern="1200" dirty="0">
                <a:solidFill>
                  <a:schemeClr val="tx1"/>
                </a:solidFill>
                <a:effectLst/>
                <a:latin typeface="+mn-lt"/>
                <a:ea typeface="+mn-ea"/>
                <a:cs typeface="+mn-cs"/>
              </a:rPr>
              <a:t>에서는 </a:t>
            </a:r>
            <a:r>
              <a:rPr lang="en-US" altLang="ko-KR" sz="1200" b="0" i="0" kern="1200" dirty="0">
                <a:solidFill>
                  <a:schemeClr val="tx1"/>
                </a:solidFill>
                <a:effectLst/>
                <a:latin typeface="+mn-lt"/>
                <a:ea typeface="+mn-ea"/>
                <a:cs typeface="+mn-cs"/>
              </a:rPr>
              <a:t>MSA </a:t>
            </a:r>
            <a:r>
              <a:rPr lang="ko-KR" altLang="en-US" sz="1200" b="0" i="0" kern="1200" dirty="0">
                <a:solidFill>
                  <a:schemeClr val="tx1"/>
                </a:solidFill>
                <a:effectLst/>
                <a:latin typeface="+mn-lt"/>
                <a:ea typeface="+mn-ea"/>
                <a:cs typeface="+mn-cs"/>
              </a:rPr>
              <a:t>정보가 모델의 대부분을 차지했으나</a:t>
            </a:r>
            <a:r>
              <a:rPr lang="en-US" altLang="ko-KR" sz="1200" b="0" i="0" kern="1200" dirty="0">
                <a:solidFill>
                  <a:schemeClr val="tx1"/>
                </a:solidFill>
                <a:effectLst/>
                <a:latin typeface="+mn-lt"/>
                <a:ea typeface="+mn-ea"/>
                <a:cs typeface="+mn-cs"/>
              </a:rPr>
              <a:t>, AF3</a:t>
            </a:r>
            <a:r>
              <a:rPr lang="ko-KR" altLang="en-US" sz="1200" b="0" i="0" kern="1200" dirty="0">
                <a:solidFill>
                  <a:schemeClr val="tx1"/>
                </a:solidFill>
                <a:effectLst/>
                <a:latin typeface="+mn-lt"/>
                <a:ea typeface="+mn-ea"/>
                <a:cs typeface="+mn-cs"/>
              </a:rPr>
              <a:t>에서는 </a:t>
            </a:r>
            <a:r>
              <a:rPr lang="en-US" altLang="ko-KR" sz="1200" b="0" i="0" kern="1200" dirty="0">
                <a:solidFill>
                  <a:schemeClr val="tx1"/>
                </a:solidFill>
                <a:effectLst/>
                <a:latin typeface="+mn-lt"/>
                <a:ea typeface="+mn-ea"/>
                <a:cs typeface="+mn-cs"/>
              </a:rPr>
              <a:t>4</a:t>
            </a:r>
            <a:r>
              <a:rPr lang="ko-KR" altLang="en-US" sz="1200" b="0" i="0" kern="1200" dirty="0">
                <a:solidFill>
                  <a:schemeClr val="tx1"/>
                </a:solidFill>
                <a:effectLst/>
                <a:latin typeface="+mn-lt"/>
                <a:ea typeface="+mn-ea"/>
                <a:cs typeface="+mn-cs"/>
              </a:rPr>
              <a:t>개 블록 정도로 대폭 축소되어 효율성과 연산 속도를 높였습니다</a:t>
            </a:r>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10</a:t>
            </a:fld>
            <a:endParaRPr lang="ko-KR" altLang="en-US"/>
          </a:p>
        </p:txBody>
      </p:sp>
    </p:spTree>
    <p:extLst>
      <p:ext uri="{BB962C8B-B14F-4D97-AF65-F5344CB8AC3E}">
        <p14:creationId xmlns:p14="http://schemas.microsoft.com/office/powerpoint/2010/main" val="3087767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Residue pairing</a:t>
            </a:r>
            <a:r>
              <a:rPr lang="ko-KR" altLang="en-US" dirty="0"/>
              <a:t> </a:t>
            </a:r>
            <a:r>
              <a:rPr lang="en-US" altLang="ko-KR" dirty="0"/>
              <a:t>-&gt;</a:t>
            </a:r>
            <a:r>
              <a:rPr lang="ko-KR" altLang="en-US" dirty="0"/>
              <a:t> </a:t>
            </a:r>
            <a:r>
              <a:rPr lang="en-US" altLang="ko-KR" dirty="0"/>
              <a:t>find the relationship between the pair</a:t>
            </a:r>
          </a:p>
          <a:p>
            <a:r>
              <a:rPr lang="en-US" altLang="ko-KR" dirty="0" err="1"/>
              <a:t>Pairformer</a:t>
            </a:r>
            <a:r>
              <a:rPr lang="en-US" altLang="ko-KR" dirty="0"/>
              <a:t> </a:t>
            </a:r>
            <a:r>
              <a:rPr lang="ko-KR" altLang="en-US" dirty="0"/>
              <a:t>덕분에 </a:t>
            </a:r>
            <a:r>
              <a:rPr lang="en-US" altLang="ko-KR" dirty="0"/>
              <a:t>AF3</a:t>
            </a:r>
            <a:r>
              <a:rPr lang="ko-KR" altLang="en-US" dirty="0"/>
              <a:t>이 </a:t>
            </a:r>
            <a:r>
              <a:rPr lang="en-US" altLang="ko-KR" dirty="0"/>
              <a:t>protein </a:t>
            </a:r>
            <a:r>
              <a:rPr lang="ko-KR" altLang="en-US" dirty="0"/>
              <a:t>뿐 아니라 다른 임의의</a:t>
            </a:r>
            <a:r>
              <a:rPr lang="en-US" altLang="ko-KR" dirty="0"/>
              <a:t> </a:t>
            </a:r>
            <a:r>
              <a:rPr lang="ko-KR" altLang="en-US" dirty="0"/>
              <a:t>구조도 예측할 수 있는 것</a:t>
            </a:r>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11</a:t>
            </a:fld>
            <a:endParaRPr lang="ko-KR" altLang="en-US"/>
          </a:p>
        </p:txBody>
      </p:sp>
    </p:spTree>
    <p:extLst>
      <p:ext uri="{BB962C8B-B14F-4D97-AF65-F5344CB8AC3E}">
        <p14:creationId xmlns:p14="http://schemas.microsoft.com/office/powerpoint/2010/main" val="2728079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DF251-4603-7B57-B37F-C65F714006B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7149DCF-2CA0-9A5F-B513-DEEA1C0BFC5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C380777-5C2C-D90B-24CE-EF2CA6E556C5}"/>
              </a:ext>
            </a:extLst>
          </p:cNvPr>
          <p:cNvSpPr>
            <a:spLocks noGrp="1"/>
          </p:cNvSpPr>
          <p:nvPr>
            <p:ph type="body" idx="1"/>
          </p:nvPr>
        </p:nvSpPr>
        <p:spPr/>
        <p:txBody>
          <a:bodyPr/>
          <a:lstStyle/>
          <a:p>
            <a:r>
              <a:rPr lang="en-US" altLang="ko-KR" sz="1200" b="0" i="0" kern="1200" dirty="0">
                <a:solidFill>
                  <a:schemeClr val="tx1"/>
                </a:solidFill>
                <a:effectLst/>
                <a:latin typeface="+mn-lt"/>
                <a:ea typeface="+mn-ea"/>
                <a:cs typeface="+mn-cs"/>
              </a:rPr>
              <a:t>Recycling</a:t>
            </a:r>
            <a:endParaRPr lang="ko-KR" altLang="en-US" dirty="0"/>
          </a:p>
        </p:txBody>
      </p:sp>
      <p:sp>
        <p:nvSpPr>
          <p:cNvPr id="4" name="슬라이드 번호 개체 틀 3">
            <a:extLst>
              <a:ext uri="{FF2B5EF4-FFF2-40B4-BE49-F238E27FC236}">
                <a16:creationId xmlns:a16="http://schemas.microsoft.com/office/drawing/2014/main" id="{FE30FF24-01D4-45DD-EC22-ECEEE7F6DEFB}"/>
              </a:ext>
            </a:extLst>
          </p:cNvPr>
          <p:cNvSpPr>
            <a:spLocks noGrp="1"/>
          </p:cNvSpPr>
          <p:nvPr>
            <p:ph type="sldNum" sz="quarter" idx="5"/>
          </p:nvPr>
        </p:nvSpPr>
        <p:spPr/>
        <p:txBody>
          <a:bodyPr/>
          <a:lstStyle/>
          <a:p>
            <a:fld id="{4EF7DCE0-779D-4395-A80B-A67310E5D275}" type="slidenum">
              <a:rPr lang="ko-KR" altLang="en-US" smtClean="0"/>
              <a:t>12</a:t>
            </a:fld>
            <a:endParaRPr lang="ko-KR" altLang="en-US"/>
          </a:p>
        </p:txBody>
      </p:sp>
    </p:spTree>
    <p:extLst>
      <p:ext uri="{BB962C8B-B14F-4D97-AF65-F5344CB8AC3E}">
        <p14:creationId xmlns:p14="http://schemas.microsoft.com/office/powerpoint/2010/main" val="509055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[advantages]</a:t>
            </a:r>
          </a:p>
          <a:p>
            <a:r>
              <a:rPr lang="ko-KR" altLang="en-US" sz="1200" b="0" i="0" kern="1200" dirty="0">
                <a:solidFill>
                  <a:schemeClr val="tx1"/>
                </a:solidFill>
                <a:effectLst/>
                <a:latin typeface="+mn-lt"/>
                <a:ea typeface="+mn-ea"/>
                <a:cs typeface="+mn-cs"/>
              </a:rPr>
              <a:t>단백질</a:t>
            </a:r>
            <a:r>
              <a:rPr lang="en-US" altLang="ko-KR" sz="1200" b="0" i="0" kern="1200" dirty="0">
                <a:solidFill>
                  <a:schemeClr val="tx1"/>
                </a:solidFill>
                <a:effectLst/>
                <a:latin typeface="+mn-lt"/>
                <a:ea typeface="+mn-ea"/>
                <a:cs typeface="+mn-cs"/>
              </a:rPr>
              <a:t>‧DNA‧RNA‧</a:t>
            </a:r>
            <a:r>
              <a:rPr lang="ko-KR" altLang="en-US" sz="1200" b="0" i="0" kern="1200" dirty="0">
                <a:solidFill>
                  <a:schemeClr val="tx1"/>
                </a:solidFill>
                <a:effectLst/>
                <a:latin typeface="+mn-lt"/>
                <a:ea typeface="+mn-ea"/>
                <a:cs typeface="+mn-cs"/>
              </a:rPr>
              <a:t>약물 등 다양한 조합 구조까지 동시에 예측 가능</a:t>
            </a:r>
          </a:p>
          <a:p>
            <a:r>
              <a:rPr lang="ko-KR" altLang="en-US" sz="1200" b="0" i="0" kern="1200" dirty="0">
                <a:solidFill>
                  <a:schemeClr val="tx1"/>
                </a:solidFill>
                <a:effectLst/>
                <a:latin typeface="+mn-lt"/>
                <a:ea typeface="+mn-ea"/>
                <a:cs typeface="+mn-cs"/>
              </a:rPr>
              <a:t>기존보다 정확도 높음</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특히 단백질</a:t>
            </a:r>
            <a:r>
              <a:rPr lang="en-US" altLang="ko-KR" sz="1200" b="0" i="0" kern="1200" dirty="0">
                <a:solidFill>
                  <a:schemeClr val="tx1"/>
                </a:solidFill>
                <a:effectLst/>
                <a:latin typeface="+mn-lt"/>
                <a:ea typeface="+mn-ea"/>
                <a:cs typeface="+mn-cs"/>
              </a:rPr>
              <a:t>-</a:t>
            </a:r>
            <a:r>
              <a:rPr lang="ko-KR" altLang="en-US" sz="1200" b="0" i="0" kern="1200" dirty="0" err="1">
                <a:solidFill>
                  <a:schemeClr val="tx1"/>
                </a:solidFill>
                <a:effectLst/>
                <a:latin typeface="+mn-lt"/>
                <a:ea typeface="+mn-ea"/>
                <a:cs typeface="+mn-cs"/>
              </a:rPr>
              <a:t>리간드</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단백질</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핵산</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항체</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항원 구조 등</a:t>
            </a:r>
            <a:r>
              <a:rPr lang="en-US" altLang="ko-KR" sz="1200" b="0" i="0" kern="1200" dirty="0">
                <a:solidFill>
                  <a:schemeClr val="tx1"/>
                </a:solidFill>
                <a:effectLst/>
                <a:latin typeface="+mn-lt"/>
                <a:ea typeface="+mn-ea"/>
                <a:cs typeface="+mn-cs"/>
              </a:rPr>
              <a:t>)</a:t>
            </a:r>
          </a:p>
          <a:p>
            <a:r>
              <a:rPr lang="ko-KR" altLang="en-US" sz="1200" b="0" i="0" kern="1200" dirty="0">
                <a:solidFill>
                  <a:schemeClr val="tx1"/>
                </a:solidFill>
                <a:effectLst/>
                <a:latin typeface="+mn-lt"/>
                <a:ea typeface="+mn-ea"/>
                <a:cs typeface="+mn-cs"/>
              </a:rPr>
              <a:t>복잡한 입체화학 문제까지도 처리할 수 있음</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물리화학적으로 실재할 수 있는 구조 예측</a:t>
            </a:r>
            <a:endParaRPr lang="en-US" altLang="ko-KR" sz="1200" b="0" i="0" kern="1200" dirty="0">
              <a:solidFill>
                <a:schemeClr val="tx1"/>
              </a:solidFill>
              <a:effectLst/>
              <a:latin typeface="+mn-lt"/>
              <a:ea typeface="+mn-ea"/>
              <a:cs typeface="+mn-cs"/>
            </a:endParaRPr>
          </a:p>
          <a:p>
            <a:r>
              <a:rPr lang="en-US" altLang="ko-KR" sz="1200" b="0" i="0" kern="1200" dirty="0">
                <a:solidFill>
                  <a:schemeClr val="tx1"/>
                </a:solidFill>
                <a:effectLst/>
                <a:latin typeface="+mn-lt"/>
                <a:ea typeface="+mn-ea"/>
                <a:cs typeface="+mn-cs"/>
              </a:rPr>
              <a:t>replacing frame- and torsion-based structure modules: allows for easy accommodation of general chemical structures, such as arbitrary ligands, modified residues, and covalent modifications</a:t>
            </a:r>
            <a:endParaRPr lang="ko-KR" altLang="en-US" sz="1200" b="0" i="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15</a:t>
            </a:fld>
            <a:endParaRPr lang="ko-KR" altLang="en-US"/>
          </a:p>
        </p:txBody>
      </p:sp>
    </p:spTree>
    <p:extLst>
      <p:ext uri="{BB962C8B-B14F-4D97-AF65-F5344CB8AC3E}">
        <p14:creationId xmlns:p14="http://schemas.microsoft.com/office/powerpoint/2010/main" val="1226367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228600" indent="-228600">
              <a:buAutoNum type="alphaLcParenBoth"/>
            </a:pPr>
            <a:r>
              <a:rPr lang="en-US" altLang="ko-KR" dirty="0"/>
              <a:t>Confidence scores (</a:t>
            </a:r>
            <a:r>
              <a:rPr lang="en-US" altLang="ko-KR" dirty="0" err="1"/>
              <a:t>ipTM</a:t>
            </a:r>
            <a:r>
              <a:rPr lang="en-US" altLang="ko-KR" dirty="0"/>
              <a:t> and </a:t>
            </a:r>
            <a:r>
              <a:rPr lang="en-US" altLang="ko-KR" dirty="0" err="1"/>
              <a:t>pLDDT</a:t>
            </a:r>
            <a:r>
              <a:rPr lang="en-US" altLang="ko-KR" dirty="0"/>
              <a:t>) increase: high quantitative accuracy and predictive confidence</a:t>
            </a:r>
          </a:p>
          <a:p>
            <a:pPr marL="0" indent="0">
              <a:buNone/>
            </a:pPr>
            <a:r>
              <a:rPr lang="en-US" altLang="ko-KR" dirty="0"/>
              <a:t>(b), (c): </a:t>
            </a:r>
            <a:r>
              <a:rPr lang="ko-KR" altLang="en-US" dirty="0"/>
              <a:t>예측 결과</a:t>
            </a:r>
            <a:endParaRPr lang="en-US" altLang="ko-KR" dirty="0"/>
          </a:p>
          <a:p>
            <a:pPr marL="0" indent="0">
              <a:buNone/>
            </a:pPr>
            <a:r>
              <a:rPr lang="en-US" altLang="ko-KR" dirty="0"/>
              <a:t>(d), (e): </a:t>
            </a:r>
            <a:r>
              <a:rPr lang="en-US" altLang="ko-KR" sz="1200" b="0" i="0" kern="1200" dirty="0">
                <a:solidFill>
                  <a:schemeClr val="tx1"/>
                </a:solidFill>
                <a:effectLst/>
                <a:latin typeface="+mn-lt"/>
                <a:ea typeface="+mn-ea"/>
                <a:cs typeface="+mn-cs"/>
              </a:rPr>
              <a:t>supporting quantification of interface quality and predicted error across complex interfaces</a:t>
            </a:r>
            <a:endParaRPr lang="en-US" altLang="ko-KR"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16</a:t>
            </a:fld>
            <a:endParaRPr lang="ko-KR" altLang="en-US"/>
          </a:p>
        </p:txBody>
      </p:sp>
    </p:spTree>
    <p:extLst>
      <p:ext uri="{BB962C8B-B14F-4D97-AF65-F5344CB8AC3E}">
        <p14:creationId xmlns:p14="http://schemas.microsoft.com/office/powerpoint/2010/main" val="1232556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AF2 </a:t>
            </a:r>
            <a:r>
              <a:rPr lang="ko-KR" altLang="en-US" dirty="0"/>
              <a:t>는 </a:t>
            </a:r>
            <a:r>
              <a:rPr lang="en-US" altLang="ko-KR" dirty="0"/>
              <a:t>non generative model </a:t>
            </a:r>
            <a:r>
              <a:rPr lang="ko-KR" altLang="en-US" dirty="0"/>
              <a:t>이라서 </a:t>
            </a:r>
            <a:r>
              <a:rPr lang="en-US" altLang="ko-KR" dirty="0"/>
              <a:t>hallucination </a:t>
            </a:r>
            <a:r>
              <a:rPr lang="ko-KR" altLang="en-US" dirty="0"/>
              <a:t>문제가 없었는데 </a:t>
            </a:r>
            <a:r>
              <a:rPr lang="en-US" altLang="ko-KR" dirty="0"/>
              <a:t>AF3 </a:t>
            </a:r>
            <a:r>
              <a:rPr lang="ko-KR" altLang="en-US" dirty="0"/>
              <a:t>은 </a:t>
            </a:r>
            <a:r>
              <a:rPr lang="en-US" altLang="ko-KR" dirty="0"/>
              <a:t>diffusion </a:t>
            </a:r>
            <a:r>
              <a:rPr lang="ko-KR" altLang="en-US" dirty="0"/>
              <a:t>을 기반으로 하는 </a:t>
            </a:r>
            <a:r>
              <a:rPr lang="en-US" altLang="ko-KR" dirty="0"/>
              <a:t>generative model </a:t>
            </a:r>
            <a:r>
              <a:rPr lang="ko-KR" altLang="en-US" dirty="0"/>
              <a:t>이기 때문에 </a:t>
            </a:r>
            <a:r>
              <a:rPr lang="en-US" altLang="ko-KR" dirty="0"/>
              <a:t>hallucination </a:t>
            </a:r>
            <a:r>
              <a:rPr lang="ko-KR" altLang="en-US" dirty="0"/>
              <a:t>문제 있음 </a:t>
            </a:r>
            <a:r>
              <a:rPr lang="en-US" altLang="ko-KR" dirty="0"/>
              <a:t>– low confidence, lack the distinctive ribbon-like appearance</a:t>
            </a:r>
          </a:p>
          <a:p>
            <a:endParaRPr lang="en-US" altLang="ko-KR" dirty="0"/>
          </a:p>
          <a:p>
            <a:r>
              <a:rPr lang="ko-KR" altLang="en-US" dirty="0"/>
              <a:t>정확한 구조 예측이 여전히 어려워서 보다 정확한 예측 결과를 위해선 많은 리소스가 필요한 것</a:t>
            </a:r>
            <a:r>
              <a:rPr lang="en-US" altLang="ko-KR" dirty="0"/>
              <a:t>; especially </a:t>
            </a:r>
            <a:r>
              <a:rPr lang="en-US" altLang="ko-KR" dirty="0" err="1"/>
              <a:t>angibody</a:t>
            </a:r>
            <a:r>
              <a:rPr lang="en-US" altLang="ko-KR" dirty="0"/>
              <a:t>-antigen complexes</a:t>
            </a:r>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17</a:t>
            </a:fld>
            <a:endParaRPr lang="ko-KR" altLang="en-US"/>
          </a:p>
        </p:txBody>
      </p:sp>
    </p:spTree>
    <p:extLst>
      <p:ext uri="{BB962C8B-B14F-4D97-AF65-F5344CB8AC3E}">
        <p14:creationId xmlns:p14="http://schemas.microsoft.com/office/powerpoint/2010/main" val="467695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18</a:t>
            </a:fld>
            <a:endParaRPr lang="ko-KR" altLang="en-US"/>
          </a:p>
        </p:txBody>
      </p:sp>
    </p:spTree>
    <p:extLst>
      <p:ext uri="{BB962C8B-B14F-4D97-AF65-F5344CB8AC3E}">
        <p14:creationId xmlns:p14="http://schemas.microsoft.com/office/powerpoint/2010/main" val="4248780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C6983-58C3-2C08-A38F-13D44CB5951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958F8C3-8D38-A55A-EC47-DEAA26BA953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A23E5F9-946B-70CB-160C-2E46B3B0B437}"/>
              </a:ext>
            </a:extLst>
          </p:cNvPr>
          <p:cNvSpPr>
            <a:spLocks noGrp="1"/>
          </p:cNvSpPr>
          <p:nvPr>
            <p:ph type="body" idx="1"/>
          </p:nvPr>
        </p:nvSpPr>
        <p:spPr/>
        <p:txBody>
          <a:bodyPr/>
          <a:lstStyle/>
          <a:p>
            <a:r>
              <a:rPr lang="en-US" altLang="ko-KR" dirty="0"/>
              <a:t>Input format: custom JSON (java script object notation) input format </a:t>
            </a:r>
            <a:endParaRPr lang="ko-KR" altLang="en-US" dirty="0"/>
          </a:p>
        </p:txBody>
      </p:sp>
      <p:sp>
        <p:nvSpPr>
          <p:cNvPr id="4" name="슬라이드 번호 개체 틀 3">
            <a:extLst>
              <a:ext uri="{FF2B5EF4-FFF2-40B4-BE49-F238E27FC236}">
                <a16:creationId xmlns:a16="http://schemas.microsoft.com/office/drawing/2014/main" id="{D7FB8E18-D51E-8000-6030-1B9C6A4705E5}"/>
              </a:ext>
            </a:extLst>
          </p:cNvPr>
          <p:cNvSpPr>
            <a:spLocks noGrp="1"/>
          </p:cNvSpPr>
          <p:nvPr>
            <p:ph type="sldNum" sz="quarter" idx="5"/>
          </p:nvPr>
        </p:nvSpPr>
        <p:spPr/>
        <p:txBody>
          <a:bodyPr/>
          <a:lstStyle/>
          <a:p>
            <a:fld id="{4EF7DCE0-779D-4395-A80B-A67310E5D275}" type="slidenum">
              <a:rPr lang="ko-KR" altLang="en-US" smtClean="0"/>
              <a:t>19</a:t>
            </a:fld>
            <a:endParaRPr lang="ko-KR" altLang="en-US"/>
          </a:p>
        </p:txBody>
      </p:sp>
    </p:spTree>
    <p:extLst>
      <p:ext uri="{BB962C8B-B14F-4D97-AF65-F5344CB8AC3E}">
        <p14:creationId xmlns:p14="http://schemas.microsoft.com/office/powerpoint/2010/main" val="1082917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3268A-3DEA-42F7-ED39-723D341D6B8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D1D6040-AA53-A677-9692-909759DB90C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ADD9E37-DFDA-76E0-1FA3-9D4FF8C6933A}"/>
              </a:ext>
            </a:extLst>
          </p:cNvPr>
          <p:cNvSpPr>
            <a:spLocks noGrp="1"/>
          </p:cNvSpPr>
          <p:nvPr>
            <p:ph type="body" idx="1"/>
          </p:nvPr>
        </p:nvSpPr>
        <p:spPr/>
        <p:txBody>
          <a:bodyPr/>
          <a:lstStyle/>
          <a:p>
            <a:r>
              <a:rPr lang="en-US" altLang="ko-KR" dirty="0"/>
              <a:t>Input format: custom JSON (java script object notation) input format </a:t>
            </a:r>
            <a:endParaRPr lang="ko-KR" altLang="en-US" dirty="0"/>
          </a:p>
        </p:txBody>
      </p:sp>
      <p:sp>
        <p:nvSpPr>
          <p:cNvPr id="4" name="슬라이드 번호 개체 틀 3">
            <a:extLst>
              <a:ext uri="{FF2B5EF4-FFF2-40B4-BE49-F238E27FC236}">
                <a16:creationId xmlns:a16="http://schemas.microsoft.com/office/drawing/2014/main" id="{2FA39E9D-DC1F-F221-04D7-CEEE9D709B2D}"/>
              </a:ext>
            </a:extLst>
          </p:cNvPr>
          <p:cNvSpPr>
            <a:spLocks noGrp="1"/>
          </p:cNvSpPr>
          <p:nvPr>
            <p:ph type="sldNum" sz="quarter" idx="5"/>
          </p:nvPr>
        </p:nvSpPr>
        <p:spPr/>
        <p:txBody>
          <a:bodyPr/>
          <a:lstStyle/>
          <a:p>
            <a:fld id="{4EF7DCE0-779D-4395-A80B-A67310E5D275}" type="slidenum">
              <a:rPr lang="ko-KR" altLang="en-US" smtClean="0"/>
              <a:t>20</a:t>
            </a:fld>
            <a:endParaRPr lang="ko-KR" altLang="en-US"/>
          </a:p>
        </p:txBody>
      </p:sp>
    </p:spTree>
    <p:extLst>
      <p:ext uri="{BB962C8B-B14F-4D97-AF65-F5344CB8AC3E}">
        <p14:creationId xmlns:p14="http://schemas.microsoft.com/office/powerpoint/2010/main" val="2542834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fontAlgn="base"/>
            <a:r>
              <a:rPr lang="en-US" altLang="ko-KR" sz="1200" b="0" i="0" kern="1200" dirty="0" err="1">
                <a:solidFill>
                  <a:schemeClr val="tx1"/>
                </a:solidFill>
                <a:effectLst/>
                <a:latin typeface="+mn-lt"/>
                <a:ea typeface="+mn-ea"/>
                <a:cs typeface="+mn-cs"/>
              </a:rPr>
              <a:t>Colab</a:t>
            </a:r>
            <a:r>
              <a:rPr lang="ko-KR" altLang="en-US" sz="1200" b="0" i="0" kern="1200" dirty="0">
                <a:solidFill>
                  <a:schemeClr val="tx1"/>
                </a:solidFill>
                <a:effectLst/>
                <a:latin typeface="+mn-lt"/>
                <a:ea typeface="+mn-ea"/>
                <a:cs typeface="+mn-cs"/>
              </a:rPr>
              <a:t>이 </a:t>
            </a:r>
            <a:r>
              <a:rPr lang="en-US" altLang="ko-KR" sz="1200" b="0" i="0" kern="1200" dirty="0">
                <a:solidFill>
                  <a:schemeClr val="tx1"/>
                </a:solidFill>
                <a:effectLst/>
                <a:latin typeface="+mn-lt"/>
                <a:ea typeface="+mn-ea"/>
                <a:cs typeface="+mn-cs"/>
              </a:rPr>
              <a:t>non available</a:t>
            </a:r>
            <a:r>
              <a:rPr lang="ko-KR" altLang="en-US" sz="1200" b="0" i="0" kern="1200" dirty="0">
                <a:solidFill>
                  <a:schemeClr val="tx1"/>
                </a:solidFill>
                <a:effectLst/>
                <a:latin typeface="+mn-lt"/>
                <a:ea typeface="+mn-ea"/>
                <a:cs typeface="+mn-cs"/>
              </a:rPr>
              <a:t>이라서 블로그에서 찾음</a:t>
            </a:r>
            <a:endParaRPr lang="en-US" altLang="ko-KR" sz="1200" b="0" i="0" kern="1200" dirty="0">
              <a:solidFill>
                <a:schemeClr val="tx1"/>
              </a:solidFill>
              <a:effectLst/>
              <a:latin typeface="+mn-lt"/>
              <a:ea typeface="+mn-ea"/>
              <a:cs typeface="+mn-cs"/>
            </a:endParaRPr>
          </a:p>
          <a:p>
            <a:pPr fontAlgn="base"/>
            <a:r>
              <a:rPr lang="en-US" altLang="ko-KR" sz="1200" b="0" i="0" kern="1200" dirty="0" err="1">
                <a:solidFill>
                  <a:schemeClr val="tx1"/>
                </a:solidFill>
                <a:effectLst/>
                <a:latin typeface="+mn-lt"/>
                <a:ea typeface="+mn-ea"/>
                <a:cs typeface="+mn-cs"/>
              </a:rPr>
              <a:t>PspGI</a:t>
            </a:r>
            <a:r>
              <a:rPr lang="en-US" altLang="ko-KR" sz="1200" b="0" i="0" kern="1200" dirty="0">
                <a:solidFill>
                  <a:schemeClr val="tx1"/>
                </a:solidFill>
                <a:effectLst/>
                <a:latin typeface="+mn-lt"/>
                <a:ea typeface="+mn-ea"/>
                <a:cs typeface="+mn-cs"/>
              </a:rPr>
              <a:t> methyltransferase</a:t>
            </a:r>
            <a:r>
              <a:rPr lang="en-US" altLang="ko-KR" sz="1200" b="1"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는 구조는 모르고 서열만 알려진 단백질이다 </a:t>
            </a:r>
            <a:endParaRPr lang="en-US" altLang="ko-KR" sz="1200" b="0" i="0" kern="1200" dirty="0">
              <a:solidFill>
                <a:schemeClr val="tx1"/>
              </a:solidFill>
              <a:effectLst/>
              <a:latin typeface="+mn-lt"/>
              <a:ea typeface="+mn-ea"/>
              <a:cs typeface="+mn-cs"/>
            </a:endParaRPr>
          </a:p>
          <a:p>
            <a:pPr fontAlgn="base"/>
            <a:r>
              <a:rPr lang="en-US" altLang="ko-KR" dirty="0" err="1"/>
              <a:t>Uniprot</a:t>
            </a:r>
            <a:r>
              <a:rPr lang="ko-KR" altLang="en-US" dirty="0"/>
              <a:t>에서 서열 </a:t>
            </a:r>
            <a:r>
              <a:rPr lang="en-US" altLang="ko-KR" dirty="0"/>
              <a:t>(</a:t>
            </a:r>
            <a:r>
              <a:rPr lang="en-US" altLang="ko-KR" dirty="0" err="1"/>
              <a:t>Fasta</a:t>
            </a:r>
            <a:r>
              <a:rPr lang="en-US" altLang="ko-KR" dirty="0"/>
              <a:t>)</a:t>
            </a:r>
            <a:r>
              <a:rPr lang="ko-KR" altLang="en-US" dirty="0"/>
              <a:t> 찾아 </a:t>
            </a:r>
            <a:r>
              <a:rPr lang="en-US" altLang="ko-KR" dirty="0" err="1"/>
              <a:t>Alphafold</a:t>
            </a:r>
            <a:r>
              <a:rPr lang="ko-KR" altLang="en-US" dirty="0"/>
              <a:t>에 넣기 </a:t>
            </a:r>
            <a:r>
              <a:rPr lang="en-US" altLang="ko-KR" dirty="0"/>
              <a:t>-&gt; </a:t>
            </a:r>
            <a:r>
              <a:rPr lang="ko-KR" altLang="en-US" dirty="0"/>
              <a:t>데이터베이스 기반 검색 </a:t>
            </a:r>
            <a:r>
              <a:rPr lang="en-US" altLang="ko-KR" dirty="0"/>
              <a:t>(</a:t>
            </a:r>
            <a:r>
              <a:rPr lang="en-US" altLang="ko-KR" dirty="0" err="1"/>
              <a:t>colab</a:t>
            </a:r>
            <a:r>
              <a:rPr lang="en-US" altLang="ko-KR" dirty="0"/>
              <a:t> </a:t>
            </a:r>
            <a:r>
              <a:rPr lang="ko-KR" altLang="en-US" dirty="0"/>
              <a:t>환경에서 약 </a:t>
            </a:r>
            <a:r>
              <a:rPr lang="en-US" altLang="ko-KR" dirty="0"/>
              <a:t>50</a:t>
            </a:r>
            <a:r>
              <a:rPr lang="ko-KR" altLang="en-US" dirty="0"/>
              <a:t>분 소요</a:t>
            </a:r>
            <a:r>
              <a:rPr lang="en-US" altLang="ko-KR" dirty="0"/>
              <a:t>) -&gt; </a:t>
            </a:r>
          </a:p>
          <a:p>
            <a:pPr fontAlgn="base"/>
            <a:endParaRPr lang="en-US" altLang="ko-KR" dirty="0"/>
          </a:p>
          <a:p>
            <a:pPr fontAlgn="base"/>
            <a:r>
              <a:rPr lang="nl-BE" altLang="ko-KR" dirty="0"/>
              <a:t>&gt;tr|O93645|O93645_9EURY site-</a:t>
            </a:r>
            <a:r>
              <a:rPr lang="nl-BE" altLang="ko-KR" dirty="0" err="1"/>
              <a:t>specific</a:t>
            </a:r>
            <a:r>
              <a:rPr lang="nl-BE" altLang="ko-KR" dirty="0"/>
              <a:t> DNA-</a:t>
            </a:r>
            <a:r>
              <a:rPr lang="nl-BE" altLang="ko-KR" dirty="0" err="1"/>
              <a:t>methyltransferase</a:t>
            </a:r>
            <a:r>
              <a:rPr lang="nl-BE" altLang="ko-KR" dirty="0"/>
              <a:t> (cytosine-N(4)-</a:t>
            </a:r>
            <a:r>
              <a:rPr lang="nl-BE" altLang="ko-KR" dirty="0" err="1"/>
              <a:t>specific</a:t>
            </a:r>
            <a:r>
              <a:rPr lang="nl-BE" altLang="ko-KR" dirty="0"/>
              <a:t>) OS=</a:t>
            </a:r>
            <a:r>
              <a:rPr lang="nl-BE" altLang="ko-KR" dirty="0" err="1"/>
              <a:t>Pyrococcus</a:t>
            </a:r>
            <a:r>
              <a:rPr lang="nl-BE" altLang="ko-KR" dirty="0"/>
              <a:t> </a:t>
            </a:r>
            <a:r>
              <a:rPr lang="nl-BE" altLang="ko-KR" dirty="0" err="1"/>
              <a:t>sp</a:t>
            </a:r>
            <a:r>
              <a:rPr lang="nl-BE" altLang="ko-KR" dirty="0"/>
              <a:t>. GI-H OX=83521 PE=3 SV=1MKTLDEFINAQVVLKKVGEKKFRDPSWDFTTANTKILTHGMHSYPAMMIPQVARKSIKLWGKNAKVILDPFCGSGTVLVEAKIKNINSYGFDINPLAILLSKVKTTPIDPRILKRYFKELKENIRRKLDQFEKGQFDVEVPNYFNIDYWFKPRVSKHLVIVKEEIWKIEDENIRDFFKVAFSETVRYVSNTRNSEHKLDRIPKEKLKDWNPDVYETFVKYAERNILQMAEFYNIAKDKTAFAKPMYHNVLEKADIEGVDLILTSPPYGDSKTTVAYGQFSRLSLQWMDFDYKLIRAIDKIALGGKPAKSLKHSIPSEKLDKVIHLIAEKDEKRAREVLSYFIDFYKASQNFDELLNEGGYVVFVVANRTVKGVRIPTDEIYVEIFESFGYEHEVTYVRAIPNKRMPHRVSPSNKKGETVETMAEENIVVLHKS</a:t>
            </a:r>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21</a:t>
            </a:fld>
            <a:endParaRPr lang="ko-KR" altLang="en-US"/>
          </a:p>
        </p:txBody>
      </p:sp>
    </p:spTree>
    <p:extLst>
      <p:ext uri="{BB962C8B-B14F-4D97-AF65-F5344CB8AC3E}">
        <p14:creationId xmlns:p14="http://schemas.microsoft.com/office/powerpoint/2010/main" val="14865864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DE30-B63A-437F-7325-4977A53DEC2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C4DC236-AFF9-7460-258C-1BA0C3E37A3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EEA871F-15EB-CBC7-C6DC-8B89DE6A48CA}"/>
              </a:ext>
            </a:extLst>
          </p:cNvPr>
          <p:cNvSpPr>
            <a:spLocks noGrp="1"/>
          </p:cNvSpPr>
          <p:nvPr>
            <p:ph type="body" idx="1"/>
          </p:nvPr>
        </p:nvSpPr>
        <p:spPr/>
        <p:txBody>
          <a:bodyPr/>
          <a:lstStyle/>
          <a:p>
            <a:pPr fontAlgn="base"/>
            <a:r>
              <a:rPr lang="en-US" altLang="ko-KR" sz="1200" b="0" i="0" kern="1200" dirty="0" err="1">
                <a:solidFill>
                  <a:schemeClr val="tx1"/>
                </a:solidFill>
                <a:effectLst/>
                <a:latin typeface="+mn-lt"/>
                <a:ea typeface="+mn-ea"/>
                <a:cs typeface="+mn-cs"/>
              </a:rPr>
              <a:t>Colab</a:t>
            </a:r>
            <a:r>
              <a:rPr lang="ko-KR" altLang="en-US" sz="1200" b="0" i="0" kern="1200" dirty="0">
                <a:solidFill>
                  <a:schemeClr val="tx1"/>
                </a:solidFill>
                <a:effectLst/>
                <a:latin typeface="+mn-lt"/>
                <a:ea typeface="+mn-ea"/>
                <a:cs typeface="+mn-cs"/>
              </a:rPr>
              <a:t>이 </a:t>
            </a:r>
            <a:r>
              <a:rPr lang="en-US" altLang="ko-KR" sz="1200" b="0" i="0" kern="1200" dirty="0">
                <a:solidFill>
                  <a:schemeClr val="tx1"/>
                </a:solidFill>
                <a:effectLst/>
                <a:latin typeface="+mn-lt"/>
                <a:ea typeface="+mn-ea"/>
                <a:cs typeface="+mn-cs"/>
              </a:rPr>
              <a:t>non available</a:t>
            </a:r>
            <a:r>
              <a:rPr lang="ko-KR" altLang="en-US" sz="1200" b="0" i="0" kern="1200" dirty="0">
                <a:solidFill>
                  <a:schemeClr val="tx1"/>
                </a:solidFill>
                <a:effectLst/>
                <a:latin typeface="+mn-lt"/>
                <a:ea typeface="+mn-ea"/>
                <a:cs typeface="+mn-cs"/>
              </a:rPr>
              <a:t>이라서 블로그에서 찾음</a:t>
            </a:r>
            <a:endParaRPr lang="en-US" altLang="ko-KR" sz="1200" b="0" i="0" kern="1200" dirty="0">
              <a:solidFill>
                <a:schemeClr val="tx1"/>
              </a:solidFill>
              <a:effectLst/>
              <a:latin typeface="+mn-lt"/>
              <a:ea typeface="+mn-ea"/>
              <a:cs typeface="+mn-cs"/>
            </a:endParaRPr>
          </a:p>
          <a:p>
            <a:pPr fontAlgn="base"/>
            <a:r>
              <a:rPr lang="en-US" altLang="ko-KR" sz="1200" b="0" i="0" kern="1200" dirty="0" err="1">
                <a:solidFill>
                  <a:schemeClr val="tx1"/>
                </a:solidFill>
                <a:effectLst/>
                <a:latin typeface="+mn-lt"/>
                <a:ea typeface="+mn-ea"/>
                <a:cs typeface="+mn-cs"/>
              </a:rPr>
              <a:t>PspGI</a:t>
            </a:r>
            <a:r>
              <a:rPr lang="en-US" altLang="ko-KR" sz="1200" b="0" i="0" kern="1200" dirty="0">
                <a:solidFill>
                  <a:schemeClr val="tx1"/>
                </a:solidFill>
                <a:effectLst/>
                <a:latin typeface="+mn-lt"/>
                <a:ea typeface="+mn-ea"/>
                <a:cs typeface="+mn-cs"/>
              </a:rPr>
              <a:t> methyltransferase</a:t>
            </a:r>
            <a:r>
              <a:rPr lang="en-US" altLang="ko-KR" sz="1200" b="1"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는 구조는 모르고 서열만 알려진 단백질이다 </a:t>
            </a:r>
            <a:endParaRPr lang="en-US" altLang="ko-KR" sz="1200" b="0" i="0" kern="1200" dirty="0">
              <a:solidFill>
                <a:schemeClr val="tx1"/>
              </a:solidFill>
              <a:effectLst/>
              <a:latin typeface="+mn-lt"/>
              <a:ea typeface="+mn-ea"/>
              <a:cs typeface="+mn-cs"/>
            </a:endParaRPr>
          </a:p>
          <a:p>
            <a:pPr fontAlgn="base"/>
            <a:r>
              <a:rPr lang="en-US" altLang="ko-KR" dirty="0" err="1"/>
              <a:t>Uniprot</a:t>
            </a:r>
            <a:r>
              <a:rPr lang="ko-KR" altLang="en-US" dirty="0"/>
              <a:t>에서 서열 </a:t>
            </a:r>
            <a:r>
              <a:rPr lang="en-US" altLang="ko-KR" dirty="0"/>
              <a:t>(</a:t>
            </a:r>
            <a:r>
              <a:rPr lang="en-US" altLang="ko-KR" dirty="0" err="1"/>
              <a:t>Fasta</a:t>
            </a:r>
            <a:r>
              <a:rPr lang="en-US" altLang="ko-KR" dirty="0"/>
              <a:t>)</a:t>
            </a:r>
            <a:r>
              <a:rPr lang="ko-KR" altLang="en-US" dirty="0"/>
              <a:t> 찾아 </a:t>
            </a:r>
            <a:r>
              <a:rPr lang="en-US" altLang="ko-KR" dirty="0" err="1"/>
              <a:t>Alphafold</a:t>
            </a:r>
            <a:r>
              <a:rPr lang="ko-KR" altLang="en-US" dirty="0"/>
              <a:t>에 넣기 </a:t>
            </a:r>
            <a:r>
              <a:rPr lang="en-US" altLang="ko-KR" dirty="0"/>
              <a:t>-&gt; </a:t>
            </a:r>
            <a:r>
              <a:rPr lang="ko-KR" altLang="en-US" dirty="0"/>
              <a:t>데이터베이스 기반 검색 </a:t>
            </a:r>
            <a:r>
              <a:rPr lang="en-US" altLang="ko-KR" dirty="0"/>
              <a:t>(</a:t>
            </a:r>
            <a:r>
              <a:rPr lang="en-US" altLang="ko-KR" dirty="0" err="1"/>
              <a:t>colab</a:t>
            </a:r>
            <a:r>
              <a:rPr lang="en-US" altLang="ko-KR" dirty="0"/>
              <a:t> </a:t>
            </a:r>
            <a:r>
              <a:rPr lang="ko-KR" altLang="en-US" dirty="0"/>
              <a:t>환경에서 약 </a:t>
            </a:r>
            <a:r>
              <a:rPr lang="en-US" altLang="ko-KR" dirty="0"/>
              <a:t>50</a:t>
            </a:r>
            <a:r>
              <a:rPr lang="ko-KR" altLang="en-US" dirty="0"/>
              <a:t>분 소요</a:t>
            </a:r>
            <a:r>
              <a:rPr lang="en-US" altLang="ko-KR" dirty="0"/>
              <a:t>) -&gt; </a:t>
            </a:r>
            <a:r>
              <a:rPr lang="ko-KR" altLang="en-US" dirty="0"/>
              <a:t>예측하는 데 </a:t>
            </a:r>
            <a:r>
              <a:rPr lang="en-US" altLang="ko-KR" dirty="0"/>
              <a:t>1</a:t>
            </a:r>
            <a:r>
              <a:rPr lang="ko-KR" altLang="en-US" dirty="0"/>
              <a:t>시간 걸림</a:t>
            </a:r>
            <a:endParaRPr lang="en-US" altLang="ko-KR" dirty="0"/>
          </a:p>
          <a:p>
            <a:pPr fontAlgn="base"/>
            <a:endParaRPr lang="en-US" altLang="ko-KR" dirty="0"/>
          </a:p>
          <a:p>
            <a:pPr fontAlgn="base"/>
            <a:r>
              <a:rPr lang="en-US" altLang="ko-KR" sz="1200" b="0" i="0" kern="1200" dirty="0">
                <a:solidFill>
                  <a:schemeClr val="tx1"/>
                </a:solidFill>
                <a:effectLst/>
                <a:latin typeface="+mn-lt"/>
                <a:ea typeface="+mn-ea"/>
                <a:cs typeface="+mn-cs"/>
              </a:rPr>
              <a:t>IDDT score</a:t>
            </a:r>
            <a:r>
              <a:rPr lang="ko-KR" altLang="en-US" sz="1200" b="0" i="0" kern="1200" dirty="0">
                <a:solidFill>
                  <a:schemeClr val="tx1"/>
                </a:solidFill>
                <a:effectLst/>
                <a:latin typeface="+mn-lt"/>
                <a:ea typeface="+mn-ea"/>
                <a:cs typeface="+mn-cs"/>
              </a:rPr>
              <a:t>는 </a:t>
            </a:r>
            <a:r>
              <a:rPr lang="en-US" altLang="ko-KR" sz="1200" b="0" i="0" kern="1200" dirty="0">
                <a:solidFill>
                  <a:schemeClr val="tx1"/>
                </a:solidFill>
                <a:effectLst/>
                <a:latin typeface="+mn-lt"/>
                <a:ea typeface="+mn-ea"/>
                <a:cs typeface="+mn-cs"/>
              </a:rPr>
              <a:t>B-factor</a:t>
            </a:r>
            <a:r>
              <a:rPr lang="ko-KR" altLang="en-US" sz="1200" b="0" i="0" kern="1200" dirty="0">
                <a:solidFill>
                  <a:schemeClr val="tx1"/>
                </a:solidFill>
                <a:effectLst/>
                <a:latin typeface="+mn-lt"/>
                <a:ea typeface="+mn-ea"/>
                <a:cs typeface="+mn-cs"/>
              </a:rPr>
              <a:t>가 쓰인 </a:t>
            </a:r>
            <a:r>
              <a:rPr lang="en-US" altLang="ko-KR" sz="1200" b="0" i="0" kern="1200" dirty="0">
                <a:solidFill>
                  <a:schemeClr val="tx1"/>
                </a:solidFill>
                <a:effectLst/>
                <a:latin typeface="+mn-lt"/>
                <a:ea typeface="+mn-ea"/>
                <a:cs typeface="+mn-cs"/>
              </a:rPr>
              <a:t>column</a:t>
            </a:r>
            <a:r>
              <a:rPr lang="ko-KR" altLang="en-US" sz="1200" b="0" i="0" kern="1200" dirty="0">
                <a:solidFill>
                  <a:schemeClr val="tx1"/>
                </a:solidFill>
                <a:effectLst/>
                <a:latin typeface="+mn-lt"/>
                <a:ea typeface="+mn-ea"/>
                <a:cs typeface="+mn-cs"/>
              </a:rPr>
              <a:t>에 </a:t>
            </a:r>
            <a:r>
              <a:rPr lang="ko-KR" altLang="en-US" sz="1200" b="0" i="0" kern="1200" dirty="0" err="1">
                <a:solidFill>
                  <a:schemeClr val="tx1"/>
                </a:solidFill>
                <a:effectLst/>
                <a:latin typeface="+mn-lt"/>
                <a:ea typeface="+mn-ea"/>
                <a:cs typeface="+mn-cs"/>
              </a:rPr>
              <a:t>쓰여있기</a:t>
            </a:r>
            <a:r>
              <a:rPr lang="ko-KR" altLang="en-US" sz="1200" b="0" i="0" kern="1200" dirty="0">
                <a:solidFill>
                  <a:schemeClr val="tx1"/>
                </a:solidFill>
                <a:effectLst/>
                <a:latin typeface="+mn-lt"/>
                <a:ea typeface="+mn-ea"/>
                <a:cs typeface="+mn-cs"/>
              </a:rPr>
              <a:t> 때문에 </a:t>
            </a:r>
            <a:r>
              <a:rPr lang="en-US" altLang="ko-KR" sz="1200" b="0" i="0" kern="1200" dirty="0">
                <a:solidFill>
                  <a:schemeClr val="tx1"/>
                </a:solidFill>
                <a:effectLst/>
                <a:latin typeface="+mn-lt"/>
                <a:ea typeface="+mn-ea"/>
                <a:cs typeface="+mn-cs"/>
              </a:rPr>
              <a:t>B-factor</a:t>
            </a:r>
            <a:r>
              <a:rPr lang="ko-KR" altLang="en-US" sz="1200" b="0" i="0" kern="1200" dirty="0">
                <a:solidFill>
                  <a:schemeClr val="tx1"/>
                </a:solidFill>
                <a:effectLst/>
                <a:latin typeface="+mn-lt"/>
                <a:ea typeface="+mn-ea"/>
                <a:cs typeface="+mn-cs"/>
              </a:rPr>
              <a:t>를 </a:t>
            </a:r>
            <a:r>
              <a:rPr lang="ko-KR" altLang="en-US" sz="1200" b="0" i="0" kern="1200" dirty="0" err="1">
                <a:solidFill>
                  <a:schemeClr val="tx1"/>
                </a:solidFill>
                <a:effectLst/>
                <a:latin typeface="+mn-lt"/>
                <a:ea typeface="+mn-ea"/>
                <a:cs typeface="+mn-cs"/>
              </a:rPr>
              <a:t>시각화하면</a:t>
            </a:r>
            <a:r>
              <a:rPr lang="ko-KR" altLang="en-US" sz="1200" b="0" i="0" kern="1200" dirty="0">
                <a:solidFill>
                  <a:schemeClr val="tx1"/>
                </a:solidFill>
                <a:effectLst/>
                <a:latin typeface="+mn-lt"/>
                <a:ea typeface="+mn-ea"/>
                <a:cs typeface="+mn-cs"/>
              </a:rPr>
              <a:t> 구조의 불확실성을 볼 수 있다 </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빨간색은 </a:t>
            </a:r>
            <a:r>
              <a:rPr lang="en-US" altLang="ko-KR" sz="1200" b="0" i="0" kern="1200" dirty="0">
                <a:solidFill>
                  <a:schemeClr val="tx1"/>
                </a:solidFill>
                <a:effectLst/>
                <a:latin typeface="+mn-lt"/>
                <a:ea typeface="+mn-ea"/>
                <a:cs typeface="+mn-cs"/>
              </a:rPr>
              <a:t>90% </a:t>
            </a:r>
            <a:r>
              <a:rPr lang="ko-KR" altLang="en-US" sz="1200" b="0" i="0" kern="1200" dirty="0">
                <a:solidFill>
                  <a:schemeClr val="tx1"/>
                </a:solidFill>
                <a:effectLst/>
                <a:latin typeface="+mn-lt"/>
                <a:ea typeface="+mn-ea"/>
                <a:cs typeface="+mn-cs"/>
              </a:rPr>
              <a:t>이상의 확실성을 갖는 구조이고</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파랑색에 가까울 수록 불확실한 구조라는 뜻</a:t>
            </a:r>
            <a:r>
              <a:rPr lang="en-US" altLang="ko-KR" sz="1200" b="0" i="0" kern="1200" dirty="0">
                <a:solidFill>
                  <a:schemeClr val="tx1"/>
                </a:solidFill>
                <a:effectLst/>
                <a:latin typeface="+mn-lt"/>
                <a:ea typeface="+mn-ea"/>
                <a:cs typeface="+mn-cs"/>
              </a:rPr>
              <a:t>)</a:t>
            </a:r>
            <a:endParaRPr lang="ko-KR" altLang="en-US" dirty="0"/>
          </a:p>
        </p:txBody>
      </p:sp>
      <p:sp>
        <p:nvSpPr>
          <p:cNvPr id="4" name="슬라이드 번호 개체 틀 3">
            <a:extLst>
              <a:ext uri="{FF2B5EF4-FFF2-40B4-BE49-F238E27FC236}">
                <a16:creationId xmlns:a16="http://schemas.microsoft.com/office/drawing/2014/main" id="{7A8E1680-2888-9DCA-5834-5A5DB043573B}"/>
              </a:ext>
            </a:extLst>
          </p:cNvPr>
          <p:cNvSpPr>
            <a:spLocks noGrp="1"/>
          </p:cNvSpPr>
          <p:nvPr>
            <p:ph type="sldNum" sz="quarter" idx="5"/>
          </p:nvPr>
        </p:nvSpPr>
        <p:spPr/>
        <p:txBody>
          <a:bodyPr/>
          <a:lstStyle/>
          <a:p>
            <a:fld id="{4EF7DCE0-779D-4395-A80B-A67310E5D275}" type="slidenum">
              <a:rPr lang="ko-KR" altLang="en-US" smtClean="0"/>
              <a:t>22</a:t>
            </a:fld>
            <a:endParaRPr lang="ko-KR" altLang="en-US"/>
          </a:p>
        </p:txBody>
      </p:sp>
    </p:spTree>
    <p:extLst>
      <p:ext uri="{BB962C8B-B14F-4D97-AF65-F5344CB8AC3E}">
        <p14:creationId xmlns:p14="http://schemas.microsoft.com/office/powerpoint/2010/main" val="1292171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27907-1B13-8D58-7574-D38447305C2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0F0A0A-E7DA-DBA1-E765-93AE79E6C2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3F7F145-4DF4-8B94-44F2-638A8C7CC9D2}"/>
              </a:ext>
            </a:extLst>
          </p:cNvPr>
          <p:cNvSpPr>
            <a:spLocks noGrp="1"/>
          </p:cNvSpPr>
          <p:nvPr>
            <p:ph type="body" idx="1"/>
          </p:nvPr>
        </p:nvSpPr>
        <p:spPr/>
        <p:txBody>
          <a:bodyPr/>
          <a:lstStyle/>
          <a:p>
            <a:pPr fontAlgn="base"/>
            <a:r>
              <a:rPr lang="ko-KR" altLang="en-US" dirty="0"/>
              <a:t>데이터베이스 설치 </a:t>
            </a:r>
            <a:r>
              <a:rPr lang="en-US" altLang="ko-KR" dirty="0"/>
              <a:t>15</a:t>
            </a:r>
            <a:r>
              <a:rPr lang="ko-KR" altLang="en-US" dirty="0"/>
              <a:t>분</a:t>
            </a:r>
            <a:r>
              <a:rPr lang="en-US" altLang="ko-KR" dirty="0"/>
              <a:t>, </a:t>
            </a:r>
            <a:r>
              <a:rPr lang="ko-KR" altLang="en-US" dirty="0"/>
              <a:t>계산 실행 약 </a:t>
            </a:r>
            <a:r>
              <a:rPr lang="en-US" altLang="ko-KR" dirty="0"/>
              <a:t>25</a:t>
            </a:r>
            <a:r>
              <a:rPr lang="ko-KR" altLang="en-US" dirty="0"/>
              <a:t>분 </a:t>
            </a:r>
            <a:r>
              <a:rPr lang="en-US" altLang="ko-KR" dirty="0"/>
              <a:t>(</a:t>
            </a:r>
            <a:r>
              <a:rPr lang="ko-KR" altLang="en-US" dirty="0"/>
              <a:t>확실히 빠름</a:t>
            </a:r>
            <a:r>
              <a:rPr lang="en-US" altLang="ko-KR" dirty="0"/>
              <a:t>!)</a:t>
            </a:r>
          </a:p>
          <a:p>
            <a:pPr fontAlgn="base"/>
            <a:r>
              <a:rPr lang="en-US" altLang="ko-KR" dirty="0"/>
              <a:t>+ </a:t>
            </a:r>
            <a:r>
              <a:rPr lang="ko-KR" altLang="en-US" dirty="0"/>
              <a:t>별도의 소프트웨어 </a:t>
            </a:r>
            <a:r>
              <a:rPr lang="en-US" altLang="ko-KR" dirty="0"/>
              <a:t>(</a:t>
            </a:r>
            <a:r>
              <a:rPr lang="ko-KR" altLang="en-US" dirty="0"/>
              <a:t>뷰어</a:t>
            </a:r>
            <a:r>
              <a:rPr lang="en-US" altLang="ko-KR" dirty="0"/>
              <a:t>) </a:t>
            </a:r>
            <a:r>
              <a:rPr lang="ko-KR" altLang="en-US" dirty="0"/>
              <a:t>사용 필요 없이 바로 </a:t>
            </a:r>
            <a:r>
              <a:rPr lang="en-US" altLang="ko-KR" dirty="0"/>
              <a:t>IDDT score</a:t>
            </a:r>
            <a:r>
              <a:rPr lang="ko-KR" altLang="en-US" dirty="0"/>
              <a:t>에 맞춰 결과를 보여 줌 </a:t>
            </a:r>
            <a:r>
              <a:rPr lang="en-US" altLang="ko-KR" dirty="0"/>
              <a:t>(visualize)</a:t>
            </a:r>
          </a:p>
          <a:p>
            <a:pPr fontAlgn="base"/>
            <a:r>
              <a:rPr lang="ko-KR" altLang="en-US" dirty="0"/>
              <a:t>근데 이번엔 앞에서 했던 것과 반대로</a:t>
            </a:r>
            <a:r>
              <a:rPr lang="en-US" altLang="ko-KR" dirty="0"/>
              <a:t>, </a:t>
            </a:r>
            <a:r>
              <a:rPr lang="ko-KR" altLang="en-US" dirty="0"/>
              <a:t>파란색에 가까울수록 확실한 것</a:t>
            </a:r>
            <a:endParaRPr lang="en-US" altLang="ko-KR" dirty="0"/>
          </a:p>
        </p:txBody>
      </p:sp>
      <p:sp>
        <p:nvSpPr>
          <p:cNvPr id="4" name="슬라이드 번호 개체 틀 3">
            <a:extLst>
              <a:ext uri="{FF2B5EF4-FFF2-40B4-BE49-F238E27FC236}">
                <a16:creationId xmlns:a16="http://schemas.microsoft.com/office/drawing/2014/main" id="{21CA6BE4-3EE7-E0C7-4A6E-4A0A4BDA72FD}"/>
              </a:ext>
            </a:extLst>
          </p:cNvPr>
          <p:cNvSpPr>
            <a:spLocks noGrp="1"/>
          </p:cNvSpPr>
          <p:nvPr>
            <p:ph type="sldNum" sz="quarter" idx="5"/>
          </p:nvPr>
        </p:nvSpPr>
        <p:spPr/>
        <p:txBody>
          <a:bodyPr/>
          <a:lstStyle/>
          <a:p>
            <a:fld id="{4EF7DCE0-779D-4395-A80B-A67310E5D275}" type="slidenum">
              <a:rPr lang="ko-KR" altLang="en-US" smtClean="0"/>
              <a:t>23</a:t>
            </a:fld>
            <a:endParaRPr lang="ko-KR" altLang="en-US"/>
          </a:p>
        </p:txBody>
      </p:sp>
    </p:spTree>
    <p:extLst>
      <p:ext uri="{BB962C8B-B14F-4D97-AF65-F5344CB8AC3E}">
        <p14:creationId xmlns:p14="http://schemas.microsoft.com/office/powerpoint/2010/main" val="562806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AF</a:t>
            </a:r>
            <a:r>
              <a:rPr lang="ko-KR" altLang="en-US" dirty="0"/>
              <a:t>와 </a:t>
            </a:r>
            <a:r>
              <a:rPr lang="en-US" altLang="ko-KR" dirty="0"/>
              <a:t>AF2 </a:t>
            </a:r>
            <a:r>
              <a:rPr lang="ko-KR" altLang="en-US" dirty="0"/>
              <a:t>가 각각 예측한 결과를 겹쳐 놓은 것</a:t>
            </a:r>
            <a:r>
              <a:rPr lang="en-US" altLang="ko-KR" dirty="0"/>
              <a:t>.</a:t>
            </a:r>
          </a:p>
          <a:p>
            <a:r>
              <a:rPr lang="en-US" altLang="ko-KR" dirty="0"/>
              <a:t>¼ </a:t>
            </a:r>
            <a:r>
              <a:rPr lang="ko-KR" altLang="en-US" dirty="0"/>
              <a:t>의 시간 동안</a:t>
            </a:r>
            <a:r>
              <a:rPr lang="en-US" altLang="ko-KR" dirty="0"/>
              <a:t>, </a:t>
            </a:r>
            <a:r>
              <a:rPr lang="ko-KR" altLang="en-US" dirty="0"/>
              <a:t>즉 약 </a:t>
            </a:r>
            <a:r>
              <a:rPr lang="en-US" altLang="ko-KR" dirty="0"/>
              <a:t>4</a:t>
            </a:r>
            <a:r>
              <a:rPr lang="ko-KR" altLang="en-US" dirty="0"/>
              <a:t>배 빠른 속도로 정확하게 예측함</a:t>
            </a:r>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24</a:t>
            </a:fld>
            <a:endParaRPr lang="ko-KR" altLang="en-US"/>
          </a:p>
        </p:txBody>
      </p:sp>
    </p:spTree>
    <p:extLst>
      <p:ext uri="{BB962C8B-B14F-4D97-AF65-F5344CB8AC3E}">
        <p14:creationId xmlns:p14="http://schemas.microsoft.com/office/powerpoint/2010/main" val="3245825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겨우 </a:t>
            </a:r>
            <a:r>
              <a:rPr lang="en-US" altLang="ko-KR" dirty="0"/>
              <a:t>4</a:t>
            </a:r>
            <a:r>
              <a:rPr lang="ko-KR" altLang="en-US" dirty="0" err="1"/>
              <a:t>분밖에</a:t>
            </a:r>
            <a:r>
              <a:rPr lang="ko-KR" altLang="en-US" dirty="0"/>
              <a:t> </a:t>
            </a:r>
            <a:r>
              <a:rPr lang="ko-KR" altLang="en-US" dirty="0" err="1"/>
              <a:t>안걸렸음</a:t>
            </a:r>
            <a:r>
              <a:rPr lang="ko-KR" altLang="en-US" dirty="0"/>
              <a:t> </a:t>
            </a:r>
            <a:r>
              <a:rPr lang="en-US" altLang="ko-KR" dirty="0"/>
              <a:t>(</a:t>
            </a:r>
            <a:r>
              <a:rPr lang="ko-KR" altLang="en-US" dirty="0"/>
              <a:t>심지어 이거 버스 안에서 돌렸음</a:t>
            </a:r>
            <a:r>
              <a:rPr lang="en-US" altLang="ko-KR" dirty="0"/>
              <a:t> – </a:t>
            </a:r>
            <a:r>
              <a:rPr lang="ko-KR" altLang="en-US" dirty="0"/>
              <a:t>당연함 구글임 돈 많음</a:t>
            </a:r>
            <a:r>
              <a:rPr lang="en-US" altLang="ko-KR" dirty="0"/>
              <a:t>)</a:t>
            </a:r>
          </a:p>
          <a:p>
            <a:r>
              <a:rPr lang="en-US" altLang="ko-KR" dirty="0" err="1"/>
              <a:t>pTM</a:t>
            </a:r>
            <a:r>
              <a:rPr lang="en-US" altLang="ko-KR" dirty="0"/>
              <a:t>: predicted template modeling</a:t>
            </a:r>
            <a:endParaRPr lang="ko-KR" altLang="en-US" dirty="0"/>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25</a:t>
            </a:fld>
            <a:endParaRPr lang="ko-KR" altLang="en-US"/>
          </a:p>
        </p:txBody>
      </p:sp>
    </p:spTree>
    <p:extLst>
      <p:ext uri="{BB962C8B-B14F-4D97-AF65-F5344CB8AC3E}">
        <p14:creationId xmlns:p14="http://schemas.microsoft.com/office/powerpoint/2010/main" val="398327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a:t>Future Directions and Further Study of AlphaFold3</a:t>
            </a:r>
          </a:p>
          <a:p>
            <a:r>
              <a:rPr lang="en-US" altLang="ko-KR" dirty="0"/>
              <a:t>AlphaFold3 (AF3) represents a transformational leap in biomolecular structure prediction. However, both the main text and supplementary sections of the literature highlight specific limitations and emerging directions for further research.</a:t>
            </a:r>
          </a:p>
          <a:p>
            <a:r>
              <a:rPr lang="en-US" altLang="ko-KR" b="1" dirty="0"/>
              <a:t>1. Dynamic and Multistate Modeling</a:t>
            </a:r>
          </a:p>
          <a:p>
            <a:r>
              <a:rPr lang="en-US" altLang="ko-KR" b="1" dirty="0"/>
              <a:t>Limitation:</a:t>
            </a:r>
            <a:r>
              <a:rPr lang="en-US" altLang="ko-KR" dirty="0"/>
              <a:t> AF3, like its predecessors, predicts </a:t>
            </a:r>
            <a:r>
              <a:rPr lang="en-US" altLang="ko-KR" i="1" dirty="0"/>
              <a:t>static</a:t>
            </a:r>
            <a:r>
              <a:rPr lang="en-US" altLang="ko-KR" dirty="0"/>
              <a:t> structures akin to a single snapshot. It does not model the full range of conformational states that biomolecules adopt in solution or across functional cycles.</a:t>
            </a:r>
          </a:p>
          <a:p>
            <a:r>
              <a:rPr lang="en-US" altLang="ko-KR" b="1" dirty="0"/>
              <a:t>Future Study:</a:t>
            </a:r>
            <a:r>
              <a:rPr lang="en-US" altLang="ko-KR" dirty="0"/>
              <a:t> Developing methods to predict </a:t>
            </a:r>
            <a:r>
              <a:rPr lang="en-US" altLang="ko-KR" i="1" dirty="0"/>
              <a:t>ensembles</a:t>
            </a:r>
            <a:r>
              <a:rPr lang="en-US" altLang="ko-KR" dirty="0"/>
              <a:t> of conformations or to sample </a:t>
            </a:r>
            <a:r>
              <a:rPr lang="en-US" altLang="ko-KR" i="1" dirty="0"/>
              <a:t>dynamic transitions</a:t>
            </a:r>
            <a:r>
              <a:rPr lang="en-US" altLang="ko-KR" dirty="0"/>
              <a:t> (such as allostery or multi-state proteins). Integrating approaches that can capture flexibility and different biologically relevant conformations is a top research priority</a:t>
            </a:r>
          </a:p>
          <a:p>
            <a:r>
              <a:rPr lang="en-US" altLang="ko-KR" b="1" dirty="0"/>
              <a:t>2. Stereochemistry and Model Validity</a:t>
            </a:r>
          </a:p>
          <a:p>
            <a:r>
              <a:rPr lang="en-US" altLang="ko-KR" b="1" dirty="0"/>
              <a:t>Limitation:</a:t>
            </a:r>
            <a:r>
              <a:rPr lang="en-US" altLang="ko-KR" dirty="0"/>
              <a:t> While improved, AF3 occasionally produces structures with incorrect chirality or atomic clashes, especially in large or highly complex assemblies.</a:t>
            </a:r>
          </a:p>
          <a:p>
            <a:r>
              <a:rPr lang="en-US" altLang="ko-KR" b="1" dirty="0"/>
              <a:t>Future Study:</a:t>
            </a:r>
            <a:r>
              <a:rPr lang="en-US" altLang="ko-KR" dirty="0"/>
              <a:t> Advancing stereochemical validation within generative models, and further refining output to consistently enforce physical and chemical plausibility in all conditions, particularly for polymers and large complexes</a:t>
            </a:r>
          </a:p>
          <a:p>
            <a:r>
              <a:rPr lang="en-US" altLang="ko-KR" b="1" dirty="0"/>
              <a:t>3. Reducing Hallucinations and Improving Disordered Region Prediction</a:t>
            </a:r>
          </a:p>
          <a:p>
            <a:r>
              <a:rPr lang="en-US" altLang="ko-KR" b="1" dirty="0"/>
              <a:t>Limitation:</a:t>
            </a:r>
            <a:r>
              <a:rPr lang="en-US" altLang="ko-KR" dirty="0"/>
              <a:t> Diffusion-based generative models like AF3 are susceptible to </a:t>
            </a:r>
            <a:r>
              <a:rPr lang="en-US" altLang="ko-KR" i="1" dirty="0"/>
              <a:t>hallucinating</a:t>
            </a:r>
            <a:r>
              <a:rPr lang="en-US" altLang="ko-KR" dirty="0"/>
              <a:t> plausible but physically inaccurate structures, particularly in intrinsically disordered regions.</a:t>
            </a:r>
          </a:p>
          <a:p>
            <a:r>
              <a:rPr lang="en-US" altLang="ko-KR" b="1" dirty="0"/>
              <a:t>Future Study:</a:t>
            </a:r>
            <a:r>
              <a:rPr lang="en-US" altLang="ko-KR" dirty="0"/>
              <a:t> Enhanced techniques to distinguish between structured and disordered regions, possibly with improved training strategies, data curation, or confidence models that counteract spurious structure generation</a:t>
            </a:r>
          </a:p>
          <a:p>
            <a:r>
              <a:rPr lang="en-US" altLang="ko-KR" b="1" dirty="0"/>
              <a:t>4. Sampling and Computational Efficiency</a:t>
            </a:r>
          </a:p>
          <a:p>
            <a:r>
              <a:rPr lang="en-US" altLang="ko-KR" b="1" dirty="0"/>
              <a:t>Limitation:</a:t>
            </a:r>
            <a:r>
              <a:rPr lang="en-US" altLang="ko-KR" dirty="0"/>
              <a:t> For challenging complexes (notably antibody–antigen interactions), AF3 may require sampling thousands of model “seeds” to obtain highly accurate predictions, increasing computational overhead.</a:t>
            </a:r>
          </a:p>
          <a:p>
            <a:r>
              <a:rPr lang="en-US" altLang="ko-KR" b="1" dirty="0"/>
              <a:t>Future Study:</a:t>
            </a:r>
            <a:r>
              <a:rPr lang="en-US" altLang="ko-KR" dirty="0"/>
              <a:t> Research into smarter or more selective sampling strategies, active learning, and fast inference techniques to reduce computational cost while maintaining or improving predictive accuracy</a:t>
            </a:r>
          </a:p>
          <a:p>
            <a:r>
              <a:rPr lang="en-US" altLang="ko-KR" b="1" dirty="0"/>
              <a:t>5. Broader Chemical Space and Modification Types</a:t>
            </a:r>
          </a:p>
          <a:p>
            <a:r>
              <a:rPr lang="en-US" altLang="ko-KR" b="1" dirty="0"/>
              <a:t>Limitation:</a:t>
            </a:r>
            <a:r>
              <a:rPr lang="en-US" altLang="ko-KR" dirty="0"/>
              <a:t> AF3 is much broader than prior models, but its coverage of </a:t>
            </a:r>
            <a:r>
              <a:rPr lang="en-US" altLang="ko-KR" i="1" dirty="0"/>
              <a:t>rare or novel modifications</a:t>
            </a:r>
            <a:r>
              <a:rPr lang="en-US" altLang="ko-KR" dirty="0"/>
              <a:t>, certain types of bonded ligands, and very large complexes still faces accuracy limits.</a:t>
            </a:r>
          </a:p>
          <a:p>
            <a:r>
              <a:rPr lang="en-US" altLang="ko-KR" b="1" dirty="0"/>
              <a:t>Future Study:</a:t>
            </a:r>
            <a:r>
              <a:rPr lang="en-US" altLang="ko-KR" dirty="0"/>
              <a:t> Expanding model capacity and data to handle more exotic chemical functionalities, rare covalent modifications, and hybrid biomolecular complexes beyond current PDB coverage. Iterative retraining with enrichments from experimental advances (e.g., cryo-EM, tomographic reconstructions) is anticipated</a:t>
            </a:r>
          </a:p>
          <a:p>
            <a:r>
              <a:rPr lang="en-US" altLang="ko-KR" b="1" dirty="0"/>
              <a:t>6. Integration with Experimental Data</a:t>
            </a:r>
          </a:p>
          <a:p>
            <a:r>
              <a:rPr lang="en-US" altLang="ko-KR" b="1" dirty="0"/>
              <a:t>Future Study:</a:t>
            </a:r>
            <a:r>
              <a:rPr lang="en-US" altLang="ko-KR" dirty="0"/>
              <a:t> Combining AF3 predictions directly with experimental approaches (e.g., guiding or interpreting cryo-EM, NMR, or cross-linking/mass-spectrometry data) to improve accuracy, completeness, and practical value for biology and drug discovery</a:t>
            </a:r>
          </a:p>
          <a:p>
            <a:r>
              <a:rPr lang="en-US" altLang="ko-KR" b="1" dirty="0"/>
              <a:t>7. Expanding to Cellular and Systems-Level Modeling</a:t>
            </a:r>
          </a:p>
          <a:p>
            <a:r>
              <a:rPr lang="en-US" altLang="ko-KR" b="1" dirty="0"/>
              <a:t>Long-term Vision:</a:t>
            </a:r>
            <a:r>
              <a:rPr lang="en-US" altLang="ko-KR" dirty="0"/>
              <a:t> The ultimate ambition is to </a:t>
            </a:r>
            <a:r>
              <a:rPr lang="en-US" altLang="ko-KR" i="1" dirty="0"/>
              <a:t>model and simulate</a:t>
            </a:r>
            <a:r>
              <a:rPr lang="en-US" altLang="ko-KR" dirty="0"/>
              <a:t> entire cellular environments at atomic resolution, leveraging improvements in both machine learning and experimental structural genomics. The development of bottom-up modeling of whole organelles or cells is seen as a key, albeit distant, milestone</a:t>
            </a:r>
          </a:p>
          <a:p>
            <a:r>
              <a:rPr lang="en-US" altLang="ko-KR" b="1" dirty="0"/>
              <a:t>8. Open Research Technical Directions</a:t>
            </a:r>
          </a:p>
          <a:p>
            <a:r>
              <a:rPr lang="en-US" altLang="ko-KR" dirty="0"/>
              <a:t>Enhanced calibration and interpretability of confidence metrics for new types of molecular complexes.</a:t>
            </a:r>
          </a:p>
          <a:p>
            <a:r>
              <a:rPr lang="en-US" altLang="ko-KR" dirty="0"/>
              <a:t>Rapid adaptation to newly deposited protein, RNA and complex structure data, requiring continual updating and retraining against evolving databases.</a:t>
            </a:r>
          </a:p>
          <a:p>
            <a:r>
              <a:rPr lang="en-US" altLang="ko-KR" dirty="0"/>
              <a:t>Cross-entity evolutionary features or self-supervised learning to capture relationships beyond sequence homology</a:t>
            </a:r>
          </a:p>
        </p:txBody>
      </p:sp>
      <p:sp>
        <p:nvSpPr>
          <p:cNvPr id="4" name="슬라이드 번호 개체 틀 3"/>
          <p:cNvSpPr>
            <a:spLocks noGrp="1"/>
          </p:cNvSpPr>
          <p:nvPr>
            <p:ph type="sldNum" sz="quarter" idx="5"/>
          </p:nvPr>
        </p:nvSpPr>
        <p:spPr/>
        <p:txBody>
          <a:bodyPr/>
          <a:lstStyle/>
          <a:p>
            <a:fld id="{4EF7DCE0-779D-4395-A80B-A67310E5D275}" type="slidenum">
              <a:rPr lang="ko-KR" altLang="en-US" smtClean="0"/>
              <a:t>26</a:t>
            </a:fld>
            <a:endParaRPr lang="ko-KR" altLang="en-US"/>
          </a:p>
        </p:txBody>
      </p:sp>
    </p:spTree>
    <p:extLst>
      <p:ext uri="{BB962C8B-B14F-4D97-AF65-F5344CB8AC3E}">
        <p14:creationId xmlns:p14="http://schemas.microsoft.com/office/powerpoint/2010/main" val="3719322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A0F05DC-8FA4-39F6-1936-1DE6C70768B8}"/>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C304C289-D37A-CD3D-4595-75F71004F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9ED021A5-35D0-C395-9D5B-850940F2A5C4}"/>
              </a:ext>
            </a:extLst>
          </p:cNvPr>
          <p:cNvSpPr>
            <a:spLocks noGrp="1"/>
          </p:cNvSpPr>
          <p:nvPr>
            <p:ph type="dt" sz="half" idx="10"/>
          </p:nvPr>
        </p:nvSpPr>
        <p:spPr/>
        <p:txBody>
          <a:bodyPr/>
          <a:lstStyle/>
          <a:p>
            <a:fld id="{E3BC0C7F-146B-441B-9AB8-0E48E7D15C93}" type="datetime1">
              <a:rPr lang="ko-KR" altLang="en-US" smtClean="0"/>
              <a:t>2025-07-18</a:t>
            </a:fld>
            <a:endParaRPr lang="ko-KR" altLang="en-US"/>
          </a:p>
        </p:txBody>
      </p:sp>
      <p:sp>
        <p:nvSpPr>
          <p:cNvPr id="5" name="바닥글 개체 틀 4">
            <a:extLst>
              <a:ext uri="{FF2B5EF4-FFF2-40B4-BE49-F238E27FC236}">
                <a16:creationId xmlns:a16="http://schemas.microsoft.com/office/drawing/2014/main" id="{CE7D46EF-2B1E-079B-01B6-D44542BF266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2CB62-3479-8C8A-87F2-0F75D5DE8144}"/>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spTree>
    <p:extLst>
      <p:ext uri="{BB962C8B-B14F-4D97-AF65-F5344CB8AC3E}">
        <p14:creationId xmlns:p14="http://schemas.microsoft.com/office/powerpoint/2010/main" val="3731674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C2A56DA-5D32-E1B0-E50E-03283E3000F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CD9DBD1-E3F4-2D29-7B4C-E4B4DDCAA1FC}"/>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521BC2F-FBD2-CB65-70DD-4809F92072EE}"/>
              </a:ext>
            </a:extLst>
          </p:cNvPr>
          <p:cNvSpPr>
            <a:spLocks noGrp="1"/>
          </p:cNvSpPr>
          <p:nvPr>
            <p:ph type="dt" sz="half" idx="10"/>
          </p:nvPr>
        </p:nvSpPr>
        <p:spPr/>
        <p:txBody>
          <a:bodyPr/>
          <a:lstStyle/>
          <a:p>
            <a:fld id="{C24BF04B-436A-4C40-B9D2-375636CA903F}" type="datetime1">
              <a:rPr lang="ko-KR" altLang="en-US" smtClean="0"/>
              <a:t>2025-07-18</a:t>
            </a:fld>
            <a:endParaRPr lang="ko-KR" altLang="en-US"/>
          </a:p>
        </p:txBody>
      </p:sp>
      <p:sp>
        <p:nvSpPr>
          <p:cNvPr id="5" name="바닥글 개체 틀 4">
            <a:extLst>
              <a:ext uri="{FF2B5EF4-FFF2-40B4-BE49-F238E27FC236}">
                <a16:creationId xmlns:a16="http://schemas.microsoft.com/office/drawing/2014/main" id="{3F663014-C6CC-3B07-B589-AD7FF9D48F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49EEFEF-C89C-6238-09BC-A89268168B79}"/>
              </a:ext>
            </a:extLst>
          </p:cNvPr>
          <p:cNvSpPr>
            <a:spLocks noGrp="1"/>
          </p:cNvSpPr>
          <p:nvPr>
            <p:ph type="sldNum" sz="quarter" idx="12"/>
          </p:nvPr>
        </p:nvSpPr>
        <p:spPr>
          <a:xfrm>
            <a:off x="9244641" y="6545461"/>
            <a:ext cx="2743200" cy="365125"/>
          </a:xfrm>
        </p:spPr>
        <p:txBody>
          <a:bodyPr/>
          <a:lstStyle/>
          <a:p>
            <a:fld id="{62699DC3-304B-48EC-B099-F95AF3D9844A}" type="slidenum">
              <a:rPr lang="ko-KR" altLang="en-US" smtClean="0"/>
              <a:pPr/>
              <a:t>‹#›</a:t>
            </a:fld>
            <a:r>
              <a:rPr lang="en-US" altLang="ko-KR" dirty="0"/>
              <a:t>/28</a:t>
            </a:r>
            <a:endParaRPr lang="ko-KR" altLang="en-US" dirty="0"/>
          </a:p>
        </p:txBody>
      </p:sp>
      <p:cxnSp>
        <p:nvCxnSpPr>
          <p:cNvPr id="7" name="직선 연결선 6">
            <a:extLst>
              <a:ext uri="{FF2B5EF4-FFF2-40B4-BE49-F238E27FC236}">
                <a16:creationId xmlns:a16="http://schemas.microsoft.com/office/drawing/2014/main" id="{057756A7-A8D7-8DBA-1D05-70AC51E4E8EB}"/>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8" name="직선 연결선 7">
            <a:extLst>
              <a:ext uri="{FF2B5EF4-FFF2-40B4-BE49-F238E27FC236}">
                <a16:creationId xmlns:a16="http://schemas.microsoft.com/office/drawing/2014/main" id="{217AE6FB-CCA0-9CC3-A51E-5E9B1E824996}"/>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88847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4F2F4B-6CC2-001C-1512-404207BFE941}"/>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FCCE52A-8F77-A8F1-BE02-C071B7F05C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6DBAE52-1752-40B5-FCF9-F1ADBDE6161D}"/>
              </a:ext>
            </a:extLst>
          </p:cNvPr>
          <p:cNvSpPr>
            <a:spLocks noGrp="1"/>
          </p:cNvSpPr>
          <p:nvPr>
            <p:ph type="dt" sz="half" idx="10"/>
          </p:nvPr>
        </p:nvSpPr>
        <p:spPr/>
        <p:txBody>
          <a:bodyPr/>
          <a:lstStyle/>
          <a:p>
            <a:fld id="{3953176D-CF31-4E1E-824E-0A1196974CD7}" type="datetime1">
              <a:rPr lang="ko-KR" altLang="en-US" smtClean="0"/>
              <a:t>2025-07-18</a:t>
            </a:fld>
            <a:endParaRPr lang="ko-KR" altLang="en-US"/>
          </a:p>
        </p:txBody>
      </p:sp>
      <p:sp>
        <p:nvSpPr>
          <p:cNvPr id="5" name="바닥글 개체 틀 4">
            <a:extLst>
              <a:ext uri="{FF2B5EF4-FFF2-40B4-BE49-F238E27FC236}">
                <a16:creationId xmlns:a16="http://schemas.microsoft.com/office/drawing/2014/main" id="{E66D7A69-2F06-ACDD-5E1B-B749F63FDE4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650EBDA-3211-790F-94CE-1DA46AA14B6E}"/>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spTree>
    <p:extLst>
      <p:ext uri="{BB962C8B-B14F-4D97-AF65-F5344CB8AC3E}">
        <p14:creationId xmlns:p14="http://schemas.microsoft.com/office/powerpoint/2010/main" val="970731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0A5050-017F-8684-C586-90D2D27A80F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72F333F-31E7-6744-3858-E27F16F016BA}"/>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A7D5CDB8-6A09-A94F-14A8-BA6F9CDB0E6B}"/>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5DB000F-9B52-3B02-1204-EE948AFA14A5}"/>
              </a:ext>
            </a:extLst>
          </p:cNvPr>
          <p:cNvSpPr>
            <a:spLocks noGrp="1"/>
          </p:cNvSpPr>
          <p:nvPr>
            <p:ph type="dt" sz="half" idx="10"/>
          </p:nvPr>
        </p:nvSpPr>
        <p:spPr/>
        <p:txBody>
          <a:bodyPr/>
          <a:lstStyle/>
          <a:p>
            <a:fld id="{B21948F2-C969-42AB-8FA8-23D3CB173517}" type="datetime1">
              <a:rPr lang="ko-KR" altLang="en-US" smtClean="0"/>
              <a:t>2025-07-18</a:t>
            </a:fld>
            <a:endParaRPr lang="ko-KR" altLang="en-US"/>
          </a:p>
        </p:txBody>
      </p:sp>
      <p:sp>
        <p:nvSpPr>
          <p:cNvPr id="6" name="바닥글 개체 틀 5">
            <a:extLst>
              <a:ext uri="{FF2B5EF4-FFF2-40B4-BE49-F238E27FC236}">
                <a16:creationId xmlns:a16="http://schemas.microsoft.com/office/drawing/2014/main" id="{5412A441-9368-F629-610B-39338449391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3045739-9C13-A961-1A87-7213D100529F}"/>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cxnSp>
        <p:nvCxnSpPr>
          <p:cNvPr id="8" name="직선 연결선 7">
            <a:extLst>
              <a:ext uri="{FF2B5EF4-FFF2-40B4-BE49-F238E27FC236}">
                <a16:creationId xmlns:a16="http://schemas.microsoft.com/office/drawing/2014/main" id="{4670845A-6B1A-E07A-93E5-5E96FE7F2419}"/>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9" name="직선 연결선 8">
            <a:extLst>
              <a:ext uri="{FF2B5EF4-FFF2-40B4-BE49-F238E27FC236}">
                <a16:creationId xmlns:a16="http://schemas.microsoft.com/office/drawing/2014/main" id="{52BD88A7-2449-95B8-7019-73970331029E}"/>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44628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DCDB33-5724-780A-5AEC-7E50A2F5A7F4}"/>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9E6C029D-D65D-78CE-9715-7CC49AB887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692A22BF-3D00-19EC-10AF-B34DD42BF08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2B9F839-B6A0-1B93-38F1-1E3E40EBA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E0868F59-4AFD-2042-A1FC-AFD095B0C1F7}"/>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8C65343-9394-9BE9-BC8F-FF2B26E67D9F}"/>
              </a:ext>
            </a:extLst>
          </p:cNvPr>
          <p:cNvSpPr>
            <a:spLocks noGrp="1"/>
          </p:cNvSpPr>
          <p:nvPr>
            <p:ph type="dt" sz="half" idx="10"/>
          </p:nvPr>
        </p:nvSpPr>
        <p:spPr/>
        <p:txBody>
          <a:bodyPr/>
          <a:lstStyle/>
          <a:p>
            <a:fld id="{190AA720-5988-4617-B66D-45ED8904786D}" type="datetime1">
              <a:rPr lang="ko-KR" altLang="en-US" smtClean="0"/>
              <a:t>2025-07-18</a:t>
            </a:fld>
            <a:endParaRPr lang="ko-KR" altLang="en-US"/>
          </a:p>
        </p:txBody>
      </p:sp>
      <p:sp>
        <p:nvSpPr>
          <p:cNvPr id="8" name="바닥글 개체 틀 7">
            <a:extLst>
              <a:ext uri="{FF2B5EF4-FFF2-40B4-BE49-F238E27FC236}">
                <a16:creationId xmlns:a16="http://schemas.microsoft.com/office/drawing/2014/main" id="{7D9BED25-CE26-E77A-C74F-6CE7C438757D}"/>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C38510C9-BDB7-ACF7-90E4-94324AAB257E}"/>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cxnSp>
        <p:nvCxnSpPr>
          <p:cNvPr id="10" name="직선 연결선 9">
            <a:extLst>
              <a:ext uri="{FF2B5EF4-FFF2-40B4-BE49-F238E27FC236}">
                <a16:creationId xmlns:a16="http://schemas.microsoft.com/office/drawing/2014/main" id="{E8865BDE-2223-7ED7-EA5A-7640F8AE729C}"/>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11" name="직선 연결선 10">
            <a:extLst>
              <a:ext uri="{FF2B5EF4-FFF2-40B4-BE49-F238E27FC236}">
                <a16:creationId xmlns:a16="http://schemas.microsoft.com/office/drawing/2014/main" id="{88E5673F-1DED-DDF9-8E4F-7AFDCAC80D2E}"/>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51588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503B38-4D7C-CEDA-1EE0-FD198EBF018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5D0C57CD-7EC7-2082-431C-92EC3F7F20AA}"/>
              </a:ext>
            </a:extLst>
          </p:cNvPr>
          <p:cNvSpPr>
            <a:spLocks noGrp="1"/>
          </p:cNvSpPr>
          <p:nvPr>
            <p:ph type="dt" sz="half" idx="10"/>
          </p:nvPr>
        </p:nvSpPr>
        <p:spPr/>
        <p:txBody>
          <a:bodyPr/>
          <a:lstStyle/>
          <a:p>
            <a:fld id="{138B726B-12EB-410A-AAFC-5C7546F2F0A1}" type="datetime1">
              <a:rPr lang="ko-KR" altLang="en-US" smtClean="0"/>
              <a:t>2025-07-18</a:t>
            </a:fld>
            <a:endParaRPr lang="ko-KR" altLang="en-US"/>
          </a:p>
        </p:txBody>
      </p:sp>
      <p:sp>
        <p:nvSpPr>
          <p:cNvPr id="4" name="바닥글 개체 틀 3">
            <a:extLst>
              <a:ext uri="{FF2B5EF4-FFF2-40B4-BE49-F238E27FC236}">
                <a16:creationId xmlns:a16="http://schemas.microsoft.com/office/drawing/2014/main" id="{034AB555-6845-FE0F-E45E-24C03ED60B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B97CF3A0-EC75-DCEF-1AA7-BC224D30BA61}"/>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cxnSp>
        <p:nvCxnSpPr>
          <p:cNvPr id="6" name="직선 연결선 5">
            <a:extLst>
              <a:ext uri="{FF2B5EF4-FFF2-40B4-BE49-F238E27FC236}">
                <a16:creationId xmlns:a16="http://schemas.microsoft.com/office/drawing/2014/main" id="{0D4CECD5-581D-1BA6-E6DE-154F153632C6}"/>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7" name="직선 연결선 6">
            <a:extLst>
              <a:ext uri="{FF2B5EF4-FFF2-40B4-BE49-F238E27FC236}">
                <a16:creationId xmlns:a16="http://schemas.microsoft.com/office/drawing/2014/main" id="{67EF0629-E566-8BA6-4162-692EE3A7E4B3}"/>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8079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DB5AF0C-4328-0030-7D0B-E8B14476C0E8}"/>
              </a:ext>
            </a:extLst>
          </p:cNvPr>
          <p:cNvSpPr>
            <a:spLocks noGrp="1"/>
          </p:cNvSpPr>
          <p:nvPr>
            <p:ph type="dt" sz="half" idx="10"/>
          </p:nvPr>
        </p:nvSpPr>
        <p:spPr/>
        <p:txBody>
          <a:bodyPr/>
          <a:lstStyle/>
          <a:p>
            <a:fld id="{119615B8-A842-4F41-97E4-A7D6C3BD290A}" type="datetime1">
              <a:rPr lang="ko-KR" altLang="en-US" smtClean="0"/>
              <a:t>2025-07-18</a:t>
            </a:fld>
            <a:endParaRPr lang="ko-KR" altLang="en-US"/>
          </a:p>
        </p:txBody>
      </p:sp>
      <p:sp>
        <p:nvSpPr>
          <p:cNvPr id="3" name="바닥글 개체 틀 2">
            <a:extLst>
              <a:ext uri="{FF2B5EF4-FFF2-40B4-BE49-F238E27FC236}">
                <a16:creationId xmlns:a16="http://schemas.microsoft.com/office/drawing/2014/main" id="{33F928DB-4084-6A8D-C0D1-6C47FDDFA11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9E7DC0C7-B763-B26A-222D-88F77ED3E2E9}"/>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spTree>
    <p:extLst>
      <p:ext uri="{BB962C8B-B14F-4D97-AF65-F5344CB8AC3E}">
        <p14:creationId xmlns:p14="http://schemas.microsoft.com/office/powerpoint/2010/main" val="829833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F4BB6F-F91C-7FD9-D104-8647A74135C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3114619-DA30-A6CE-B093-1E9CD69540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80C069D-9A11-00D3-E2F9-92A1E87DA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159AA60-4311-42BC-DE4A-106865DE0EF2}"/>
              </a:ext>
            </a:extLst>
          </p:cNvPr>
          <p:cNvSpPr>
            <a:spLocks noGrp="1"/>
          </p:cNvSpPr>
          <p:nvPr>
            <p:ph type="dt" sz="half" idx="10"/>
          </p:nvPr>
        </p:nvSpPr>
        <p:spPr/>
        <p:txBody>
          <a:bodyPr/>
          <a:lstStyle/>
          <a:p>
            <a:fld id="{88F88773-4795-4AE1-B6B7-E5387AC7D658}" type="datetime1">
              <a:rPr lang="ko-KR" altLang="en-US" smtClean="0"/>
              <a:t>2025-07-18</a:t>
            </a:fld>
            <a:endParaRPr lang="ko-KR" altLang="en-US"/>
          </a:p>
        </p:txBody>
      </p:sp>
      <p:sp>
        <p:nvSpPr>
          <p:cNvPr id="6" name="바닥글 개체 틀 5">
            <a:extLst>
              <a:ext uri="{FF2B5EF4-FFF2-40B4-BE49-F238E27FC236}">
                <a16:creationId xmlns:a16="http://schemas.microsoft.com/office/drawing/2014/main" id="{56A81DE3-1758-E223-3FAE-E3DCF8CA742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62E70D7-35F6-1FE1-2C0A-AE950A8EB525}"/>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cxnSp>
        <p:nvCxnSpPr>
          <p:cNvPr id="8" name="직선 연결선 7">
            <a:extLst>
              <a:ext uri="{FF2B5EF4-FFF2-40B4-BE49-F238E27FC236}">
                <a16:creationId xmlns:a16="http://schemas.microsoft.com/office/drawing/2014/main" id="{A6390FAA-B39E-BB3C-0B5A-16DFF4000EB2}"/>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9" name="직선 연결선 8">
            <a:extLst>
              <a:ext uri="{FF2B5EF4-FFF2-40B4-BE49-F238E27FC236}">
                <a16:creationId xmlns:a16="http://schemas.microsoft.com/office/drawing/2014/main" id="{A87854F6-71EB-CFD2-7365-C9C73E3A61C5}"/>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2914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9D437D7-03A7-65EA-9978-DF922772551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FAF2651F-17A3-83A0-6D96-CA71965152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3959426-E177-AF22-2E29-6C602BD12B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4A27546-4C80-0059-F29A-6262069B05F7}"/>
              </a:ext>
            </a:extLst>
          </p:cNvPr>
          <p:cNvSpPr>
            <a:spLocks noGrp="1"/>
          </p:cNvSpPr>
          <p:nvPr>
            <p:ph type="dt" sz="half" idx="10"/>
          </p:nvPr>
        </p:nvSpPr>
        <p:spPr/>
        <p:txBody>
          <a:bodyPr/>
          <a:lstStyle/>
          <a:p>
            <a:fld id="{81699A8F-321D-46CB-8A71-FC369B6047E5}" type="datetime1">
              <a:rPr lang="ko-KR" altLang="en-US" smtClean="0"/>
              <a:t>2025-07-18</a:t>
            </a:fld>
            <a:endParaRPr lang="ko-KR" altLang="en-US"/>
          </a:p>
        </p:txBody>
      </p:sp>
      <p:sp>
        <p:nvSpPr>
          <p:cNvPr id="6" name="바닥글 개체 틀 5">
            <a:extLst>
              <a:ext uri="{FF2B5EF4-FFF2-40B4-BE49-F238E27FC236}">
                <a16:creationId xmlns:a16="http://schemas.microsoft.com/office/drawing/2014/main" id="{EBDC7625-A821-D556-9A87-19A4C2E41D8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F335722-4790-2236-2311-4D31E3455712}"/>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cxnSp>
        <p:nvCxnSpPr>
          <p:cNvPr id="8" name="직선 연결선 7">
            <a:extLst>
              <a:ext uri="{FF2B5EF4-FFF2-40B4-BE49-F238E27FC236}">
                <a16:creationId xmlns:a16="http://schemas.microsoft.com/office/drawing/2014/main" id="{FD5E9025-D8AB-28BC-FCE3-12FC08D1567B}"/>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9" name="직선 연결선 8">
            <a:extLst>
              <a:ext uri="{FF2B5EF4-FFF2-40B4-BE49-F238E27FC236}">
                <a16:creationId xmlns:a16="http://schemas.microsoft.com/office/drawing/2014/main" id="{BA297E2B-31C6-24E9-3C6B-C635E1309DA4}"/>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02658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9AD63D3-26D5-B70C-CE3F-D12A8D74CBAE}"/>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B664FB60-BC85-40D3-444C-EE40CAE78616}"/>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BC9602F-2BFE-F4FA-BBCD-5F9A9278F956}"/>
              </a:ext>
            </a:extLst>
          </p:cNvPr>
          <p:cNvSpPr>
            <a:spLocks noGrp="1"/>
          </p:cNvSpPr>
          <p:nvPr>
            <p:ph type="dt" sz="half" idx="10"/>
          </p:nvPr>
        </p:nvSpPr>
        <p:spPr/>
        <p:txBody>
          <a:bodyPr/>
          <a:lstStyle/>
          <a:p>
            <a:fld id="{16CE7FD7-B95C-4DC6-9ABF-41101A217352}" type="datetime1">
              <a:rPr lang="ko-KR" altLang="en-US" smtClean="0"/>
              <a:t>2025-07-18</a:t>
            </a:fld>
            <a:endParaRPr lang="ko-KR" altLang="en-US"/>
          </a:p>
        </p:txBody>
      </p:sp>
      <p:sp>
        <p:nvSpPr>
          <p:cNvPr id="5" name="바닥글 개체 틀 4">
            <a:extLst>
              <a:ext uri="{FF2B5EF4-FFF2-40B4-BE49-F238E27FC236}">
                <a16:creationId xmlns:a16="http://schemas.microsoft.com/office/drawing/2014/main" id="{4A8830CD-B0AB-9301-0380-469B368560E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8D546AD-56E8-A7A2-6EDB-1ADBB7A60130}"/>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cxnSp>
        <p:nvCxnSpPr>
          <p:cNvPr id="7" name="직선 연결선 6">
            <a:extLst>
              <a:ext uri="{FF2B5EF4-FFF2-40B4-BE49-F238E27FC236}">
                <a16:creationId xmlns:a16="http://schemas.microsoft.com/office/drawing/2014/main" id="{5BE27D26-57D0-8878-2467-ECC23B4E7987}"/>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8" name="직선 연결선 7">
            <a:extLst>
              <a:ext uri="{FF2B5EF4-FFF2-40B4-BE49-F238E27FC236}">
                <a16:creationId xmlns:a16="http://schemas.microsoft.com/office/drawing/2014/main" id="{EDCAB2B9-1BBF-C674-0FDE-8886DBD7E11E}"/>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18658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4E1E8BF-3F7B-B462-4858-83C0882330C8}"/>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2FF84A0-619D-51B7-6644-9FF9372528B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63168FE-AB12-5B22-2024-9AD480EF741B}"/>
              </a:ext>
            </a:extLst>
          </p:cNvPr>
          <p:cNvSpPr>
            <a:spLocks noGrp="1"/>
          </p:cNvSpPr>
          <p:nvPr>
            <p:ph type="dt" sz="half" idx="10"/>
          </p:nvPr>
        </p:nvSpPr>
        <p:spPr/>
        <p:txBody>
          <a:bodyPr/>
          <a:lstStyle/>
          <a:p>
            <a:fld id="{69C3B0A4-D9D6-4853-8DA4-2F985FDE6191}" type="datetime1">
              <a:rPr lang="ko-KR" altLang="en-US" smtClean="0"/>
              <a:t>2025-07-18</a:t>
            </a:fld>
            <a:endParaRPr lang="ko-KR" altLang="en-US"/>
          </a:p>
        </p:txBody>
      </p:sp>
      <p:sp>
        <p:nvSpPr>
          <p:cNvPr id="5" name="바닥글 개체 틀 4">
            <a:extLst>
              <a:ext uri="{FF2B5EF4-FFF2-40B4-BE49-F238E27FC236}">
                <a16:creationId xmlns:a16="http://schemas.microsoft.com/office/drawing/2014/main" id="{3CD83CAF-6AA7-3450-64B5-FD3FFA2E3AA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026AA16-93DC-189B-FC24-F3CC876B19D5}"/>
              </a:ext>
            </a:extLst>
          </p:cNvPr>
          <p:cNvSpPr>
            <a:spLocks noGrp="1"/>
          </p:cNvSpPr>
          <p:nvPr>
            <p:ph type="sldNum" sz="quarter" idx="12"/>
          </p:nvPr>
        </p:nvSpPr>
        <p:spPr/>
        <p:txBody>
          <a:bodyPr/>
          <a:lstStyle/>
          <a:p>
            <a:fld id="{62699DC3-304B-48EC-B099-F95AF3D9844A}" type="slidenum">
              <a:rPr lang="ko-KR" altLang="en-US" smtClean="0"/>
              <a:t>‹#›</a:t>
            </a:fld>
            <a:endParaRPr lang="ko-KR" altLang="en-US"/>
          </a:p>
        </p:txBody>
      </p:sp>
      <p:cxnSp>
        <p:nvCxnSpPr>
          <p:cNvPr id="7" name="직선 연결선 6">
            <a:extLst>
              <a:ext uri="{FF2B5EF4-FFF2-40B4-BE49-F238E27FC236}">
                <a16:creationId xmlns:a16="http://schemas.microsoft.com/office/drawing/2014/main" id="{B806B84A-6CCD-86B5-A01B-36202EB96669}"/>
              </a:ext>
            </a:extLst>
          </p:cNvPr>
          <p:cNvCxnSpPr>
            <a:cxnSpLocks/>
          </p:cNvCxnSpPr>
          <p:nvPr userDrawn="1"/>
        </p:nvCxnSpPr>
        <p:spPr>
          <a:xfrm>
            <a:off x="204159" y="365125"/>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8" name="직선 연결선 7">
            <a:extLst>
              <a:ext uri="{FF2B5EF4-FFF2-40B4-BE49-F238E27FC236}">
                <a16:creationId xmlns:a16="http://schemas.microsoft.com/office/drawing/2014/main" id="{607BFEDF-6EFA-1452-9FB2-089DEEE11E20}"/>
              </a:ext>
            </a:extLst>
          </p:cNvPr>
          <p:cNvCxnSpPr>
            <a:cxnSpLocks/>
          </p:cNvCxnSpPr>
          <p:nvPr userDrawn="1"/>
        </p:nvCxnSpPr>
        <p:spPr>
          <a:xfrm>
            <a:off x="204159" y="65726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24193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4D2E072-DF37-2E02-263F-DF208745C562}"/>
              </a:ext>
            </a:extLst>
          </p:cNvPr>
          <p:cNvSpPr>
            <a:spLocks noGrp="1"/>
          </p:cNvSpPr>
          <p:nvPr>
            <p:ph type="title"/>
          </p:nvPr>
        </p:nvSpPr>
        <p:spPr>
          <a:xfrm>
            <a:off x="838200" y="47398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526A7D9-6ED1-4268-F1FA-EDFBF4B42DBC}"/>
              </a:ext>
            </a:extLst>
          </p:cNvPr>
          <p:cNvSpPr>
            <a:spLocks noGrp="1"/>
          </p:cNvSpPr>
          <p:nvPr>
            <p:ph type="body" idx="1"/>
          </p:nvPr>
        </p:nvSpPr>
        <p:spPr>
          <a:xfrm>
            <a:off x="838200" y="1937659"/>
            <a:ext cx="10515600" cy="4299177"/>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8163A13-C7B2-AF6D-F2D9-31ACE4BF90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79F3E7-4279-4D1D-992F-0D81D87402A9}" type="datetime1">
              <a:rPr lang="ko-KR" altLang="en-US" smtClean="0"/>
              <a:t>2025-07-18</a:t>
            </a:fld>
            <a:endParaRPr lang="ko-KR" altLang="en-US"/>
          </a:p>
        </p:txBody>
      </p:sp>
      <p:sp>
        <p:nvSpPr>
          <p:cNvPr id="5" name="바닥글 개체 틀 4">
            <a:extLst>
              <a:ext uri="{FF2B5EF4-FFF2-40B4-BE49-F238E27FC236}">
                <a16:creationId xmlns:a16="http://schemas.microsoft.com/office/drawing/2014/main" id="{5721B8BB-982B-CF5D-AB94-DA67BD4FE3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DEF8758A-AA8E-D165-5B0F-86B49FF3C5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699DC3-304B-48EC-B099-F95AF3D9844A}" type="slidenum">
              <a:rPr lang="ko-KR" altLang="en-US" smtClean="0"/>
              <a:t>‹#›</a:t>
            </a:fld>
            <a:endParaRPr lang="ko-KR" altLang="en-US"/>
          </a:p>
        </p:txBody>
      </p:sp>
    </p:spTree>
    <p:extLst>
      <p:ext uri="{BB962C8B-B14F-4D97-AF65-F5344CB8AC3E}">
        <p14:creationId xmlns:p14="http://schemas.microsoft.com/office/powerpoint/2010/main" val="1699507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rgbClr val="5D5D5D"/>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5D5D5D"/>
          </a:solidFill>
          <a:latin typeface="Calibri Light" panose="020F0302020204030204" pitchFamily="34" charset="0"/>
          <a:ea typeface="+mn-ea"/>
          <a:cs typeface="Calibri Light" panose="020F0302020204030204" pitchFamily="34" charset="0"/>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5D5D5D"/>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5D5D5D"/>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5D5D5D"/>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5D5D5D"/>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tmp"/></Relationships>
</file>

<file path=ppt/slides/_rels/slide12.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tmp"/><Relationship Id="rId4" Type="http://schemas.openxmlformats.org/officeDocument/2006/relationships/image" Target="../media/image9.tmp"/></Relationships>
</file>

<file path=ppt/slides/_rels/slide17.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tmp"/><Relationship Id="rId4" Type="http://schemas.openxmlformats.org/officeDocument/2006/relationships/image" Target="../media/image12.tmp"/></Relationships>
</file>

<file path=ppt/slides/_rels/slide18.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tmp"/></Relationships>
</file>

<file path=ppt/slides/_rels/slide19.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github.com/google-deepmind/alphafold3?tab=readme-ov-file" TargetMode="External"/><Relationship Id="rId4" Type="http://schemas.openxmlformats.org/officeDocument/2006/relationships/image" Target="../media/image17.tmp"/></Relationships>
</file>

<file path=ppt/slides/_rels/slide20.xml.rels><?xml version="1.0" encoding="UTF-8" standalone="yes"?>
<Relationships xmlns="http://schemas.openxmlformats.org/package/2006/relationships"><Relationship Id="rId3" Type="http://schemas.openxmlformats.org/officeDocument/2006/relationships/hyperlink" Target="https://alphafoldserver.com/welcome"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tmp"/><Relationship Id="rId4" Type="http://schemas.openxmlformats.org/officeDocument/2006/relationships/image" Target="../media/image18.tmp"/></Relationships>
</file>

<file path=ppt/slides/_rels/slide21.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1.tmp"/><Relationship Id="rId3" Type="http://schemas.openxmlformats.org/officeDocument/2006/relationships/hyperlink" Target="https://alphafoldserver.com/fold/28bb4f0447f7c2e8" TargetMode="External"/><Relationship Id="rId7" Type="http://schemas.openxmlformats.org/officeDocument/2006/relationships/image" Target="../media/image30.tmp"/><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9.tmp"/><Relationship Id="rId5" Type="http://schemas.openxmlformats.org/officeDocument/2006/relationships/image" Target="../media/image28.tmp"/><Relationship Id="rId10" Type="http://schemas.openxmlformats.org/officeDocument/2006/relationships/image" Target="../media/image33.tmp"/><Relationship Id="rId4" Type="http://schemas.openxmlformats.org/officeDocument/2006/relationships/image" Target="../media/image27.tmp"/><Relationship Id="rId9" Type="http://schemas.openxmlformats.org/officeDocument/2006/relationships/image" Target="../media/image32.tm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nature.com/articles/d41586-024-01463-0" TargetMode="External"/><Relationship Id="rId2" Type="http://schemas.openxmlformats.org/officeDocument/2006/relationships/hyperlink" Target="https://hyperlab.hits.ai/blog/google-deepmind-alpha-fold-1-and-2" TargetMode="External"/><Relationship Id="rId1" Type="http://schemas.openxmlformats.org/officeDocument/2006/relationships/slideLayout" Target="../slideLayouts/slideLayout2.xml"/><Relationship Id="rId5" Type="http://schemas.openxmlformats.org/officeDocument/2006/relationships/hyperlink" Target="https://blog.naver.com/PostView.naver?blogId=wondrous_world&amp;logNo=222447597640" TargetMode="External"/><Relationship Id="rId4" Type="http://schemas.openxmlformats.org/officeDocument/2006/relationships/hyperlink" Target="https://doi.org/10.1038/s41586-024-07487-w"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46659B0-E236-228A-5A8A-8776DCEBCFB6}"/>
              </a:ext>
            </a:extLst>
          </p:cNvPr>
          <p:cNvSpPr>
            <a:spLocks noGrp="1"/>
          </p:cNvSpPr>
          <p:nvPr>
            <p:ph type="ctrTitle"/>
          </p:nvPr>
        </p:nvSpPr>
        <p:spPr>
          <a:xfrm>
            <a:off x="603853" y="1415214"/>
            <a:ext cx="8016816" cy="2794479"/>
          </a:xfrm>
        </p:spPr>
        <p:txBody>
          <a:bodyPr>
            <a:normAutofit/>
          </a:bodyPr>
          <a:lstStyle/>
          <a:p>
            <a:pPr algn="l"/>
            <a:r>
              <a:rPr lang="en-US" altLang="ko-KR" b="1" dirty="0">
                <a:solidFill>
                  <a:srgbClr val="5D5D5D"/>
                </a:solidFill>
                <a:latin typeface="Calibri" panose="020F0502020204030204" pitchFamily="34" charset="0"/>
                <a:ea typeface="Calibri" panose="020F0502020204030204" pitchFamily="34" charset="0"/>
                <a:cs typeface="Calibri" panose="020F0502020204030204" pitchFamily="34" charset="0"/>
              </a:rPr>
              <a:t>AlphaFold</a:t>
            </a:r>
            <a:br>
              <a:rPr lang="en-US" altLang="ko-KR" sz="4800" dirty="0">
                <a:solidFill>
                  <a:srgbClr val="5D5D5D"/>
                </a:solidFill>
                <a:latin typeface="Calibri" panose="020F0502020204030204" pitchFamily="34" charset="0"/>
                <a:ea typeface="Calibri" panose="020F0502020204030204" pitchFamily="34" charset="0"/>
                <a:cs typeface="Calibri" panose="020F0502020204030204" pitchFamily="34" charset="0"/>
              </a:rPr>
            </a:br>
            <a:r>
              <a:rPr lang="en-US" altLang="ko-KR" sz="4800" dirty="0">
                <a:solidFill>
                  <a:srgbClr val="5D5D5D"/>
                </a:solidFill>
                <a:latin typeface="Calibri" panose="020F0502020204030204" pitchFamily="34" charset="0"/>
                <a:ea typeface="Calibri" panose="020F0502020204030204" pitchFamily="34" charset="0"/>
                <a:cs typeface="Calibri" panose="020F0502020204030204" pitchFamily="34" charset="0"/>
              </a:rPr>
              <a:t>: the renovation on</a:t>
            </a:r>
            <a:br>
              <a:rPr lang="en-US" altLang="ko-KR" sz="4800" dirty="0">
                <a:solidFill>
                  <a:srgbClr val="5D5D5D"/>
                </a:solidFill>
                <a:latin typeface="Calibri" panose="020F0502020204030204" pitchFamily="34" charset="0"/>
                <a:ea typeface="Calibri" panose="020F0502020204030204" pitchFamily="34" charset="0"/>
                <a:cs typeface="Calibri" panose="020F0502020204030204" pitchFamily="34" charset="0"/>
              </a:rPr>
            </a:br>
            <a:r>
              <a:rPr lang="en-US" altLang="ko-KR" sz="4800" dirty="0">
                <a:solidFill>
                  <a:srgbClr val="5D5D5D"/>
                </a:solidFill>
                <a:latin typeface="Calibri" panose="020F0502020204030204" pitchFamily="34" charset="0"/>
                <a:ea typeface="Calibri" panose="020F0502020204030204" pitchFamily="34" charset="0"/>
                <a:cs typeface="Calibri" panose="020F0502020204030204" pitchFamily="34" charset="0"/>
              </a:rPr>
              <a:t>protein structure prediction</a:t>
            </a:r>
            <a:endParaRPr lang="ko-KR" altLang="en-US" sz="4800" dirty="0">
              <a:solidFill>
                <a:srgbClr val="5D5D5D"/>
              </a:solidFill>
              <a:latin typeface="Calibri" panose="020F0502020204030204" pitchFamily="34" charset="0"/>
              <a:cs typeface="Calibri" panose="020F0502020204030204" pitchFamily="34" charset="0"/>
            </a:endParaRPr>
          </a:p>
        </p:txBody>
      </p:sp>
      <p:sp>
        <p:nvSpPr>
          <p:cNvPr id="3" name="부제목 2">
            <a:extLst>
              <a:ext uri="{FF2B5EF4-FFF2-40B4-BE49-F238E27FC236}">
                <a16:creationId xmlns:a16="http://schemas.microsoft.com/office/drawing/2014/main" id="{AB292386-9795-E7F5-99CB-7110F3DF8005}"/>
              </a:ext>
            </a:extLst>
          </p:cNvPr>
          <p:cNvSpPr>
            <a:spLocks noGrp="1"/>
          </p:cNvSpPr>
          <p:nvPr>
            <p:ph type="subTitle" idx="1"/>
          </p:nvPr>
        </p:nvSpPr>
        <p:spPr>
          <a:xfrm>
            <a:off x="603853" y="4389417"/>
            <a:ext cx="9144000" cy="981962"/>
          </a:xfrm>
        </p:spPr>
        <p:txBody>
          <a:bodyPr/>
          <a:lstStyle/>
          <a:p>
            <a:pPr algn="l"/>
            <a:r>
              <a:rPr lang="en-US" altLang="ko-KR" dirty="0">
                <a:solidFill>
                  <a:srgbClr val="5D5D5D"/>
                </a:solidFill>
              </a:rPr>
              <a:t>Subin Hyun</a:t>
            </a:r>
          </a:p>
          <a:p>
            <a:pPr algn="l"/>
            <a:r>
              <a:rPr lang="en-US" altLang="ko-KR" sz="1800" i="1" dirty="0">
                <a:solidFill>
                  <a:srgbClr val="5D5D5D"/>
                </a:solidFill>
              </a:rPr>
              <a:t>2025 AISS </a:t>
            </a:r>
            <a:r>
              <a:rPr lang="en-US" altLang="ko-KR" sz="1800" i="1" dirty="0"/>
              <a:t>advanced</a:t>
            </a:r>
            <a:r>
              <a:rPr lang="ko-KR" altLang="en-US" sz="1800" i="1" dirty="0"/>
              <a:t> </a:t>
            </a:r>
            <a:r>
              <a:rPr lang="en-US" altLang="ko-KR" sz="1800" i="1" dirty="0"/>
              <a:t>plus</a:t>
            </a:r>
            <a:r>
              <a:rPr lang="en-US" altLang="ko-KR" sz="1800" i="1" dirty="0">
                <a:solidFill>
                  <a:srgbClr val="5D5D5D"/>
                </a:solidFill>
              </a:rPr>
              <a:t> (2025.07.18)</a:t>
            </a:r>
            <a:endParaRPr lang="ko-KR" altLang="en-US" i="1" dirty="0">
              <a:solidFill>
                <a:srgbClr val="5D5D5D"/>
              </a:solidFill>
            </a:endParaRPr>
          </a:p>
        </p:txBody>
      </p:sp>
      <p:cxnSp>
        <p:nvCxnSpPr>
          <p:cNvPr id="5" name="직선 연결선 4">
            <a:extLst>
              <a:ext uri="{FF2B5EF4-FFF2-40B4-BE49-F238E27FC236}">
                <a16:creationId xmlns:a16="http://schemas.microsoft.com/office/drawing/2014/main" id="{FF162730-7D19-4313-8F03-39DE7AC0419D}"/>
              </a:ext>
            </a:extLst>
          </p:cNvPr>
          <p:cNvCxnSpPr>
            <a:cxnSpLocks/>
          </p:cNvCxnSpPr>
          <p:nvPr/>
        </p:nvCxnSpPr>
        <p:spPr>
          <a:xfrm>
            <a:off x="204159" y="1150198"/>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6" name="직선 연결선 5">
            <a:extLst>
              <a:ext uri="{FF2B5EF4-FFF2-40B4-BE49-F238E27FC236}">
                <a16:creationId xmlns:a16="http://schemas.microsoft.com/office/drawing/2014/main" id="{7D86AA5B-8C3B-A4B8-9089-FC74DC8058E6}"/>
              </a:ext>
            </a:extLst>
          </p:cNvPr>
          <p:cNvCxnSpPr>
            <a:cxnSpLocks/>
          </p:cNvCxnSpPr>
          <p:nvPr/>
        </p:nvCxnSpPr>
        <p:spPr>
          <a:xfrm>
            <a:off x="204159" y="6115476"/>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8E8C70BD-851A-80F3-F77A-C35F4CE9750C}"/>
              </a:ext>
            </a:extLst>
          </p:cNvPr>
          <p:cNvSpPr txBox="1"/>
          <p:nvPr/>
        </p:nvSpPr>
        <p:spPr>
          <a:xfrm>
            <a:off x="258792" y="736121"/>
            <a:ext cx="4077419" cy="369332"/>
          </a:xfrm>
          <a:prstGeom prst="rect">
            <a:avLst/>
          </a:prstGeom>
          <a:noFill/>
        </p:spPr>
        <p:txBody>
          <a:bodyPr wrap="square" rtlCol="0">
            <a:spAutoFit/>
          </a:bodyPr>
          <a:lstStyle/>
          <a:p>
            <a:r>
              <a:rPr lang="en-US" altLang="ko-KR" dirty="0">
                <a:solidFill>
                  <a:srgbClr val="5D5D5D"/>
                </a:solidFill>
                <a:latin typeface="Calibri Light" panose="020F0302020204030204" pitchFamily="34" charset="0"/>
                <a:ea typeface="Calibri Light" panose="020F0302020204030204" pitchFamily="34" charset="0"/>
                <a:cs typeface="Calibri Light" panose="020F0302020204030204" pitchFamily="34" charset="0"/>
              </a:rPr>
              <a:t>2025 RC4 IRTP AI school </a:t>
            </a:r>
            <a:r>
              <a:rPr lang="en-US" altLang="ko-KR" dirty="0">
                <a:solidFill>
                  <a:srgbClr val="5D5D5D"/>
                </a:solidFill>
                <a:latin typeface="Calibri" panose="020F0502020204030204" pitchFamily="34" charset="0"/>
                <a:ea typeface="Calibri" panose="020F0502020204030204" pitchFamily="34" charset="0"/>
                <a:cs typeface="Calibri" panose="020F0502020204030204" pitchFamily="34" charset="0"/>
              </a:rPr>
              <a:t>Drug Discovery</a:t>
            </a:r>
            <a:endParaRPr lang="ko-KR" altLang="en-US" dirty="0">
              <a:solidFill>
                <a:srgbClr val="5D5D5D"/>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2DACE204-921D-9ABA-CA82-C3F22A15301F}"/>
              </a:ext>
            </a:extLst>
          </p:cNvPr>
          <p:cNvSpPr txBox="1"/>
          <p:nvPr/>
        </p:nvSpPr>
        <p:spPr>
          <a:xfrm>
            <a:off x="9445924" y="6115476"/>
            <a:ext cx="2748951" cy="369332"/>
          </a:xfrm>
          <a:prstGeom prst="rect">
            <a:avLst/>
          </a:prstGeom>
          <a:noFill/>
        </p:spPr>
        <p:txBody>
          <a:bodyPr wrap="square" rtlCol="0">
            <a:spAutoFit/>
          </a:bodyPr>
          <a:lstStyle/>
          <a:p>
            <a:r>
              <a:rPr lang="en-US" altLang="ko-KR" dirty="0">
                <a:solidFill>
                  <a:srgbClr val="5D5D5D"/>
                </a:solidFill>
                <a:latin typeface="Calibri Light" panose="020F0302020204030204" pitchFamily="34" charset="0"/>
                <a:ea typeface="Calibri Light" panose="020F0302020204030204" pitchFamily="34" charset="0"/>
                <a:cs typeface="Calibri Light" panose="020F0302020204030204" pitchFamily="34" charset="0"/>
              </a:rPr>
              <a:t>Literature Review Session</a:t>
            </a:r>
            <a:endParaRPr lang="ko-KR" altLang="en-US" dirty="0">
              <a:solidFill>
                <a:srgbClr val="5D5D5D"/>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502703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E0311F-D88F-E6DE-0FC9-D2D82804C398}"/>
              </a:ext>
            </a:extLst>
          </p:cNvPr>
          <p:cNvSpPr>
            <a:spLocks noGrp="1"/>
          </p:cNvSpPr>
          <p:nvPr>
            <p:ph type="title"/>
          </p:nvPr>
        </p:nvSpPr>
        <p:spPr/>
        <p:txBody>
          <a:bodyPr/>
          <a:lstStyle/>
          <a:p>
            <a:r>
              <a:rPr lang="en-US" altLang="ko-KR" dirty="0"/>
              <a:t>What is </a:t>
            </a:r>
            <a:r>
              <a:rPr lang="en-US" altLang="ko-KR" dirty="0" err="1"/>
              <a:t>Alphafold</a:t>
            </a:r>
            <a:r>
              <a:rPr lang="en-US" altLang="ko-KR" dirty="0"/>
              <a:t> (AF)?</a:t>
            </a:r>
            <a:endParaRPr lang="ko-KR" altLang="en-US" dirty="0"/>
          </a:p>
        </p:txBody>
      </p:sp>
      <p:sp>
        <p:nvSpPr>
          <p:cNvPr id="3" name="내용 개체 틀 2">
            <a:extLst>
              <a:ext uri="{FF2B5EF4-FFF2-40B4-BE49-F238E27FC236}">
                <a16:creationId xmlns:a16="http://schemas.microsoft.com/office/drawing/2014/main" id="{CFCA0D82-EA5B-2958-BCFC-0CECC402FE2F}"/>
              </a:ext>
            </a:extLst>
          </p:cNvPr>
          <p:cNvSpPr>
            <a:spLocks noGrp="1"/>
          </p:cNvSpPr>
          <p:nvPr>
            <p:ph idx="1"/>
          </p:nvPr>
        </p:nvSpPr>
        <p:spPr/>
        <p:txBody>
          <a:bodyPr/>
          <a:lstStyle/>
          <a:p>
            <a:r>
              <a:rPr lang="en-US" altLang="ko-KR" dirty="0" err="1"/>
              <a:t>Alphafold</a:t>
            </a:r>
            <a:r>
              <a:rPr lang="en-US" altLang="ko-KR" dirty="0"/>
              <a:t>: a family of deep learning models developed by Google DeepMind that accurately predict the </a:t>
            </a:r>
            <a:r>
              <a:rPr lang="en-US" altLang="ko-KR" b="1" dirty="0"/>
              <a:t>three-dimensional structures of biological molecules</a:t>
            </a:r>
            <a:r>
              <a:rPr lang="en-US" altLang="ko-KR" dirty="0"/>
              <a:t> (proteins, nucleic acids (DNA/RNA), small molecules (ligands), ions, and modified residues) from their </a:t>
            </a:r>
            <a:r>
              <a:rPr lang="en-US" altLang="ko-KR" b="1" dirty="0"/>
              <a:t>sequences</a:t>
            </a:r>
            <a:r>
              <a:rPr lang="en-US" altLang="ko-KR" dirty="0"/>
              <a:t> and </a:t>
            </a:r>
            <a:r>
              <a:rPr lang="en-US" altLang="ko-KR" b="1" dirty="0"/>
              <a:t>chemical information</a:t>
            </a:r>
          </a:p>
        </p:txBody>
      </p:sp>
      <p:pic>
        <p:nvPicPr>
          <p:cNvPr id="2050" name="Picture 2" descr="AlphaFold background – Biochemistry Computational Research Facility (BCRF)  – UW–Madison">
            <a:extLst>
              <a:ext uri="{FF2B5EF4-FFF2-40B4-BE49-F238E27FC236}">
                <a16:creationId xmlns:a16="http://schemas.microsoft.com/office/drawing/2014/main" id="{54044807-E9C8-24A7-9067-CEF296586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7420" y="3729357"/>
            <a:ext cx="6450210" cy="2658192"/>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File, format, type, document, fasta icon - Download on Iconfinder">
            <a:extLst>
              <a:ext uri="{FF2B5EF4-FFF2-40B4-BE49-F238E27FC236}">
                <a16:creationId xmlns:a16="http://schemas.microsoft.com/office/drawing/2014/main" id="{4B6331D0-5CAE-141A-8595-D93DBF0957A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65746" y="4315473"/>
            <a:ext cx="1749820" cy="174982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직선 화살표 연결선 7">
            <a:extLst>
              <a:ext uri="{FF2B5EF4-FFF2-40B4-BE49-F238E27FC236}">
                <a16:creationId xmlns:a16="http://schemas.microsoft.com/office/drawing/2014/main" id="{D57B6208-27BE-AC9C-4D55-EBDAB509A28A}"/>
              </a:ext>
            </a:extLst>
          </p:cNvPr>
          <p:cNvCxnSpPr/>
          <p:nvPr/>
        </p:nvCxnSpPr>
        <p:spPr>
          <a:xfrm>
            <a:off x="3432412" y="5124734"/>
            <a:ext cx="166502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 name="슬라이드 번호 개체 틀 3">
            <a:extLst>
              <a:ext uri="{FF2B5EF4-FFF2-40B4-BE49-F238E27FC236}">
                <a16:creationId xmlns:a16="http://schemas.microsoft.com/office/drawing/2014/main" id="{1107EE8E-994C-1478-6DCA-4446CBE63B43}"/>
              </a:ext>
            </a:extLst>
          </p:cNvPr>
          <p:cNvSpPr>
            <a:spLocks noGrp="1"/>
          </p:cNvSpPr>
          <p:nvPr>
            <p:ph type="sldNum" sz="quarter" idx="12"/>
          </p:nvPr>
        </p:nvSpPr>
        <p:spPr/>
        <p:txBody>
          <a:bodyPr/>
          <a:lstStyle/>
          <a:p>
            <a:fld id="{62699DC3-304B-48EC-B099-F95AF3D9844A}" type="slidenum">
              <a:rPr lang="ko-KR" altLang="en-US" smtClean="0"/>
              <a:pPr/>
              <a:t>2</a:t>
            </a:fld>
            <a:r>
              <a:rPr lang="en-US" altLang="ko-KR"/>
              <a:t>/28</a:t>
            </a:r>
            <a:endParaRPr lang="ko-KR" altLang="en-US" dirty="0"/>
          </a:p>
        </p:txBody>
      </p:sp>
    </p:spTree>
    <p:extLst>
      <p:ext uri="{BB962C8B-B14F-4D97-AF65-F5344CB8AC3E}">
        <p14:creationId xmlns:p14="http://schemas.microsoft.com/office/powerpoint/2010/main" val="3488623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내용 개체 틀 3">
            <a:extLst>
              <a:ext uri="{FF2B5EF4-FFF2-40B4-BE49-F238E27FC236}">
                <a16:creationId xmlns:a16="http://schemas.microsoft.com/office/drawing/2014/main" id="{5B13E120-3CA0-2F12-75F1-AEDF7F6E0B59}"/>
              </a:ext>
            </a:extLst>
          </p:cNvPr>
          <p:cNvGraphicFramePr>
            <a:graphicFrameLocks noGrp="1"/>
          </p:cNvGraphicFramePr>
          <p:nvPr>
            <p:ph idx="1"/>
            <p:extLst>
              <p:ext uri="{D42A27DB-BD31-4B8C-83A1-F6EECF244321}">
                <p14:modId xmlns:p14="http://schemas.microsoft.com/office/powerpoint/2010/main" val="639011038"/>
              </p:ext>
            </p:extLst>
          </p:nvPr>
        </p:nvGraphicFramePr>
        <p:xfrm>
          <a:off x="1042914" y="-463329"/>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표 4">
            <a:extLst>
              <a:ext uri="{FF2B5EF4-FFF2-40B4-BE49-F238E27FC236}">
                <a16:creationId xmlns:a16="http://schemas.microsoft.com/office/drawing/2014/main" id="{BB3C609E-CFB2-6AD2-19B4-7AE4CFCC7701}"/>
              </a:ext>
            </a:extLst>
          </p:cNvPr>
          <p:cNvGraphicFramePr>
            <a:graphicFrameLocks noGrp="1"/>
          </p:cNvGraphicFramePr>
          <p:nvPr>
            <p:extLst>
              <p:ext uri="{D42A27DB-BD31-4B8C-83A1-F6EECF244321}">
                <p14:modId xmlns:p14="http://schemas.microsoft.com/office/powerpoint/2010/main" val="3019543543"/>
              </p:ext>
            </p:extLst>
          </p:nvPr>
        </p:nvGraphicFramePr>
        <p:xfrm>
          <a:off x="545910" y="3111698"/>
          <a:ext cx="11498240" cy="3204836"/>
        </p:xfrm>
        <a:graphic>
          <a:graphicData uri="http://schemas.openxmlformats.org/drawingml/2006/table">
            <a:tbl>
              <a:tblPr bandRow="1">
                <a:tableStyleId>{2D5ABB26-0587-4C30-8999-92F81FD0307C}</a:tableStyleId>
              </a:tblPr>
              <a:tblGrid>
                <a:gridCol w="2736377">
                  <a:extLst>
                    <a:ext uri="{9D8B030D-6E8A-4147-A177-3AD203B41FA5}">
                      <a16:colId xmlns:a16="http://schemas.microsoft.com/office/drawing/2014/main" val="2775509467"/>
                    </a:ext>
                  </a:extLst>
                </a:gridCol>
                <a:gridCol w="4114565">
                  <a:extLst>
                    <a:ext uri="{9D8B030D-6E8A-4147-A177-3AD203B41FA5}">
                      <a16:colId xmlns:a16="http://schemas.microsoft.com/office/drawing/2014/main" val="2352680758"/>
                    </a:ext>
                  </a:extLst>
                </a:gridCol>
                <a:gridCol w="4647298">
                  <a:extLst>
                    <a:ext uri="{9D8B030D-6E8A-4147-A177-3AD203B41FA5}">
                      <a16:colId xmlns:a16="http://schemas.microsoft.com/office/drawing/2014/main" val="1787070596"/>
                    </a:ext>
                  </a:extLst>
                </a:gridCol>
              </a:tblGrid>
              <a:tr h="827396">
                <a:tc>
                  <a:txBody>
                    <a:bodyPr/>
                    <a:lstStyle/>
                    <a:p>
                      <a:pPr latinLnBrk="1"/>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Protein Monomer prediction</a:t>
                      </a:r>
                      <a:endParaRPr lang="ko-KR" altLang="en-US" sz="2400" dirty="0">
                        <a:solidFill>
                          <a:srgbClr val="5D5D5D"/>
                        </a:solidFill>
                        <a:latin typeface="Calibri" panose="020F0502020204030204" pitchFamily="34" charset="0"/>
                        <a:cs typeface="Calibri" panose="020F0502020204030204" pitchFamily="34" charset="0"/>
                      </a:endParaRPr>
                    </a:p>
                  </a:txBody>
                  <a:tcPr/>
                </a:tc>
                <a:tc>
                  <a:txBody>
                    <a:bodyPr/>
                    <a:lstStyle/>
                    <a:p>
                      <a:pPr latinLnBrk="1"/>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+Protein-Protein complexes</a:t>
                      </a:r>
                    </a:p>
                    <a:p>
                      <a:pPr latinLnBrk="1"/>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+Protein-Nucleic acid complexes</a:t>
                      </a:r>
                    </a:p>
                    <a:p>
                      <a:pPr latinLnBrk="1"/>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+Ligand/Small molecule docking</a:t>
                      </a:r>
                      <a:endParaRPr lang="ko-KR" altLang="en-US" sz="2400" dirty="0">
                        <a:solidFill>
                          <a:srgbClr val="5D5D5D"/>
                        </a:solidFill>
                        <a:latin typeface="Calibri" panose="020F0502020204030204" pitchFamily="34" charset="0"/>
                        <a:cs typeface="Calibri" panose="020F0502020204030204" pitchFamily="34" charset="0"/>
                      </a:endParaRPr>
                    </a:p>
                  </a:txBody>
                  <a:tcPr/>
                </a:tc>
                <a:tc>
                  <a:txBody>
                    <a:bodyPr/>
                    <a:lstStyle/>
                    <a:p>
                      <a:pPr latinLnBrk="1"/>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+Nucleic acid (RNA/DNA)</a:t>
                      </a:r>
                    </a:p>
                    <a:p>
                      <a:pPr latinLnBrk="1"/>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+Covalently-Modified Residues</a:t>
                      </a:r>
                    </a:p>
                  </a:txBody>
                  <a:tcPr/>
                </a:tc>
                <a:extLst>
                  <a:ext uri="{0D108BD9-81ED-4DB2-BD59-A6C34878D82A}">
                    <a16:rowId xmlns:a16="http://schemas.microsoft.com/office/drawing/2014/main" val="3526687386"/>
                  </a:ext>
                </a:extLst>
              </a:tr>
              <a:tr h="393047">
                <a:tc>
                  <a:txBody>
                    <a:bodyPr/>
                    <a:lstStyle/>
                    <a:p>
                      <a:pPr latinLnBrk="1"/>
                      <a:endParaRPr lang="ko-KR" altLang="en-US" sz="2400" dirty="0">
                        <a:solidFill>
                          <a:srgbClr val="5D5D5D"/>
                        </a:solidFill>
                        <a:latin typeface="Calibri" panose="020F0502020204030204" pitchFamily="34" charset="0"/>
                        <a:cs typeface="Calibri" panose="020F0502020204030204" pitchFamily="34" charset="0"/>
                      </a:endParaRPr>
                    </a:p>
                  </a:txBody>
                  <a:tcPr/>
                </a:tc>
                <a:tc>
                  <a:txBody>
                    <a:bodyPr/>
                    <a:lstStyle/>
                    <a:p>
                      <a:pPr latinLnBrk="1"/>
                      <a:endParaRPr lang="ko-KR" altLang="en-US" sz="2400" dirty="0">
                        <a:solidFill>
                          <a:srgbClr val="5D5D5D"/>
                        </a:solidFill>
                        <a:latin typeface="Calibri" panose="020F0502020204030204" pitchFamily="34" charset="0"/>
                        <a:cs typeface="Calibri" panose="020F0502020204030204" pitchFamily="34" charset="0"/>
                      </a:endParaRPr>
                    </a:p>
                  </a:txBody>
                  <a:tcPr/>
                </a:tc>
                <a:tc>
                  <a:txBody>
                    <a:bodyPr/>
                    <a:lstStyle/>
                    <a:p>
                      <a:pPr latinLnBrk="1"/>
                      <a:endParaRPr lang="ko-KR" altLang="en-US" sz="2400" dirty="0">
                        <a:solidFill>
                          <a:srgbClr val="5D5D5D"/>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590925144"/>
                  </a:ext>
                </a:extLst>
              </a:tr>
              <a:tr h="827396">
                <a:tc>
                  <a:txBody>
                    <a:bodyPr/>
                    <a:lstStyle/>
                    <a:p>
                      <a:pPr latinLnBrk="1"/>
                      <a:r>
                        <a:rPr lang="en-US" altLang="ko-KR" sz="2400" b="1" dirty="0">
                          <a:solidFill>
                            <a:srgbClr val="5D5D5D"/>
                          </a:solidFill>
                          <a:latin typeface="Calibri" panose="020F0502020204030204" pitchFamily="34" charset="0"/>
                          <a:ea typeface="Calibri" panose="020F0502020204030204" pitchFamily="34" charset="0"/>
                          <a:cs typeface="Calibri" panose="020F0502020204030204" pitchFamily="34" charset="0"/>
                        </a:rPr>
                        <a:t>CNN-Ensemble</a:t>
                      </a:r>
                      <a:endParaRPr lang="ko-KR" altLang="en-US" sz="2400" b="1" dirty="0">
                        <a:solidFill>
                          <a:srgbClr val="5D5D5D"/>
                        </a:solidFill>
                        <a:latin typeface="Calibri" panose="020F0502020204030204" pitchFamily="34" charset="0"/>
                        <a:cs typeface="Calibri" panose="020F0502020204030204" pitchFamily="34" charset="0"/>
                      </a:endParaRPr>
                    </a:p>
                  </a:txBody>
                  <a:tcPr/>
                </a:tc>
                <a:tc>
                  <a:txBody>
                    <a:bodyPr/>
                    <a:lstStyle/>
                    <a:p>
                      <a:pPr latinLnBrk="1"/>
                      <a:r>
                        <a:rPr lang="en-US" altLang="ko-KR" sz="2400" b="1" dirty="0" err="1">
                          <a:solidFill>
                            <a:srgbClr val="5D5D5D"/>
                          </a:solidFill>
                          <a:latin typeface="Calibri" panose="020F0502020204030204" pitchFamily="34" charset="0"/>
                          <a:ea typeface="Calibri" panose="020F0502020204030204" pitchFamily="34" charset="0"/>
                          <a:cs typeface="Calibri" panose="020F0502020204030204" pitchFamily="34" charset="0"/>
                        </a:rPr>
                        <a:t>Evoformer</a:t>
                      </a:r>
                      <a:r>
                        <a:rPr lang="en-US" altLang="ko-KR" sz="2400" b="1" dirty="0">
                          <a:solidFill>
                            <a:srgbClr val="5D5D5D"/>
                          </a:solidFill>
                          <a:latin typeface="Calibri" panose="020F0502020204030204" pitchFamily="34" charset="0"/>
                          <a:ea typeface="Calibri" panose="020F0502020204030204" pitchFamily="34" charset="0"/>
                          <a:cs typeface="Calibri" panose="020F0502020204030204" pitchFamily="34" charset="0"/>
                        </a:rPr>
                        <a:t> + Frame</a:t>
                      </a:r>
                      <a:endParaRPr lang="ko-KR" altLang="en-US" sz="2400" b="1" dirty="0">
                        <a:solidFill>
                          <a:srgbClr val="5D5D5D"/>
                        </a:solidFill>
                        <a:latin typeface="Calibri" panose="020F0502020204030204" pitchFamily="34" charset="0"/>
                        <a:cs typeface="Calibri" panose="020F0502020204030204" pitchFamily="34" charset="0"/>
                      </a:endParaRPr>
                    </a:p>
                  </a:txBody>
                  <a:tcPr/>
                </a:tc>
                <a:tc>
                  <a:txBody>
                    <a:bodyPr/>
                    <a:lstStyle/>
                    <a:p>
                      <a:pPr latinLnBrk="1"/>
                      <a:r>
                        <a:rPr lang="en-US" altLang="ko-KR" sz="2400" b="1" dirty="0" err="1">
                          <a:solidFill>
                            <a:srgbClr val="5D5D5D"/>
                          </a:solidFill>
                          <a:latin typeface="Calibri" panose="020F0502020204030204" pitchFamily="34" charset="0"/>
                          <a:ea typeface="Calibri" panose="020F0502020204030204" pitchFamily="34" charset="0"/>
                          <a:cs typeface="Calibri" panose="020F0502020204030204" pitchFamily="34" charset="0"/>
                        </a:rPr>
                        <a:t>Pairformer</a:t>
                      </a:r>
                      <a:r>
                        <a:rPr lang="en-US" altLang="ko-KR" sz="2400" b="1" dirty="0">
                          <a:solidFill>
                            <a:srgbClr val="5D5D5D"/>
                          </a:solidFill>
                          <a:latin typeface="Calibri" panose="020F0502020204030204" pitchFamily="34" charset="0"/>
                          <a:ea typeface="Calibri" panose="020F0502020204030204" pitchFamily="34" charset="0"/>
                          <a:cs typeface="Calibri" panose="020F0502020204030204" pitchFamily="34" charset="0"/>
                        </a:rPr>
                        <a:t> + Diffusion</a:t>
                      </a:r>
                      <a:endParaRPr lang="ko-KR" altLang="en-US" sz="2400" b="1" dirty="0">
                        <a:solidFill>
                          <a:srgbClr val="5D5D5D"/>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84596156"/>
                  </a:ext>
                </a:extLst>
              </a:tr>
            </a:tbl>
          </a:graphicData>
        </a:graphic>
      </p:graphicFrame>
      <p:sp>
        <p:nvSpPr>
          <p:cNvPr id="2" name="슬라이드 번호 개체 틀 1">
            <a:extLst>
              <a:ext uri="{FF2B5EF4-FFF2-40B4-BE49-F238E27FC236}">
                <a16:creationId xmlns:a16="http://schemas.microsoft.com/office/drawing/2014/main" id="{758B3613-128D-F9BE-DECA-255962318487}"/>
              </a:ext>
            </a:extLst>
          </p:cNvPr>
          <p:cNvSpPr>
            <a:spLocks noGrp="1"/>
          </p:cNvSpPr>
          <p:nvPr>
            <p:ph type="sldNum" sz="quarter" idx="12"/>
          </p:nvPr>
        </p:nvSpPr>
        <p:spPr/>
        <p:txBody>
          <a:bodyPr/>
          <a:lstStyle/>
          <a:p>
            <a:fld id="{62699DC3-304B-48EC-B099-F95AF3D9844A}" type="slidenum">
              <a:rPr lang="ko-KR" altLang="en-US" smtClean="0"/>
              <a:pPr/>
              <a:t>3</a:t>
            </a:fld>
            <a:r>
              <a:rPr lang="en-US" altLang="ko-KR"/>
              <a:t>/28</a:t>
            </a:r>
            <a:endParaRPr lang="ko-KR" altLang="en-US" dirty="0"/>
          </a:p>
        </p:txBody>
      </p:sp>
    </p:spTree>
    <p:extLst>
      <p:ext uri="{BB962C8B-B14F-4D97-AF65-F5344CB8AC3E}">
        <p14:creationId xmlns:p14="http://schemas.microsoft.com/office/powerpoint/2010/main" val="621417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0E7144-DF78-1679-FBCE-47DD786BCD25}"/>
              </a:ext>
            </a:extLst>
          </p:cNvPr>
          <p:cNvSpPr>
            <a:spLocks noGrp="1"/>
          </p:cNvSpPr>
          <p:nvPr>
            <p:ph type="title"/>
          </p:nvPr>
        </p:nvSpPr>
        <p:spPr/>
        <p:txBody>
          <a:bodyPr/>
          <a:lstStyle/>
          <a:p>
            <a:r>
              <a:rPr lang="en-US" altLang="ko-KR" dirty="0"/>
              <a:t>Multiple Sequence Alignment (MSA)</a:t>
            </a:r>
            <a:endParaRPr lang="ko-KR" altLang="en-US" dirty="0"/>
          </a:p>
        </p:txBody>
      </p:sp>
      <p:sp>
        <p:nvSpPr>
          <p:cNvPr id="3" name="내용 개체 틀 2">
            <a:extLst>
              <a:ext uri="{FF2B5EF4-FFF2-40B4-BE49-F238E27FC236}">
                <a16:creationId xmlns:a16="http://schemas.microsoft.com/office/drawing/2014/main" id="{ACAE3B80-49E3-90EE-7E58-93EBE3AD257E}"/>
              </a:ext>
            </a:extLst>
          </p:cNvPr>
          <p:cNvSpPr>
            <a:spLocks noGrp="1"/>
          </p:cNvSpPr>
          <p:nvPr>
            <p:ph idx="1"/>
          </p:nvPr>
        </p:nvSpPr>
        <p:spPr>
          <a:xfrm>
            <a:off x="838200" y="1930835"/>
            <a:ext cx="10515600" cy="4299177"/>
          </a:xfrm>
        </p:spPr>
        <p:txBody>
          <a:bodyPr/>
          <a:lstStyle/>
          <a:p>
            <a:r>
              <a:rPr lang="en-US" altLang="ko-KR" dirty="0"/>
              <a:t>Compare </a:t>
            </a:r>
            <a:r>
              <a:rPr lang="en-US" altLang="ko-KR" b="1" dirty="0"/>
              <a:t>similar</a:t>
            </a:r>
            <a:r>
              <a:rPr lang="en-US" altLang="ko-KR" dirty="0"/>
              <a:t> protein (or DNA/RNA) </a:t>
            </a:r>
            <a:r>
              <a:rPr lang="en-US" altLang="ko-KR" b="1" dirty="0"/>
              <a:t>sequences</a:t>
            </a:r>
            <a:r>
              <a:rPr lang="en-US" altLang="ko-KR" dirty="0"/>
              <a:t> obtained from </a:t>
            </a:r>
            <a:r>
              <a:rPr lang="en-US" altLang="ko-KR" b="1" dirty="0"/>
              <a:t>multiple organisms </a:t>
            </a:r>
            <a:r>
              <a:rPr lang="en-US" altLang="ko-KR" dirty="0"/>
              <a:t>in a row</a:t>
            </a:r>
          </a:p>
          <a:p>
            <a:r>
              <a:rPr lang="en-US" altLang="ko-KR" dirty="0"/>
              <a:t>Help acknowledging how similar points got to change, which area should be taken as an important feature with an </a:t>
            </a:r>
            <a:r>
              <a:rPr lang="en-US" altLang="ko-KR" b="1" dirty="0"/>
              <a:t>evolutionary</a:t>
            </a:r>
            <a:r>
              <a:rPr lang="en-US" altLang="ko-KR" dirty="0"/>
              <a:t> point of view</a:t>
            </a:r>
          </a:p>
          <a:p>
            <a:r>
              <a:rPr lang="en-US" altLang="ko-KR" dirty="0"/>
              <a:t>Requires similar sequences which are from similar organisms – </a:t>
            </a:r>
            <a:r>
              <a:rPr lang="en-US" altLang="ko-KR" b="1" dirty="0"/>
              <a:t>weak to new</a:t>
            </a:r>
            <a:r>
              <a:rPr lang="en-US" altLang="ko-KR" dirty="0"/>
              <a:t> (outer source data) </a:t>
            </a:r>
            <a:r>
              <a:rPr lang="en-US" altLang="ko-KR" b="1" dirty="0"/>
              <a:t>sequence </a:t>
            </a:r>
            <a:r>
              <a:rPr lang="en-US" altLang="ko-KR" dirty="0"/>
              <a:t>/ </a:t>
            </a:r>
            <a:r>
              <a:rPr lang="en-US" altLang="ko-KR" b="1" dirty="0"/>
              <a:t>rare species</a:t>
            </a:r>
          </a:p>
          <a:p>
            <a:r>
              <a:rPr lang="en-US" altLang="ko-KR" dirty="0"/>
              <a:t>As new versions of AFs revealed, </a:t>
            </a:r>
            <a:r>
              <a:rPr lang="en-US" altLang="ko-KR" b="1" dirty="0"/>
              <a:t>MSA reliance reduces</a:t>
            </a:r>
            <a:endParaRPr lang="ko-KR" altLang="en-US" b="1" dirty="0"/>
          </a:p>
        </p:txBody>
      </p:sp>
      <p:sp>
        <p:nvSpPr>
          <p:cNvPr id="4" name="슬라이드 번호 개체 틀 3">
            <a:extLst>
              <a:ext uri="{FF2B5EF4-FFF2-40B4-BE49-F238E27FC236}">
                <a16:creationId xmlns:a16="http://schemas.microsoft.com/office/drawing/2014/main" id="{D4489E4F-8F76-6669-1467-4711C5CA7D70}"/>
              </a:ext>
            </a:extLst>
          </p:cNvPr>
          <p:cNvSpPr>
            <a:spLocks noGrp="1"/>
          </p:cNvSpPr>
          <p:nvPr>
            <p:ph type="sldNum" sz="quarter" idx="12"/>
          </p:nvPr>
        </p:nvSpPr>
        <p:spPr/>
        <p:txBody>
          <a:bodyPr/>
          <a:lstStyle/>
          <a:p>
            <a:fld id="{62699DC3-304B-48EC-B099-F95AF3D9844A}" type="slidenum">
              <a:rPr lang="ko-KR" altLang="en-US" smtClean="0"/>
              <a:pPr/>
              <a:t>4</a:t>
            </a:fld>
            <a:r>
              <a:rPr lang="en-US" altLang="ko-KR"/>
              <a:t>/28</a:t>
            </a:r>
            <a:endParaRPr lang="ko-KR" altLang="en-US" dirty="0"/>
          </a:p>
        </p:txBody>
      </p:sp>
    </p:spTree>
    <p:extLst>
      <p:ext uri="{BB962C8B-B14F-4D97-AF65-F5344CB8AC3E}">
        <p14:creationId xmlns:p14="http://schemas.microsoft.com/office/powerpoint/2010/main" val="3786775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5576-DD3D-12CC-8033-547DA61B48D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7D497DB-05B9-EF99-2053-ACBEE93D9C41}"/>
              </a:ext>
            </a:extLst>
          </p:cNvPr>
          <p:cNvSpPr>
            <a:spLocks noGrp="1"/>
          </p:cNvSpPr>
          <p:nvPr>
            <p:ph type="title"/>
          </p:nvPr>
        </p:nvSpPr>
        <p:spPr/>
        <p:txBody>
          <a:bodyPr/>
          <a:lstStyle/>
          <a:p>
            <a:r>
              <a:rPr lang="en-US" altLang="ko-KR" dirty="0" err="1"/>
              <a:t>Alphafold</a:t>
            </a:r>
            <a:endParaRPr lang="ko-KR" altLang="en-US" dirty="0"/>
          </a:p>
        </p:txBody>
      </p:sp>
      <p:pic>
        <p:nvPicPr>
          <p:cNvPr id="6146" name="Picture 2" descr="alphafold-protein-structure-prediction">
            <a:extLst>
              <a:ext uri="{FF2B5EF4-FFF2-40B4-BE49-F238E27FC236}">
                <a16:creationId xmlns:a16="http://schemas.microsoft.com/office/drawing/2014/main" id="{961F27A4-F5FD-D59E-2474-6EFA9CF9D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382" y="1356908"/>
            <a:ext cx="10169236" cy="5170685"/>
          </a:xfrm>
          <a:prstGeom prst="rect">
            <a:avLst/>
          </a:prstGeom>
          <a:noFill/>
          <a:extLst>
            <a:ext uri="{909E8E84-426E-40DD-AFC4-6F175D3DCCD1}">
              <a14:hiddenFill xmlns:a14="http://schemas.microsoft.com/office/drawing/2010/main">
                <a:solidFill>
                  <a:srgbClr val="FFFFFF"/>
                </a:solidFill>
              </a14:hiddenFill>
            </a:ext>
          </a:extLst>
        </p:spPr>
      </p:pic>
      <p:sp>
        <p:nvSpPr>
          <p:cNvPr id="3" name="슬라이드 번호 개체 틀 2">
            <a:extLst>
              <a:ext uri="{FF2B5EF4-FFF2-40B4-BE49-F238E27FC236}">
                <a16:creationId xmlns:a16="http://schemas.microsoft.com/office/drawing/2014/main" id="{666F4751-0682-2250-791E-1C300EF0677D}"/>
              </a:ext>
            </a:extLst>
          </p:cNvPr>
          <p:cNvSpPr>
            <a:spLocks noGrp="1"/>
          </p:cNvSpPr>
          <p:nvPr>
            <p:ph type="sldNum" sz="quarter" idx="12"/>
          </p:nvPr>
        </p:nvSpPr>
        <p:spPr/>
        <p:txBody>
          <a:bodyPr/>
          <a:lstStyle/>
          <a:p>
            <a:fld id="{62699DC3-304B-48EC-B099-F95AF3D9844A}" type="slidenum">
              <a:rPr lang="ko-KR" altLang="en-US" smtClean="0"/>
              <a:pPr/>
              <a:t>5</a:t>
            </a:fld>
            <a:r>
              <a:rPr lang="en-US" altLang="ko-KR"/>
              <a:t>/28</a:t>
            </a:r>
            <a:endParaRPr lang="ko-KR" altLang="en-US" dirty="0"/>
          </a:p>
        </p:txBody>
      </p:sp>
    </p:spTree>
    <p:extLst>
      <p:ext uri="{BB962C8B-B14F-4D97-AF65-F5344CB8AC3E}">
        <p14:creationId xmlns:p14="http://schemas.microsoft.com/office/powerpoint/2010/main" val="3562742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409F174-AF38-B3EB-0F0A-EB59D9384911}"/>
              </a:ext>
            </a:extLst>
          </p:cNvPr>
          <p:cNvSpPr>
            <a:spLocks noGrp="1"/>
          </p:cNvSpPr>
          <p:nvPr>
            <p:ph type="title"/>
          </p:nvPr>
        </p:nvSpPr>
        <p:spPr/>
        <p:txBody>
          <a:bodyPr/>
          <a:lstStyle/>
          <a:p>
            <a:r>
              <a:rPr lang="en-US" altLang="ko-KR" dirty="0"/>
              <a:t>Alphafold2</a:t>
            </a:r>
            <a:endParaRPr lang="ko-KR" altLang="en-US" dirty="0"/>
          </a:p>
        </p:txBody>
      </p:sp>
      <p:pic>
        <p:nvPicPr>
          <p:cNvPr id="1026" name="Picture 2" descr="알파폴드2: 3차원 단백질 구조 예측을 위한 어텐션 메커니즘 | 인공지능 &amp; 소프트웨어 | 파이특허법률사무소">
            <a:extLst>
              <a:ext uri="{FF2B5EF4-FFF2-40B4-BE49-F238E27FC236}">
                <a16:creationId xmlns:a16="http://schemas.microsoft.com/office/drawing/2014/main" id="{6186E106-709E-109D-F6FD-B3A94D0C3A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29666"/>
            <a:ext cx="12192000" cy="4208463"/>
          </a:xfrm>
          <a:prstGeom prst="rect">
            <a:avLst/>
          </a:prstGeom>
          <a:noFill/>
          <a:extLst>
            <a:ext uri="{909E8E84-426E-40DD-AFC4-6F175D3DCCD1}">
              <a14:hiddenFill xmlns:a14="http://schemas.microsoft.com/office/drawing/2010/main">
                <a:solidFill>
                  <a:srgbClr val="FFFFFF"/>
                </a:solidFill>
              </a14:hiddenFill>
            </a:ext>
          </a:extLst>
        </p:spPr>
      </p:pic>
      <p:sp>
        <p:nvSpPr>
          <p:cNvPr id="3" name="슬라이드 번호 개체 틀 2">
            <a:extLst>
              <a:ext uri="{FF2B5EF4-FFF2-40B4-BE49-F238E27FC236}">
                <a16:creationId xmlns:a16="http://schemas.microsoft.com/office/drawing/2014/main" id="{E0B4BB35-26E3-4738-EAE9-43C6AC41A100}"/>
              </a:ext>
            </a:extLst>
          </p:cNvPr>
          <p:cNvSpPr>
            <a:spLocks noGrp="1"/>
          </p:cNvSpPr>
          <p:nvPr>
            <p:ph type="sldNum" sz="quarter" idx="12"/>
          </p:nvPr>
        </p:nvSpPr>
        <p:spPr/>
        <p:txBody>
          <a:bodyPr/>
          <a:lstStyle/>
          <a:p>
            <a:fld id="{62699DC3-304B-48EC-B099-F95AF3D9844A}" type="slidenum">
              <a:rPr lang="ko-KR" altLang="en-US" smtClean="0"/>
              <a:pPr/>
              <a:t>6</a:t>
            </a:fld>
            <a:r>
              <a:rPr lang="en-US" altLang="ko-KR"/>
              <a:t>/28</a:t>
            </a:r>
            <a:endParaRPr lang="ko-KR" altLang="en-US" dirty="0"/>
          </a:p>
        </p:txBody>
      </p:sp>
    </p:spTree>
    <p:extLst>
      <p:ext uri="{BB962C8B-B14F-4D97-AF65-F5344CB8AC3E}">
        <p14:creationId xmlns:p14="http://schemas.microsoft.com/office/powerpoint/2010/main" val="2425076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E41132-15E6-0FF6-D41A-4E41A21DB976}"/>
              </a:ext>
            </a:extLst>
          </p:cNvPr>
          <p:cNvSpPr>
            <a:spLocks noGrp="1"/>
          </p:cNvSpPr>
          <p:nvPr>
            <p:ph type="title"/>
          </p:nvPr>
        </p:nvSpPr>
        <p:spPr/>
        <p:txBody>
          <a:bodyPr/>
          <a:lstStyle/>
          <a:p>
            <a:r>
              <a:rPr lang="en-US" altLang="ko-KR" dirty="0"/>
              <a:t>Alphafold3</a:t>
            </a:r>
            <a:endParaRPr lang="ko-KR" altLang="en-US" dirty="0"/>
          </a:p>
        </p:txBody>
      </p:sp>
      <p:pic>
        <p:nvPicPr>
          <p:cNvPr id="5" name="그림 4" descr="텍스트, 도표, 라인, 폰트이(가) 표시된 사진&#10;&#10;AI 생성 콘텐츠는 정확하지 않을 수 있습니다.">
            <a:extLst>
              <a:ext uri="{FF2B5EF4-FFF2-40B4-BE49-F238E27FC236}">
                <a16:creationId xmlns:a16="http://schemas.microsoft.com/office/drawing/2014/main" id="{CA639532-ED80-BF87-7520-15C8B67CFF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1" y="2276516"/>
            <a:ext cx="12086499" cy="2847516"/>
          </a:xfrm>
          <a:prstGeom prst="rect">
            <a:avLst/>
          </a:prstGeom>
        </p:spPr>
      </p:pic>
      <p:sp>
        <p:nvSpPr>
          <p:cNvPr id="3" name="슬라이드 번호 개체 틀 2">
            <a:extLst>
              <a:ext uri="{FF2B5EF4-FFF2-40B4-BE49-F238E27FC236}">
                <a16:creationId xmlns:a16="http://schemas.microsoft.com/office/drawing/2014/main" id="{8BC922C8-31D6-1AAE-8AF3-9CFCD8C5714A}"/>
              </a:ext>
            </a:extLst>
          </p:cNvPr>
          <p:cNvSpPr>
            <a:spLocks noGrp="1"/>
          </p:cNvSpPr>
          <p:nvPr>
            <p:ph type="sldNum" sz="quarter" idx="12"/>
          </p:nvPr>
        </p:nvSpPr>
        <p:spPr/>
        <p:txBody>
          <a:bodyPr/>
          <a:lstStyle/>
          <a:p>
            <a:fld id="{62699DC3-304B-48EC-B099-F95AF3D9844A}" type="slidenum">
              <a:rPr lang="ko-KR" altLang="en-US" smtClean="0"/>
              <a:pPr/>
              <a:t>7</a:t>
            </a:fld>
            <a:r>
              <a:rPr lang="en-US" altLang="ko-KR"/>
              <a:t>/28</a:t>
            </a:r>
            <a:endParaRPr lang="ko-KR" altLang="en-US" dirty="0"/>
          </a:p>
        </p:txBody>
      </p:sp>
    </p:spTree>
    <p:extLst>
      <p:ext uri="{BB962C8B-B14F-4D97-AF65-F5344CB8AC3E}">
        <p14:creationId xmlns:p14="http://schemas.microsoft.com/office/powerpoint/2010/main" val="95065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D644E6-8F43-52CF-A278-0E3C6467AD5C}"/>
              </a:ext>
            </a:extLst>
          </p:cNvPr>
          <p:cNvSpPr>
            <a:spLocks noGrp="1"/>
          </p:cNvSpPr>
          <p:nvPr>
            <p:ph type="title"/>
          </p:nvPr>
        </p:nvSpPr>
        <p:spPr/>
        <p:txBody>
          <a:bodyPr/>
          <a:lstStyle/>
          <a:p>
            <a:r>
              <a:rPr lang="en-US" altLang="ko-KR" dirty="0"/>
              <a:t>Input Embedder</a:t>
            </a:r>
            <a:endParaRPr lang="ko-KR" altLang="en-US" dirty="0"/>
          </a:p>
        </p:txBody>
      </p:sp>
      <p:pic>
        <p:nvPicPr>
          <p:cNvPr id="4" name="내용 개체 틀 3" descr="텍스트, 도표, 라인, 폰트이(가) 표시된 사진&#10;&#10;AI 생성 콘텐츠는 정확하지 않을 수 있습니다.">
            <a:extLst>
              <a:ext uri="{FF2B5EF4-FFF2-40B4-BE49-F238E27FC236}">
                <a16:creationId xmlns:a16="http://schemas.microsoft.com/office/drawing/2014/main" id="{F45D292D-3A55-D6D8-C42E-B6FDD685E01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69118"/>
          <a:stretch>
            <a:fillRect/>
          </a:stretch>
        </p:blipFill>
        <p:spPr>
          <a:xfrm>
            <a:off x="721141" y="2162053"/>
            <a:ext cx="4514888" cy="3444382"/>
          </a:xfrm>
          <a:prstGeom prst="rect">
            <a:avLst/>
          </a:prstGeom>
        </p:spPr>
      </p:pic>
      <p:sp>
        <p:nvSpPr>
          <p:cNvPr id="5" name="TextBox 4">
            <a:extLst>
              <a:ext uri="{FF2B5EF4-FFF2-40B4-BE49-F238E27FC236}">
                <a16:creationId xmlns:a16="http://schemas.microsoft.com/office/drawing/2014/main" id="{FFB2F4AF-AF3B-562E-5FF3-C955A53821E1}"/>
              </a:ext>
            </a:extLst>
          </p:cNvPr>
          <p:cNvSpPr txBox="1"/>
          <p:nvPr/>
        </p:nvSpPr>
        <p:spPr>
          <a:xfrm>
            <a:off x="6096000" y="2162053"/>
            <a:ext cx="5001905" cy="2677656"/>
          </a:xfrm>
          <a:prstGeom prst="rect">
            <a:avLst/>
          </a:prstGeom>
          <a:noFill/>
        </p:spPr>
        <p:txBody>
          <a:bodyPr wrap="square" rtlCol="0">
            <a:spAutoFit/>
          </a:bodyPr>
          <a:lstStyle/>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Transformation of sequences (protein amino acids/DNA/RNA), ligand, covalent bonds into high-dimensional vectors (embedding)</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Prevent informational loss</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Reflect chemical properties/binding information into NN</a:t>
            </a:r>
            <a:endParaRPr lang="ko-KR" altLang="en-US" sz="2400" dirty="0">
              <a:solidFill>
                <a:srgbClr val="5D5D5D"/>
              </a:solidFill>
              <a:latin typeface="Calibri" panose="020F0502020204030204" pitchFamily="34" charset="0"/>
              <a:cs typeface="Calibri" panose="020F0502020204030204" pitchFamily="34" charset="0"/>
            </a:endParaRPr>
          </a:p>
        </p:txBody>
      </p:sp>
      <p:sp>
        <p:nvSpPr>
          <p:cNvPr id="3" name="슬라이드 번호 개체 틀 2">
            <a:extLst>
              <a:ext uri="{FF2B5EF4-FFF2-40B4-BE49-F238E27FC236}">
                <a16:creationId xmlns:a16="http://schemas.microsoft.com/office/drawing/2014/main" id="{19CB6BD0-CB11-000C-6B3D-2370C042B241}"/>
              </a:ext>
            </a:extLst>
          </p:cNvPr>
          <p:cNvSpPr>
            <a:spLocks noGrp="1"/>
          </p:cNvSpPr>
          <p:nvPr>
            <p:ph type="sldNum" sz="quarter" idx="12"/>
          </p:nvPr>
        </p:nvSpPr>
        <p:spPr/>
        <p:txBody>
          <a:bodyPr/>
          <a:lstStyle/>
          <a:p>
            <a:fld id="{62699DC3-304B-48EC-B099-F95AF3D9844A}" type="slidenum">
              <a:rPr lang="ko-KR" altLang="en-US" smtClean="0"/>
              <a:pPr/>
              <a:t>8</a:t>
            </a:fld>
            <a:r>
              <a:rPr lang="en-US" altLang="ko-KR"/>
              <a:t>/28</a:t>
            </a:r>
            <a:endParaRPr lang="ko-KR" altLang="en-US" dirty="0"/>
          </a:p>
        </p:txBody>
      </p:sp>
    </p:spTree>
    <p:extLst>
      <p:ext uri="{BB962C8B-B14F-4D97-AF65-F5344CB8AC3E}">
        <p14:creationId xmlns:p14="http://schemas.microsoft.com/office/powerpoint/2010/main" val="4268980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2B6A2C5-C478-8747-01CF-4AB7F5BD685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939EB2A-6450-C9F3-A93F-A20C5566A810}"/>
              </a:ext>
            </a:extLst>
          </p:cNvPr>
          <p:cNvSpPr>
            <a:spLocks noGrp="1"/>
          </p:cNvSpPr>
          <p:nvPr>
            <p:ph type="title"/>
          </p:nvPr>
        </p:nvSpPr>
        <p:spPr/>
        <p:txBody>
          <a:bodyPr/>
          <a:lstStyle/>
          <a:p>
            <a:r>
              <a:rPr lang="en-US" altLang="ko-KR" dirty="0"/>
              <a:t>Alphafold3</a:t>
            </a:r>
            <a:endParaRPr lang="ko-KR" altLang="en-US" dirty="0"/>
          </a:p>
        </p:txBody>
      </p:sp>
      <p:pic>
        <p:nvPicPr>
          <p:cNvPr id="4" name="그림 3" descr="텍스트, 도표, 라인, 그래프이(가) 표시된 사진&#10;&#10;AI 생성 콘텐츠는 정확하지 않을 수 있습니다.">
            <a:extLst>
              <a:ext uri="{FF2B5EF4-FFF2-40B4-BE49-F238E27FC236}">
                <a16:creationId xmlns:a16="http://schemas.microsoft.com/office/drawing/2014/main" id="{19A1C321-053A-0C5C-50C7-7F850AC42A64}"/>
              </a:ext>
            </a:extLst>
          </p:cNvPr>
          <p:cNvPicPr>
            <a:picLocks noChangeAspect="1"/>
          </p:cNvPicPr>
          <p:nvPr/>
        </p:nvPicPr>
        <p:blipFill>
          <a:blip r:embed="rId3">
            <a:extLst>
              <a:ext uri="{28A0092B-C50C-407E-A947-70E740481C1C}">
                <a14:useLocalDpi xmlns:a14="http://schemas.microsoft.com/office/drawing/2010/main" val="0"/>
              </a:ext>
            </a:extLst>
          </a:blip>
          <a:srcRect r="2399"/>
          <a:stretch>
            <a:fillRect/>
          </a:stretch>
        </p:blipFill>
        <p:spPr>
          <a:xfrm>
            <a:off x="567928" y="2035617"/>
            <a:ext cx="11056144" cy="3570526"/>
          </a:xfrm>
          <a:prstGeom prst="rect">
            <a:avLst/>
          </a:prstGeom>
        </p:spPr>
      </p:pic>
      <p:sp>
        <p:nvSpPr>
          <p:cNvPr id="3" name="슬라이드 번호 개체 틀 2">
            <a:extLst>
              <a:ext uri="{FF2B5EF4-FFF2-40B4-BE49-F238E27FC236}">
                <a16:creationId xmlns:a16="http://schemas.microsoft.com/office/drawing/2014/main" id="{45BEF859-CFD7-0892-A13B-54EC719FC7FD}"/>
              </a:ext>
            </a:extLst>
          </p:cNvPr>
          <p:cNvSpPr>
            <a:spLocks noGrp="1"/>
          </p:cNvSpPr>
          <p:nvPr>
            <p:ph type="sldNum" sz="quarter" idx="12"/>
          </p:nvPr>
        </p:nvSpPr>
        <p:spPr/>
        <p:txBody>
          <a:bodyPr/>
          <a:lstStyle/>
          <a:p>
            <a:fld id="{62699DC3-304B-48EC-B099-F95AF3D9844A}" type="slidenum">
              <a:rPr lang="ko-KR" altLang="en-US" smtClean="0"/>
              <a:pPr/>
              <a:t>9</a:t>
            </a:fld>
            <a:r>
              <a:rPr lang="en-US" altLang="ko-KR"/>
              <a:t>/28</a:t>
            </a:r>
            <a:endParaRPr lang="ko-KR" altLang="en-US" dirty="0"/>
          </a:p>
        </p:txBody>
      </p:sp>
    </p:spTree>
    <p:extLst>
      <p:ext uri="{BB962C8B-B14F-4D97-AF65-F5344CB8AC3E}">
        <p14:creationId xmlns:p14="http://schemas.microsoft.com/office/powerpoint/2010/main" val="604830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AF194-C54D-4BB0-ADF7-48F9ED829E6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BDF9C6B-8068-A3A6-A280-E9ADF800FB6F}"/>
              </a:ext>
            </a:extLst>
          </p:cNvPr>
          <p:cNvSpPr>
            <a:spLocks noGrp="1"/>
          </p:cNvSpPr>
          <p:nvPr>
            <p:ph type="title"/>
          </p:nvPr>
        </p:nvSpPr>
        <p:spPr/>
        <p:txBody>
          <a:bodyPr/>
          <a:lstStyle/>
          <a:p>
            <a:r>
              <a:rPr lang="en-US" altLang="ko-KR" dirty="0"/>
              <a:t>MSA module</a:t>
            </a:r>
            <a:endParaRPr lang="ko-KR" altLang="en-US" dirty="0"/>
          </a:p>
        </p:txBody>
      </p:sp>
      <p:pic>
        <p:nvPicPr>
          <p:cNvPr id="4" name="내용 개체 틀 3" descr="텍스트, 도표, 라인, 폰트이(가) 표시된 사진&#10;&#10;AI 생성 콘텐츠는 정확하지 않을 수 있습니다.">
            <a:extLst>
              <a:ext uri="{FF2B5EF4-FFF2-40B4-BE49-F238E27FC236}">
                <a16:creationId xmlns:a16="http://schemas.microsoft.com/office/drawing/2014/main" id="{9BE4A4D2-C5C8-DE62-BD44-937A0918B8E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7291" r="52867"/>
          <a:stretch>
            <a:fillRect/>
          </a:stretch>
        </p:blipFill>
        <p:spPr>
          <a:xfrm>
            <a:off x="838200" y="1908405"/>
            <a:ext cx="3145971" cy="3735350"/>
          </a:xfrm>
          <a:prstGeom prst="rect">
            <a:avLst/>
          </a:prstGeom>
        </p:spPr>
      </p:pic>
      <p:sp>
        <p:nvSpPr>
          <p:cNvPr id="3" name="TextBox 2">
            <a:extLst>
              <a:ext uri="{FF2B5EF4-FFF2-40B4-BE49-F238E27FC236}">
                <a16:creationId xmlns:a16="http://schemas.microsoft.com/office/drawing/2014/main" id="{41569DA8-54F6-2D53-526C-84AE8C7B7A35}"/>
              </a:ext>
            </a:extLst>
          </p:cNvPr>
          <p:cNvSpPr txBox="1"/>
          <p:nvPr/>
        </p:nvSpPr>
        <p:spPr>
          <a:xfrm>
            <a:off x="5206622" y="2437252"/>
            <a:ext cx="6346208" cy="2677656"/>
          </a:xfrm>
          <a:prstGeom prst="rect">
            <a:avLst/>
          </a:prstGeom>
          <a:noFill/>
        </p:spPr>
        <p:txBody>
          <a:bodyPr wrap="square" rtlCol="0">
            <a:spAutoFit/>
          </a:bodyPr>
          <a:lstStyle/>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Template search into template module – inform structure generation</a:t>
            </a:r>
          </a:p>
          <a:p>
            <a:pPr marL="285750" indent="-285750">
              <a:buFont typeface="Arial" panose="020B0604020202020204" pitchFamily="34" charset="0"/>
              <a:buChar char="•"/>
            </a:pPr>
            <a:endPar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Embedding of MSA</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cs typeface="Calibri" panose="020F0502020204030204" pitchFamily="34" charset="0"/>
              </a:rPr>
              <a:t>Only 4 blocks of MSA in AF3</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cs typeface="Calibri" panose="020F0502020204030204" pitchFamily="34" charset="0"/>
              </a:rPr>
              <a:t>Provide basic evolutionary context</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cs typeface="Calibri" panose="020F0502020204030204" pitchFamily="34" charset="0"/>
              </a:rPr>
              <a:t>No detailed processing of various alignments</a:t>
            </a:r>
          </a:p>
        </p:txBody>
      </p:sp>
      <p:sp>
        <p:nvSpPr>
          <p:cNvPr id="5" name="슬라이드 번호 개체 틀 4">
            <a:extLst>
              <a:ext uri="{FF2B5EF4-FFF2-40B4-BE49-F238E27FC236}">
                <a16:creationId xmlns:a16="http://schemas.microsoft.com/office/drawing/2014/main" id="{F5C7BB61-45E1-4839-E1B9-CF2416864E6E}"/>
              </a:ext>
            </a:extLst>
          </p:cNvPr>
          <p:cNvSpPr>
            <a:spLocks noGrp="1"/>
          </p:cNvSpPr>
          <p:nvPr>
            <p:ph type="sldNum" sz="quarter" idx="12"/>
          </p:nvPr>
        </p:nvSpPr>
        <p:spPr/>
        <p:txBody>
          <a:bodyPr/>
          <a:lstStyle/>
          <a:p>
            <a:fld id="{62699DC3-304B-48EC-B099-F95AF3D9844A}" type="slidenum">
              <a:rPr lang="ko-KR" altLang="en-US" smtClean="0"/>
              <a:pPr/>
              <a:t>10</a:t>
            </a:fld>
            <a:r>
              <a:rPr lang="en-US" altLang="ko-KR"/>
              <a:t>/28</a:t>
            </a:r>
            <a:endParaRPr lang="ko-KR" altLang="en-US" dirty="0"/>
          </a:p>
        </p:txBody>
      </p:sp>
    </p:spTree>
    <p:extLst>
      <p:ext uri="{BB962C8B-B14F-4D97-AF65-F5344CB8AC3E}">
        <p14:creationId xmlns:p14="http://schemas.microsoft.com/office/powerpoint/2010/main" val="1444638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3032F-E4C3-EA9E-B0EB-7B971631C3F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AF72EDF-4CCD-DA0E-364D-3ADC4EA07CD6}"/>
              </a:ext>
            </a:extLst>
          </p:cNvPr>
          <p:cNvSpPr>
            <a:spLocks noGrp="1"/>
          </p:cNvSpPr>
          <p:nvPr>
            <p:ph type="title"/>
          </p:nvPr>
        </p:nvSpPr>
        <p:spPr/>
        <p:txBody>
          <a:bodyPr/>
          <a:lstStyle/>
          <a:p>
            <a:r>
              <a:rPr lang="en-US" altLang="ko-KR" b="1" u="sng" dirty="0" err="1"/>
              <a:t>Pairformer</a:t>
            </a:r>
            <a:endParaRPr lang="ko-KR" altLang="en-US" b="1" u="sng" dirty="0"/>
          </a:p>
        </p:txBody>
      </p:sp>
      <p:pic>
        <p:nvPicPr>
          <p:cNvPr id="4" name="내용 개체 틀 3" descr="텍스트, 도표, 라인, 폰트이(가) 표시된 사진&#10;&#10;AI 생성 콘텐츠는 정확하지 않을 수 있습니다.">
            <a:extLst>
              <a:ext uri="{FF2B5EF4-FFF2-40B4-BE49-F238E27FC236}">
                <a16:creationId xmlns:a16="http://schemas.microsoft.com/office/drawing/2014/main" id="{A7E002F1-BBA3-512A-E47E-4C50B5C2D16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7271" r="36192"/>
          <a:stretch>
            <a:fillRect/>
          </a:stretch>
        </p:blipFill>
        <p:spPr>
          <a:xfrm>
            <a:off x="838200" y="2341439"/>
            <a:ext cx="4928002" cy="3177617"/>
          </a:xfrm>
          <a:prstGeom prst="rect">
            <a:avLst/>
          </a:prstGeom>
        </p:spPr>
      </p:pic>
      <p:sp>
        <p:nvSpPr>
          <p:cNvPr id="3" name="TextBox 2">
            <a:extLst>
              <a:ext uri="{FF2B5EF4-FFF2-40B4-BE49-F238E27FC236}">
                <a16:creationId xmlns:a16="http://schemas.microsoft.com/office/drawing/2014/main" id="{577648F7-F08D-6F28-61DD-9C558FB719E8}"/>
              </a:ext>
            </a:extLst>
          </p:cNvPr>
          <p:cNvSpPr txBox="1"/>
          <p:nvPr/>
        </p:nvSpPr>
        <p:spPr>
          <a:xfrm>
            <a:off x="6096000" y="2598363"/>
            <a:ext cx="5395415" cy="3785652"/>
          </a:xfrm>
          <a:prstGeom prst="rect">
            <a:avLst/>
          </a:prstGeom>
          <a:noFill/>
        </p:spPr>
        <p:txBody>
          <a:bodyPr wrap="square" rtlCol="0">
            <a:spAutoFit/>
          </a:bodyPr>
          <a:lstStyle/>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Core network module                   (replace AF2’s </a:t>
            </a:r>
            <a:r>
              <a:rPr lang="en-US" altLang="ko-KR" sz="2400" dirty="0" err="1">
                <a:solidFill>
                  <a:srgbClr val="5D5D5D"/>
                </a:solidFill>
                <a:latin typeface="Calibri" panose="020F0502020204030204" pitchFamily="34" charset="0"/>
                <a:ea typeface="Calibri" panose="020F0502020204030204" pitchFamily="34" charset="0"/>
                <a:cs typeface="Calibri" panose="020F0502020204030204" pitchFamily="34" charset="0"/>
              </a:rPr>
              <a:t>Evoformer</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Learn relationships between all pairs of components (residues, atoms, ligands) in the molecular system</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Process pair representations</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Single representations                       </a:t>
            </a:r>
            <a:r>
              <a:rPr lang="ko-KR" altLang="en-US" sz="2400" dirty="0">
                <a:solidFill>
                  <a:srgbClr val="5D5D5D"/>
                </a:solidFill>
                <a:latin typeface="Calibri" panose="020F0502020204030204" pitchFamily="34" charset="0"/>
                <a:ea typeface="Calibri" panose="020F0502020204030204" pitchFamily="34" charset="0"/>
                <a:cs typeface="Calibri" panose="020F0502020204030204" pitchFamily="34" charset="0"/>
              </a:rPr>
              <a:t> </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(one</a:t>
            </a:r>
            <a:r>
              <a:rPr lang="ko-KR" altLang="en-US" sz="2400" dirty="0">
                <a:solidFill>
                  <a:srgbClr val="5D5D5D"/>
                </a:solidFill>
                <a:latin typeface="Calibri" panose="020F0502020204030204" pitchFamily="34" charset="0"/>
                <a:ea typeface="Calibri" panose="020F0502020204030204" pitchFamily="34" charset="0"/>
                <a:cs typeface="Calibri" panose="020F0502020204030204" pitchFamily="34" charset="0"/>
              </a:rPr>
              <a:t> </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feature-one</a:t>
            </a:r>
            <a:r>
              <a:rPr lang="ko-KR" altLang="en-US" sz="2400" dirty="0">
                <a:solidFill>
                  <a:srgbClr val="5D5D5D"/>
                </a:solidFill>
                <a:latin typeface="Calibri" panose="020F0502020204030204" pitchFamily="34" charset="0"/>
                <a:ea typeface="Calibri" panose="020F0502020204030204" pitchFamily="34" charset="0"/>
                <a:cs typeface="Calibri" panose="020F0502020204030204" pitchFamily="34" charset="0"/>
              </a:rPr>
              <a:t> </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residue/atom)</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Attention-based mechanisms     (triangle updates &amp; self-attention)</a:t>
            </a:r>
          </a:p>
        </p:txBody>
      </p:sp>
      <p:pic>
        <p:nvPicPr>
          <p:cNvPr id="7" name="그림 6" descr="텍스트, 라인, 폰트, 도표이(가) 표시된 사진&#10;&#10;AI 생성 콘텐츠는 정확하지 않을 수 있습니다.">
            <a:extLst>
              <a:ext uri="{FF2B5EF4-FFF2-40B4-BE49-F238E27FC236}">
                <a16:creationId xmlns:a16="http://schemas.microsoft.com/office/drawing/2014/main" id="{B84DCEB1-EAFB-E9B0-F8EC-85737B68CD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9958" y="593508"/>
            <a:ext cx="8159086" cy="1835794"/>
          </a:xfrm>
          <a:prstGeom prst="rect">
            <a:avLst/>
          </a:prstGeom>
          <a:noFill/>
        </p:spPr>
      </p:pic>
      <p:sp>
        <p:nvSpPr>
          <p:cNvPr id="5" name="슬라이드 번호 개체 틀 4">
            <a:extLst>
              <a:ext uri="{FF2B5EF4-FFF2-40B4-BE49-F238E27FC236}">
                <a16:creationId xmlns:a16="http://schemas.microsoft.com/office/drawing/2014/main" id="{A995E8DC-9559-1F74-CB75-AA6300183871}"/>
              </a:ext>
            </a:extLst>
          </p:cNvPr>
          <p:cNvSpPr>
            <a:spLocks noGrp="1"/>
          </p:cNvSpPr>
          <p:nvPr>
            <p:ph type="sldNum" sz="quarter" idx="12"/>
          </p:nvPr>
        </p:nvSpPr>
        <p:spPr/>
        <p:txBody>
          <a:bodyPr/>
          <a:lstStyle/>
          <a:p>
            <a:fld id="{62699DC3-304B-48EC-B099-F95AF3D9844A}" type="slidenum">
              <a:rPr lang="ko-KR" altLang="en-US" smtClean="0"/>
              <a:pPr/>
              <a:t>11</a:t>
            </a:fld>
            <a:r>
              <a:rPr lang="en-US" altLang="ko-KR"/>
              <a:t>/28</a:t>
            </a:r>
            <a:endParaRPr lang="ko-KR" altLang="en-US" dirty="0"/>
          </a:p>
        </p:txBody>
      </p:sp>
    </p:spTree>
    <p:extLst>
      <p:ext uri="{BB962C8B-B14F-4D97-AF65-F5344CB8AC3E}">
        <p14:creationId xmlns:p14="http://schemas.microsoft.com/office/powerpoint/2010/main" val="2796012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DECF6-8ED7-4054-9C60-8E862BEFE1B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927E407-B5B0-40D1-46BF-136610FDBF03}"/>
              </a:ext>
            </a:extLst>
          </p:cNvPr>
          <p:cNvSpPr>
            <a:spLocks noGrp="1"/>
          </p:cNvSpPr>
          <p:nvPr>
            <p:ph type="title"/>
          </p:nvPr>
        </p:nvSpPr>
        <p:spPr/>
        <p:txBody>
          <a:bodyPr/>
          <a:lstStyle/>
          <a:p>
            <a:r>
              <a:rPr lang="en-US" altLang="ko-KR" dirty="0"/>
              <a:t>Recycling</a:t>
            </a:r>
            <a:endParaRPr lang="ko-KR" altLang="en-US" dirty="0"/>
          </a:p>
        </p:txBody>
      </p:sp>
      <p:pic>
        <p:nvPicPr>
          <p:cNvPr id="5" name="그림 4" descr="텍스트, 도표, 라인, 폰트이(가) 표시된 사진&#10;&#10;AI 생성 콘텐츠는 정확하지 않을 수 있습니다.">
            <a:extLst>
              <a:ext uri="{FF2B5EF4-FFF2-40B4-BE49-F238E27FC236}">
                <a16:creationId xmlns:a16="http://schemas.microsoft.com/office/drawing/2014/main" id="{C7B245A6-9242-3E33-4191-5668D385A5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01" y="2276516"/>
            <a:ext cx="12086499" cy="2847516"/>
          </a:xfrm>
          <a:prstGeom prst="rect">
            <a:avLst/>
          </a:prstGeom>
        </p:spPr>
      </p:pic>
      <p:sp>
        <p:nvSpPr>
          <p:cNvPr id="3" name="슬라이드 번호 개체 틀 2">
            <a:extLst>
              <a:ext uri="{FF2B5EF4-FFF2-40B4-BE49-F238E27FC236}">
                <a16:creationId xmlns:a16="http://schemas.microsoft.com/office/drawing/2014/main" id="{2B0430C5-1C30-4700-0B0F-CBC78B4BAF9A}"/>
              </a:ext>
            </a:extLst>
          </p:cNvPr>
          <p:cNvSpPr>
            <a:spLocks noGrp="1"/>
          </p:cNvSpPr>
          <p:nvPr>
            <p:ph type="sldNum" sz="quarter" idx="12"/>
          </p:nvPr>
        </p:nvSpPr>
        <p:spPr/>
        <p:txBody>
          <a:bodyPr/>
          <a:lstStyle/>
          <a:p>
            <a:fld id="{62699DC3-304B-48EC-B099-F95AF3D9844A}" type="slidenum">
              <a:rPr lang="ko-KR" altLang="en-US" smtClean="0"/>
              <a:pPr/>
              <a:t>12</a:t>
            </a:fld>
            <a:r>
              <a:rPr lang="en-US" altLang="ko-KR"/>
              <a:t>/28</a:t>
            </a:r>
            <a:endParaRPr lang="ko-KR" altLang="en-US" dirty="0"/>
          </a:p>
        </p:txBody>
      </p:sp>
    </p:spTree>
    <p:extLst>
      <p:ext uri="{BB962C8B-B14F-4D97-AF65-F5344CB8AC3E}">
        <p14:creationId xmlns:p14="http://schemas.microsoft.com/office/powerpoint/2010/main" val="2113287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834F6-A183-09A2-4E2B-5DEFF3CCCF7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A2FC5B9-18D5-A745-6308-CF4B569B68AD}"/>
              </a:ext>
            </a:extLst>
          </p:cNvPr>
          <p:cNvSpPr>
            <a:spLocks noGrp="1"/>
          </p:cNvSpPr>
          <p:nvPr>
            <p:ph type="title"/>
          </p:nvPr>
        </p:nvSpPr>
        <p:spPr/>
        <p:txBody>
          <a:bodyPr/>
          <a:lstStyle/>
          <a:p>
            <a:r>
              <a:rPr lang="en-US" altLang="ko-KR" dirty="0"/>
              <a:t>Diffusion module</a:t>
            </a:r>
            <a:endParaRPr lang="ko-KR" altLang="en-US" dirty="0"/>
          </a:p>
        </p:txBody>
      </p:sp>
      <p:pic>
        <p:nvPicPr>
          <p:cNvPr id="4" name="내용 개체 틀 3" descr="텍스트, 도표, 라인, 폰트이(가) 표시된 사진&#10;&#10;AI 생성 콘텐츠는 정확하지 않을 수 있습니다.">
            <a:extLst>
              <a:ext uri="{FF2B5EF4-FFF2-40B4-BE49-F238E27FC236}">
                <a16:creationId xmlns:a16="http://schemas.microsoft.com/office/drawing/2014/main" id="{A0FA373F-A010-0A39-B43F-7CE26ED4E4F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6038" t="19560" r="11976" b="-709"/>
          <a:stretch>
            <a:fillRect/>
          </a:stretch>
        </p:blipFill>
        <p:spPr>
          <a:xfrm>
            <a:off x="551597" y="2341219"/>
            <a:ext cx="3200839" cy="2783339"/>
          </a:xfrm>
          <a:prstGeom prst="rect">
            <a:avLst/>
          </a:prstGeom>
        </p:spPr>
      </p:pic>
      <p:sp>
        <p:nvSpPr>
          <p:cNvPr id="3" name="TextBox 2">
            <a:extLst>
              <a:ext uri="{FF2B5EF4-FFF2-40B4-BE49-F238E27FC236}">
                <a16:creationId xmlns:a16="http://schemas.microsoft.com/office/drawing/2014/main" id="{C648875F-E398-8017-D025-C4C706E4B6CD}"/>
              </a:ext>
            </a:extLst>
          </p:cNvPr>
          <p:cNvSpPr txBox="1"/>
          <p:nvPr/>
        </p:nvSpPr>
        <p:spPr>
          <a:xfrm>
            <a:off x="3971408" y="2024729"/>
            <a:ext cx="7912726" cy="3416320"/>
          </a:xfrm>
          <a:prstGeom prst="rect">
            <a:avLst/>
          </a:prstGeom>
          <a:noFill/>
        </p:spPr>
        <p:txBody>
          <a:bodyPr wrap="square" rtlCol="0">
            <a:spAutoFit/>
          </a:bodyPr>
          <a:lstStyle/>
          <a:p>
            <a:pPr marL="285750" indent="-285750">
              <a:buFont typeface="Arial" panose="020B0604020202020204" pitchFamily="34" charset="0"/>
              <a:buChar char="•"/>
            </a:pPr>
            <a:r>
              <a:rPr lang="en-US" altLang="ko-KR" sz="2400" strike="sngStrike" dirty="0">
                <a:solidFill>
                  <a:srgbClr val="5D5D5D"/>
                </a:solidFill>
                <a:latin typeface="Calibri" panose="020F0502020204030204" pitchFamily="34" charset="0"/>
                <a:cs typeface="Calibri" panose="020F0502020204030204" pitchFamily="34" charset="0"/>
              </a:rPr>
              <a:t>Backbone prediction → sidechain prediction </a:t>
            </a:r>
            <a:r>
              <a:rPr lang="en-US" altLang="ko-KR" sz="2400" dirty="0">
                <a:solidFill>
                  <a:srgbClr val="5D5D5D"/>
                </a:solidFill>
                <a:latin typeface="Calibri" panose="020F0502020204030204" pitchFamily="34" charset="0"/>
                <a:cs typeface="Calibri" panose="020F0502020204030204" pitchFamily="34" charset="0"/>
              </a:rPr>
              <a:t>(AF2)</a:t>
            </a:r>
          </a:p>
          <a:p>
            <a:pPr marL="285750" indent="-285750">
              <a:buFont typeface="Arial" panose="020B0604020202020204" pitchFamily="34" charset="0"/>
              <a:buChar char="•"/>
            </a:pPr>
            <a:r>
              <a:rPr lang="en-US" altLang="ko-KR" sz="2400" strike="sngStrike" dirty="0">
                <a:solidFill>
                  <a:srgbClr val="5D5D5D"/>
                </a:solidFill>
                <a:latin typeface="Calibri" panose="020F0502020204030204" pitchFamily="34" charset="0"/>
                <a:cs typeface="Calibri" panose="020F0502020204030204" pitchFamily="34" charset="0"/>
              </a:rPr>
              <a:t>Torsion/base-angle space </a:t>
            </a:r>
            <a:r>
              <a:rPr lang="en-US" altLang="ko-KR" sz="2400" dirty="0">
                <a:solidFill>
                  <a:srgbClr val="5D5D5D"/>
                </a:solidFill>
                <a:latin typeface="Calibri" panose="020F0502020204030204" pitchFamily="34" charset="0"/>
                <a:cs typeface="Calibri" panose="020F0502020204030204" pitchFamily="34" charset="0"/>
              </a:rPr>
              <a:t>(~AF2)</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cs typeface="Calibri" panose="020F0502020204030204" pitchFamily="34" charset="0"/>
              </a:rPr>
              <a:t>Chemical context from </a:t>
            </a:r>
            <a:r>
              <a:rPr lang="en-US" altLang="ko-KR" sz="2400" dirty="0" err="1">
                <a:solidFill>
                  <a:srgbClr val="5D5D5D"/>
                </a:solidFill>
                <a:latin typeface="Calibri" panose="020F0502020204030204" pitchFamily="34" charset="0"/>
                <a:cs typeface="Calibri" panose="020F0502020204030204" pitchFamily="34" charset="0"/>
              </a:rPr>
              <a:t>Pairformer</a:t>
            </a:r>
            <a:r>
              <a:rPr lang="en-US" altLang="ko-KR" sz="2400" dirty="0">
                <a:solidFill>
                  <a:srgbClr val="5D5D5D"/>
                </a:solidFill>
                <a:latin typeface="Calibri" panose="020F0502020204030204" pitchFamily="34" charset="0"/>
                <a:cs typeface="Calibri" panose="020F0502020204030204" pitchFamily="34" charset="0"/>
              </a:rPr>
              <a:t> → directly generates 3D atomic coordinates for the entire complex</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cs typeface="Calibri" panose="020F0502020204030204" pitchFamily="34" charset="0"/>
              </a:rPr>
              <a:t>Start from random, noisy coordinates – iteratively denoise: converge on a realistic structure</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cs typeface="Calibri" panose="020F0502020204030204" pitchFamily="34" charset="0"/>
              </a:rPr>
              <a:t>Not assume protein-specific framework and enables direct, fine-grained atomic position → highly flexible and accurate (local stereochemistry &amp; global molecular architecture)</a:t>
            </a:r>
            <a:endParaRPr lang="ko-KR" altLang="en-US" sz="2400" dirty="0">
              <a:solidFill>
                <a:srgbClr val="5D5D5D"/>
              </a:solidFill>
              <a:latin typeface="Calibri" panose="020F0502020204030204" pitchFamily="34" charset="0"/>
              <a:cs typeface="Calibri" panose="020F0502020204030204" pitchFamily="34" charset="0"/>
            </a:endParaRPr>
          </a:p>
        </p:txBody>
      </p:sp>
      <p:sp>
        <p:nvSpPr>
          <p:cNvPr id="5" name="슬라이드 번호 개체 틀 4">
            <a:extLst>
              <a:ext uri="{FF2B5EF4-FFF2-40B4-BE49-F238E27FC236}">
                <a16:creationId xmlns:a16="http://schemas.microsoft.com/office/drawing/2014/main" id="{6B5F0C9A-6BC7-A45F-9CDE-B0F5BBF0F65B}"/>
              </a:ext>
            </a:extLst>
          </p:cNvPr>
          <p:cNvSpPr>
            <a:spLocks noGrp="1"/>
          </p:cNvSpPr>
          <p:nvPr>
            <p:ph type="sldNum" sz="quarter" idx="12"/>
          </p:nvPr>
        </p:nvSpPr>
        <p:spPr/>
        <p:txBody>
          <a:bodyPr/>
          <a:lstStyle/>
          <a:p>
            <a:fld id="{62699DC3-304B-48EC-B099-F95AF3D9844A}" type="slidenum">
              <a:rPr lang="ko-KR" altLang="en-US" smtClean="0"/>
              <a:pPr/>
              <a:t>13</a:t>
            </a:fld>
            <a:r>
              <a:rPr lang="en-US" altLang="ko-KR"/>
              <a:t>/28</a:t>
            </a:r>
            <a:endParaRPr lang="ko-KR" altLang="en-US" dirty="0"/>
          </a:p>
        </p:txBody>
      </p:sp>
    </p:spTree>
    <p:extLst>
      <p:ext uri="{BB962C8B-B14F-4D97-AF65-F5344CB8AC3E}">
        <p14:creationId xmlns:p14="http://schemas.microsoft.com/office/powerpoint/2010/main" val="3104725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58EBA-7D3C-4F7D-71B7-7338BCFC4E8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69D9F31-842D-176B-D3CC-812344B0D81E}"/>
              </a:ext>
            </a:extLst>
          </p:cNvPr>
          <p:cNvSpPr>
            <a:spLocks noGrp="1"/>
          </p:cNvSpPr>
          <p:nvPr>
            <p:ph type="title"/>
          </p:nvPr>
        </p:nvSpPr>
        <p:spPr/>
        <p:txBody>
          <a:bodyPr/>
          <a:lstStyle/>
          <a:p>
            <a:r>
              <a:rPr lang="en-US" altLang="ko-KR" dirty="0"/>
              <a:t>Confidence Module</a:t>
            </a:r>
            <a:endParaRPr lang="ko-KR" altLang="en-US" dirty="0"/>
          </a:p>
        </p:txBody>
      </p:sp>
      <p:pic>
        <p:nvPicPr>
          <p:cNvPr id="4" name="내용 개체 틀 3" descr="텍스트, 도표, 라인, 폰트이(가) 표시된 사진&#10;&#10;AI 생성 콘텐츠는 정확하지 않을 수 있습니다.">
            <a:extLst>
              <a:ext uri="{FF2B5EF4-FFF2-40B4-BE49-F238E27FC236}">
                <a16:creationId xmlns:a16="http://schemas.microsoft.com/office/drawing/2014/main" id="{E17B4AE5-3898-4C02-96AF-FE0FEFF9242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3336" t="5256" r="1406" b="15523"/>
          <a:stretch>
            <a:fillRect/>
          </a:stretch>
        </p:blipFill>
        <p:spPr>
          <a:xfrm>
            <a:off x="1145274" y="1924181"/>
            <a:ext cx="2460437" cy="3009638"/>
          </a:xfrm>
          <a:prstGeom prst="rect">
            <a:avLst/>
          </a:prstGeom>
        </p:spPr>
      </p:pic>
      <p:sp>
        <p:nvSpPr>
          <p:cNvPr id="3" name="TextBox 2">
            <a:extLst>
              <a:ext uri="{FF2B5EF4-FFF2-40B4-BE49-F238E27FC236}">
                <a16:creationId xmlns:a16="http://schemas.microsoft.com/office/drawing/2014/main" id="{A08E93FB-5F88-BDE8-DA9B-ACE7C986D982}"/>
              </a:ext>
            </a:extLst>
          </p:cNvPr>
          <p:cNvSpPr txBox="1"/>
          <p:nvPr/>
        </p:nvSpPr>
        <p:spPr>
          <a:xfrm>
            <a:off x="3981298" y="2644170"/>
            <a:ext cx="7496469" cy="1569660"/>
          </a:xfrm>
          <a:prstGeom prst="rect">
            <a:avLst/>
          </a:prstGeom>
          <a:noFill/>
        </p:spPr>
        <p:txBody>
          <a:bodyPr wrap="square" rtlCol="0">
            <a:spAutoFit/>
          </a:bodyPr>
          <a:lstStyle/>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Predict how reliable the generated structure is</a:t>
            </a:r>
            <a:r>
              <a:rPr lang="ko-KR" altLang="en-US" sz="2400" dirty="0">
                <a:solidFill>
                  <a:srgbClr val="5D5D5D"/>
                </a:solidFill>
                <a:latin typeface="Calibri" panose="020F0502020204030204" pitchFamily="34" charset="0"/>
                <a:ea typeface="Calibri" panose="020F0502020204030204" pitchFamily="34" charset="0"/>
                <a:cs typeface="Calibri" panose="020F0502020204030204" pitchFamily="34" charset="0"/>
              </a:rPr>
              <a:t>          </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(both atomic/residue pair levels)</a:t>
            </a:r>
          </a:p>
          <a:p>
            <a:pPr marL="285750" indent="-285750">
              <a:buFont typeface="Arial" panose="020B0604020202020204" pitchFamily="34" charset="0"/>
              <a:buChar char="•"/>
            </a:pP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Scores: </a:t>
            </a:r>
            <a:r>
              <a:rPr lang="en-US" altLang="ko-KR" sz="2400" dirty="0" err="1">
                <a:solidFill>
                  <a:srgbClr val="5D5D5D"/>
                </a:solidFill>
                <a:latin typeface="Calibri" panose="020F0502020204030204" pitchFamily="34" charset="0"/>
                <a:ea typeface="Calibri" panose="020F0502020204030204" pitchFamily="34" charset="0"/>
                <a:cs typeface="Calibri" panose="020F0502020204030204" pitchFamily="34" charset="0"/>
              </a:rPr>
              <a:t>pLDDT</a:t>
            </a:r>
            <a:r>
              <a:rPr lang="en-US" altLang="ko-KR" sz="2400" dirty="0">
                <a:solidFill>
                  <a:srgbClr val="5D5D5D"/>
                </a:solidFill>
                <a:latin typeface="Calibri" panose="020F0502020204030204" pitchFamily="34" charset="0"/>
                <a:ea typeface="Calibri" panose="020F0502020204030204" pitchFamily="34" charset="0"/>
                <a:cs typeface="Calibri" panose="020F0502020204030204" pitchFamily="34" charset="0"/>
              </a:rPr>
              <a:t> (predicted Local Distance Difference Test), PAE (Predicted Aligned Error)</a:t>
            </a:r>
          </a:p>
        </p:txBody>
      </p:sp>
      <p:sp>
        <p:nvSpPr>
          <p:cNvPr id="5" name="슬라이드 번호 개체 틀 4">
            <a:extLst>
              <a:ext uri="{FF2B5EF4-FFF2-40B4-BE49-F238E27FC236}">
                <a16:creationId xmlns:a16="http://schemas.microsoft.com/office/drawing/2014/main" id="{F179716E-0E9D-EB9B-ACF5-40920D4AB73F}"/>
              </a:ext>
            </a:extLst>
          </p:cNvPr>
          <p:cNvSpPr>
            <a:spLocks noGrp="1"/>
          </p:cNvSpPr>
          <p:nvPr>
            <p:ph type="sldNum" sz="quarter" idx="12"/>
          </p:nvPr>
        </p:nvSpPr>
        <p:spPr/>
        <p:txBody>
          <a:bodyPr/>
          <a:lstStyle/>
          <a:p>
            <a:fld id="{62699DC3-304B-48EC-B099-F95AF3D9844A}" type="slidenum">
              <a:rPr lang="ko-KR" altLang="en-US" smtClean="0"/>
              <a:pPr/>
              <a:t>14</a:t>
            </a:fld>
            <a:r>
              <a:rPr lang="en-US" altLang="ko-KR"/>
              <a:t>/28</a:t>
            </a:r>
            <a:endParaRPr lang="ko-KR" altLang="en-US" dirty="0"/>
          </a:p>
        </p:txBody>
      </p:sp>
    </p:spTree>
    <p:extLst>
      <p:ext uri="{BB962C8B-B14F-4D97-AF65-F5344CB8AC3E}">
        <p14:creationId xmlns:p14="http://schemas.microsoft.com/office/powerpoint/2010/main" val="937248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4DB0175-3205-46AE-02D7-1BC51A683E95}"/>
              </a:ext>
            </a:extLst>
          </p:cNvPr>
          <p:cNvSpPr>
            <a:spLocks noGrp="1"/>
          </p:cNvSpPr>
          <p:nvPr>
            <p:ph type="title"/>
          </p:nvPr>
        </p:nvSpPr>
        <p:spPr/>
        <p:txBody>
          <a:bodyPr/>
          <a:lstStyle/>
          <a:p>
            <a:r>
              <a:rPr lang="en-US" altLang="ko-KR" dirty="0"/>
              <a:t>Why AF3?</a:t>
            </a:r>
            <a:endParaRPr lang="ko-KR" altLang="en-US" dirty="0"/>
          </a:p>
        </p:txBody>
      </p:sp>
      <p:sp>
        <p:nvSpPr>
          <p:cNvPr id="3" name="내용 개체 틀 2">
            <a:extLst>
              <a:ext uri="{FF2B5EF4-FFF2-40B4-BE49-F238E27FC236}">
                <a16:creationId xmlns:a16="http://schemas.microsoft.com/office/drawing/2014/main" id="{DDFA6D65-9A40-0CFB-7406-B7FEF74B376E}"/>
              </a:ext>
            </a:extLst>
          </p:cNvPr>
          <p:cNvSpPr>
            <a:spLocks noGrp="1"/>
          </p:cNvSpPr>
          <p:nvPr>
            <p:ph idx="1"/>
          </p:nvPr>
        </p:nvSpPr>
        <p:spPr/>
        <p:txBody>
          <a:bodyPr/>
          <a:lstStyle/>
          <a:p>
            <a:r>
              <a:rPr lang="en-US" altLang="ko-KR" dirty="0"/>
              <a:t>Unified prediction across biomolecular space</a:t>
            </a:r>
          </a:p>
          <a:p>
            <a:r>
              <a:rPr lang="en-US" altLang="ko-KR" dirty="0"/>
              <a:t>Superior accuracy to specialized tools</a:t>
            </a:r>
          </a:p>
          <a:p>
            <a:pPr lvl="1"/>
            <a:r>
              <a:rPr lang="en-US" altLang="ko-KR" dirty="0"/>
              <a:t>Protein-ligand interactions</a:t>
            </a:r>
          </a:p>
          <a:p>
            <a:pPr lvl="1"/>
            <a:r>
              <a:rPr lang="en-US" altLang="ko-KR" dirty="0"/>
              <a:t>Protein-nucleic acid interactions</a:t>
            </a:r>
          </a:p>
          <a:p>
            <a:pPr lvl="1"/>
            <a:r>
              <a:rPr lang="en-US" altLang="ko-KR" dirty="0"/>
              <a:t>Antibody-antigen complexes</a:t>
            </a:r>
          </a:p>
          <a:p>
            <a:pPr lvl="1"/>
            <a:r>
              <a:rPr lang="en-US" altLang="ko-KR" dirty="0"/>
              <a:t>Protein monomers, protein-protein complexes</a:t>
            </a:r>
          </a:p>
          <a:p>
            <a:r>
              <a:rPr lang="en-US" altLang="ko-KR" dirty="0"/>
              <a:t>Diffusion-based architecture that directly predicts joint atom coordinates for arbitrary biomolecular complexes</a:t>
            </a:r>
          </a:p>
          <a:p>
            <a:r>
              <a:rPr lang="en-US" altLang="ko-KR" dirty="0"/>
              <a:t>Less reliance on MSA (via </a:t>
            </a:r>
            <a:r>
              <a:rPr lang="en-US" altLang="ko-KR" dirty="0" err="1"/>
              <a:t>Pairformer</a:t>
            </a:r>
            <a:r>
              <a:rPr lang="en-US" altLang="ko-KR" dirty="0"/>
              <a:t>)</a:t>
            </a:r>
          </a:p>
          <a:p>
            <a:endParaRPr lang="ko-KR" altLang="en-US" dirty="0"/>
          </a:p>
        </p:txBody>
      </p:sp>
      <p:sp>
        <p:nvSpPr>
          <p:cNvPr id="4" name="슬라이드 번호 개체 틀 3">
            <a:extLst>
              <a:ext uri="{FF2B5EF4-FFF2-40B4-BE49-F238E27FC236}">
                <a16:creationId xmlns:a16="http://schemas.microsoft.com/office/drawing/2014/main" id="{54B1B1FF-7755-517F-6D19-6B21A611DAC3}"/>
              </a:ext>
            </a:extLst>
          </p:cNvPr>
          <p:cNvSpPr>
            <a:spLocks noGrp="1"/>
          </p:cNvSpPr>
          <p:nvPr>
            <p:ph type="sldNum" sz="quarter" idx="12"/>
          </p:nvPr>
        </p:nvSpPr>
        <p:spPr/>
        <p:txBody>
          <a:bodyPr/>
          <a:lstStyle/>
          <a:p>
            <a:fld id="{62699DC3-304B-48EC-B099-F95AF3D9844A}" type="slidenum">
              <a:rPr lang="ko-KR" altLang="en-US" smtClean="0"/>
              <a:pPr/>
              <a:t>15</a:t>
            </a:fld>
            <a:r>
              <a:rPr lang="en-US" altLang="ko-KR"/>
              <a:t>/28</a:t>
            </a:r>
            <a:endParaRPr lang="ko-KR" altLang="en-US" dirty="0"/>
          </a:p>
        </p:txBody>
      </p:sp>
    </p:spTree>
    <p:extLst>
      <p:ext uri="{BB962C8B-B14F-4D97-AF65-F5344CB8AC3E}">
        <p14:creationId xmlns:p14="http://schemas.microsoft.com/office/powerpoint/2010/main" val="2372036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9C9F811-B1BA-C284-71D7-8384B3435A5E}"/>
              </a:ext>
            </a:extLst>
          </p:cNvPr>
          <p:cNvSpPr>
            <a:spLocks noGrp="1"/>
          </p:cNvSpPr>
          <p:nvPr>
            <p:ph type="title"/>
          </p:nvPr>
        </p:nvSpPr>
        <p:spPr/>
        <p:txBody>
          <a:bodyPr/>
          <a:lstStyle/>
          <a:p>
            <a:r>
              <a:rPr lang="en-US" altLang="ko-KR" dirty="0"/>
              <a:t>Why AF3?</a:t>
            </a:r>
            <a:endParaRPr lang="ko-KR" altLang="en-US" dirty="0"/>
          </a:p>
        </p:txBody>
      </p:sp>
      <p:pic>
        <p:nvPicPr>
          <p:cNvPr id="5" name="그림 4" descr="텍스트, 도표, 평면도, 스크린샷이(가) 표시된 사진&#10;&#10;AI 생성 콘텐츠는 정확하지 않을 수 있습니다.">
            <a:extLst>
              <a:ext uri="{FF2B5EF4-FFF2-40B4-BE49-F238E27FC236}">
                <a16:creationId xmlns:a16="http://schemas.microsoft.com/office/drawing/2014/main" id="{11D2C6A3-AA02-A3B1-B7C2-2111F0BE2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799548"/>
            <a:ext cx="6615161" cy="4033867"/>
          </a:xfrm>
          <a:prstGeom prst="rect">
            <a:avLst/>
          </a:prstGeom>
        </p:spPr>
      </p:pic>
      <p:pic>
        <p:nvPicPr>
          <p:cNvPr id="7" name="그림 6" descr="스케치, 그림, 예술, 아동 미술이(가) 표시된 사진&#10;&#10;AI 생성 콘텐츠는 정확하지 않을 수 있습니다.">
            <a:extLst>
              <a:ext uri="{FF2B5EF4-FFF2-40B4-BE49-F238E27FC236}">
                <a16:creationId xmlns:a16="http://schemas.microsoft.com/office/drawing/2014/main" id="{BB1125D6-6342-69C6-A190-1E2B4BEA8C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7943" y="819019"/>
            <a:ext cx="3131977" cy="2609981"/>
          </a:xfrm>
          <a:prstGeom prst="rect">
            <a:avLst/>
          </a:prstGeom>
        </p:spPr>
      </p:pic>
      <p:pic>
        <p:nvPicPr>
          <p:cNvPr id="9" name="그림 8" descr="텍스트, 도표, 스크린샷, 평면도이(가) 표시된 사진&#10;&#10;AI 생성 콘텐츠는 정확하지 않을 수 있습니다.">
            <a:extLst>
              <a:ext uri="{FF2B5EF4-FFF2-40B4-BE49-F238E27FC236}">
                <a16:creationId xmlns:a16="http://schemas.microsoft.com/office/drawing/2014/main" id="{122CA8D3-4127-D362-55BB-F720ABE759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0323" y="3755572"/>
            <a:ext cx="4167218" cy="1990740"/>
          </a:xfrm>
          <a:prstGeom prst="rect">
            <a:avLst/>
          </a:prstGeom>
        </p:spPr>
      </p:pic>
      <p:sp>
        <p:nvSpPr>
          <p:cNvPr id="3" name="슬라이드 번호 개체 틀 2">
            <a:extLst>
              <a:ext uri="{FF2B5EF4-FFF2-40B4-BE49-F238E27FC236}">
                <a16:creationId xmlns:a16="http://schemas.microsoft.com/office/drawing/2014/main" id="{47E7B7BE-86A7-1D08-9D2A-FDE2BF038AE4}"/>
              </a:ext>
            </a:extLst>
          </p:cNvPr>
          <p:cNvSpPr>
            <a:spLocks noGrp="1"/>
          </p:cNvSpPr>
          <p:nvPr>
            <p:ph type="sldNum" sz="quarter" idx="12"/>
          </p:nvPr>
        </p:nvSpPr>
        <p:spPr/>
        <p:txBody>
          <a:bodyPr/>
          <a:lstStyle/>
          <a:p>
            <a:fld id="{62699DC3-304B-48EC-B099-F95AF3D9844A}" type="slidenum">
              <a:rPr lang="ko-KR" altLang="en-US" smtClean="0"/>
              <a:pPr/>
              <a:t>16</a:t>
            </a:fld>
            <a:r>
              <a:rPr lang="en-US" altLang="ko-KR"/>
              <a:t>/28</a:t>
            </a:r>
            <a:endParaRPr lang="ko-KR" altLang="en-US" dirty="0"/>
          </a:p>
        </p:txBody>
      </p:sp>
    </p:spTree>
    <p:extLst>
      <p:ext uri="{BB962C8B-B14F-4D97-AF65-F5344CB8AC3E}">
        <p14:creationId xmlns:p14="http://schemas.microsoft.com/office/powerpoint/2010/main" val="3096433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73BEDD5-731F-123D-F3E1-CC14F8D0DB41}"/>
              </a:ext>
            </a:extLst>
          </p:cNvPr>
          <p:cNvSpPr>
            <a:spLocks noGrp="1"/>
          </p:cNvSpPr>
          <p:nvPr>
            <p:ph type="title"/>
          </p:nvPr>
        </p:nvSpPr>
        <p:spPr/>
        <p:txBody>
          <a:bodyPr/>
          <a:lstStyle/>
          <a:p>
            <a:r>
              <a:rPr lang="en-US" altLang="ko-KR" dirty="0"/>
              <a:t>Limitations</a:t>
            </a:r>
            <a:endParaRPr lang="ko-KR" altLang="en-US" dirty="0"/>
          </a:p>
        </p:txBody>
      </p:sp>
      <p:sp>
        <p:nvSpPr>
          <p:cNvPr id="3" name="내용 개체 틀 2">
            <a:extLst>
              <a:ext uri="{FF2B5EF4-FFF2-40B4-BE49-F238E27FC236}">
                <a16:creationId xmlns:a16="http://schemas.microsoft.com/office/drawing/2014/main" id="{67BA0D3C-C7F6-EAF1-FFCC-1426091A06A9}"/>
              </a:ext>
            </a:extLst>
          </p:cNvPr>
          <p:cNvSpPr>
            <a:spLocks noGrp="1"/>
          </p:cNvSpPr>
          <p:nvPr>
            <p:ph idx="1"/>
          </p:nvPr>
        </p:nvSpPr>
        <p:spPr>
          <a:xfrm>
            <a:off x="838199" y="1937659"/>
            <a:ext cx="5617191" cy="4299177"/>
          </a:xfrm>
        </p:spPr>
        <p:txBody>
          <a:bodyPr/>
          <a:lstStyle/>
          <a:p>
            <a:r>
              <a:rPr lang="en-US" altLang="ko-KR" dirty="0"/>
              <a:t>Stereochemistry</a:t>
            </a:r>
          </a:p>
          <a:p>
            <a:pPr lvl="1"/>
            <a:r>
              <a:rPr lang="en-US" altLang="ko-KR" dirty="0"/>
              <a:t>Not always respect chirality</a:t>
            </a:r>
          </a:p>
          <a:p>
            <a:pPr lvl="1"/>
            <a:r>
              <a:rPr lang="en-US" altLang="ko-KR" dirty="0"/>
              <a:t>Occasionally produce overlapping (clashing) atoms in the predictions</a:t>
            </a:r>
          </a:p>
          <a:p>
            <a:r>
              <a:rPr lang="en-US" altLang="ko-KR" dirty="0"/>
              <a:t>Hallucination</a:t>
            </a:r>
          </a:p>
          <a:p>
            <a:r>
              <a:rPr lang="en-US" altLang="ko-KR" dirty="0"/>
              <a:t>Static prediction only – non dynamic</a:t>
            </a:r>
          </a:p>
          <a:p>
            <a:r>
              <a:rPr lang="en-US" altLang="ko-KR" dirty="0"/>
              <a:t>Accuracy for certain targets</a:t>
            </a:r>
            <a:endParaRPr lang="ko-KR" altLang="en-US" dirty="0"/>
          </a:p>
        </p:txBody>
      </p:sp>
      <p:pic>
        <p:nvPicPr>
          <p:cNvPr id="5" name="그림 4" descr="텍스트, 폰트, 도표, 라인이(가) 표시된 사진&#10;&#10;AI 생성 콘텐츠는 정확하지 않을 수 있습니다.">
            <a:extLst>
              <a:ext uri="{FF2B5EF4-FFF2-40B4-BE49-F238E27FC236}">
                <a16:creationId xmlns:a16="http://schemas.microsoft.com/office/drawing/2014/main" id="{A9148CCE-1707-458B-A132-ABD5171A6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7498" y="576878"/>
            <a:ext cx="6177146" cy="1676654"/>
          </a:xfrm>
          <a:prstGeom prst="rect">
            <a:avLst/>
          </a:prstGeom>
        </p:spPr>
      </p:pic>
      <p:pic>
        <p:nvPicPr>
          <p:cNvPr id="7" name="그림 6" descr="스케치, 라인 아트, 예술, 일러스트레이션이(가) 표시된 사진&#10;&#10;AI 생성 콘텐츠는 정확하지 않을 수 있습니다.">
            <a:extLst>
              <a:ext uri="{FF2B5EF4-FFF2-40B4-BE49-F238E27FC236}">
                <a16:creationId xmlns:a16="http://schemas.microsoft.com/office/drawing/2014/main" id="{8D64A843-CB1B-D438-FB98-FD4099A6A3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90066" y="2322308"/>
            <a:ext cx="4676231" cy="2092740"/>
          </a:xfrm>
          <a:prstGeom prst="rect">
            <a:avLst/>
          </a:prstGeom>
        </p:spPr>
      </p:pic>
      <p:pic>
        <p:nvPicPr>
          <p:cNvPr id="9" name="그림 8" descr="그림, 아동 미술, 스케치, 지도이(가) 표시된 사진&#10;&#10;AI 생성 콘텐츠는 정확하지 않을 수 있습니다.">
            <a:extLst>
              <a:ext uri="{FF2B5EF4-FFF2-40B4-BE49-F238E27FC236}">
                <a16:creationId xmlns:a16="http://schemas.microsoft.com/office/drawing/2014/main" id="{FBED3EFD-8B3C-80A4-EC3E-6CD09127CC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17154" y="4483824"/>
            <a:ext cx="4735726" cy="1898680"/>
          </a:xfrm>
          <a:prstGeom prst="rect">
            <a:avLst/>
          </a:prstGeom>
        </p:spPr>
      </p:pic>
      <p:sp>
        <p:nvSpPr>
          <p:cNvPr id="4" name="슬라이드 번호 개체 틀 3">
            <a:extLst>
              <a:ext uri="{FF2B5EF4-FFF2-40B4-BE49-F238E27FC236}">
                <a16:creationId xmlns:a16="http://schemas.microsoft.com/office/drawing/2014/main" id="{0FFEDF69-73CB-3E46-55EB-D3716417FE96}"/>
              </a:ext>
            </a:extLst>
          </p:cNvPr>
          <p:cNvSpPr>
            <a:spLocks noGrp="1"/>
          </p:cNvSpPr>
          <p:nvPr>
            <p:ph type="sldNum" sz="quarter" idx="12"/>
          </p:nvPr>
        </p:nvSpPr>
        <p:spPr/>
        <p:txBody>
          <a:bodyPr/>
          <a:lstStyle/>
          <a:p>
            <a:fld id="{62699DC3-304B-48EC-B099-F95AF3D9844A}" type="slidenum">
              <a:rPr lang="ko-KR" altLang="en-US" smtClean="0"/>
              <a:pPr/>
              <a:t>17</a:t>
            </a:fld>
            <a:r>
              <a:rPr lang="en-US" altLang="ko-KR"/>
              <a:t>/28</a:t>
            </a:r>
            <a:endParaRPr lang="ko-KR" altLang="en-US" dirty="0"/>
          </a:p>
        </p:txBody>
      </p:sp>
    </p:spTree>
    <p:extLst>
      <p:ext uri="{BB962C8B-B14F-4D97-AF65-F5344CB8AC3E}">
        <p14:creationId xmlns:p14="http://schemas.microsoft.com/office/powerpoint/2010/main" val="1707211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E2E5E-6CDC-4931-34BE-3D04BBD2B27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B357B04-FF27-B1AE-63FC-AB64F05ED091}"/>
              </a:ext>
            </a:extLst>
          </p:cNvPr>
          <p:cNvSpPr>
            <a:spLocks noGrp="1"/>
          </p:cNvSpPr>
          <p:nvPr>
            <p:ph type="title"/>
          </p:nvPr>
        </p:nvSpPr>
        <p:spPr/>
        <p:txBody>
          <a:bodyPr/>
          <a:lstStyle/>
          <a:p>
            <a:r>
              <a:rPr lang="en-US" altLang="ko-KR" dirty="0"/>
              <a:t>Alphafold3: open-source code</a:t>
            </a:r>
            <a:endParaRPr lang="ko-KR" altLang="en-US" dirty="0"/>
          </a:p>
        </p:txBody>
      </p:sp>
      <p:pic>
        <p:nvPicPr>
          <p:cNvPr id="9" name="그림 8" descr="텍스트, 스크린샷, 폰트, 번호이(가) 표시된 사진&#10;&#10;AI 생성 콘텐츠는 정확하지 않을 수 있습니다.">
            <a:extLst>
              <a:ext uri="{FF2B5EF4-FFF2-40B4-BE49-F238E27FC236}">
                <a16:creationId xmlns:a16="http://schemas.microsoft.com/office/drawing/2014/main" id="{23E718F6-EBC9-14ED-A18C-AA970A7AA5CF}"/>
              </a:ext>
            </a:extLst>
          </p:cNvPr>
          <p:cNvPicPr>
            <a:picLocks noChangeAspect="1"/>
          </p:cNvPicPr>
          <p:nvPr/>
        </p:nvPicPr>
        <p:blipFill>
          <a:blip r:embed="rId3">
            <a:extLst>
              <a:ext uri="{28A0092B-C50C-407E-A947-70E740481C1C}">
                <a14:useLocalDpi xmlns:a14="http://schemas.microsoft.com/office/drawing/2010/main" val="0"/>
              </a:ext>
            </a:extLst>
          </a:blip>
          <a:srcRect t="2130"/>
          <a:stretch>
            <a:fillRect/>
          </a:stretch>
        </p:blipFill>
        <p:spPr>
          <a:xfrm>
            <a:off x="1864488" y="1578429"/>
            <a:ext cx="8463024" cy="4805586"/>
          </a:xfrm>
          <a:prstGeom prst="rect">
            <a:avLst/>
          </a:prstGeom>
        </p:spPr>
      </p:pic>
      <p:pic>
        <p:nvPicPr>
          <p:cNvPr id="11" name="그림 10" descr="텍스트, 폰트, 스크린샷이(가) 표시된 사진&#10;&#10;AI 생성 콘텐츠는 정확하지 않을 수 있습니다.">
            <a:extLst>
              <a:ext uri="{FF2B5EF4-FFF2-40B4-BE49-F238E27FC236}">
                <a16:creationId xmlns:a16="http://schemas.microsoft.com/office/drawing/2014/main" id="{825DB2F8-A584-484F-ED33-C6627466C2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8994" y="2723159"/>
            <a:ext cx="4618518" cy="1152806"/>
          </a:xfrm>
          <a:prstGeom prst="rect">
            <a:avLst/>
          </a:prstGeom>
        </p:spPr>
      </p:pic>
      <p:sp>
        <p:nvSpPr>
          <p:cNvPr id="3" name="슬라이드 번호 개체 틀 2">
            <a:extLst>
              <a:ext uri="{FF2B5EF4-FFF2-40B4-BE49-F238E27FC236}">
                <a16:creationId xmlns:a16="http://schemas.microsoft.com/office/drawing/2014/main" id="{D5B94BEA-01F5-A398-F776-0B613AA796CB}"/>
              </a:ext>
            </a:extLst>
          </p:cNvPr>
          <p:cNvSpPr>
            <a:spLocks noGrp="1"/>
          </p:cNvSpPr>
          <p:nvPr>
            <p:ph type="sldNum" sz="quarter" idx="12"/>
          </p:nvPr>
        </p:nvSpPr>
        <p:spPr/>
        <p:txBody>
          <a:bodyPr/>
          <a:lstStyle/>
          <a:p>
            <a:fld id="{62699DC3-304B-48EC-B099-F95AF3D9844A}" type="slidenum">
              <a:rPr lang="ko-KR" altLang="en-US" smtClean="0"/>
              <a:pPr/>
              <a:t>18</a:t>
            </a:fld>
            <a:r>
              <a:rPr lang="en-US" altLang="ko-KR"/>
              <a:t>/28</a:t>
            </a:r>
            <a:endParaRPr lang="ko-KR" altLang="en-US" dirty="0"/>
          </a:p>
        </p:txBody>
      </p:sp>
    </p:spTree>
    <p:extLst>
      <p:ext uri="{BB962C8B-B14F-4D97-AF65-F5344CB8AC3E}">
        <p14:creationId xmlns:p14="http://schemas.microsoft.com/office/powerpoint/2010/main" val="4191416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A991D-A995-195E-90EC-CCC2EB23F53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1037CBE-F939-26E1-89B9-198F7CCA6DB5}"/>
              </a:ext>
            </a:extLst>
          </p:cNvPr>
          <p:cNvSpPr>
            <a:spLocks noGrp="1"/>
          </p:cNvSpPr>
          <p:nvPr>
            <p:ph type="title"/>
          </p:nvPr>
        </p:nvSpPr>
        <p:spPr/>
        <p:txBody>
          <a:bodyPr/>
          <a:lstStyle/>
          <a:p>
            <a:r>
              <a:rPr lang="en-US" altLang="ko-KR" dirty="0"/>
              <a:t>Alphafold3: open-source code</a:t>
            </a:r>
            <a:endParaRPr lang="ko-KR" altLang="en-US" dirty="0"/>
          </a:p>
        </p:txBody>
      </p:sp>
      <p:pic>
        <p:nvPicPr>
          <p:cNvPr id="5" name="그림 4" descr="텍스트, 스크린샷, 폰트, 소프트웨어이(가) 표시된 사진&#10;&#10;AI 생성 콘텐츠는 정확하지 않을 수 있습니다.">
            <a:extLst>
              <a:ext uri="{FF2B5EF4-FFF2-40B4-BE49-F238E27FC236}">
                <a16:creationId xmlns:a16="http://schemas.microsoft.com/office/drawing/2014/main" id="{877C62AE-CA51-33E7-2EB4-397D5A733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431568"/>
            <a:ext cx="7217229" cy="3893589"/>
          </a:xfrm>
          <a:prstGeom prst="rect">
            <a:avLst/>
          </a:prstGeom>
        </p:spPr>
      </p:pic>
      <p:pic>
        <p:nvPicPr>
          <p:cNvPr id="7" name="그림 6" descr="텍스트, 스크린샷이(가) 표시된 사진&#10;&#10;AI 생성 콘텐츠는 정확하지 않을 수 있습니다.">
            <a:extLst>
              <a:ext uri="{FF2B5EF4-FFF2-40B4-BE49-F238E27FC236}">
                <a16:creationId xmlns:a16="http://schemas.microsoft.com/office/drawing/2014/main" id="{A390D1CD-F056-502B-9F69-E3811571F7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431568"/>
            <a:ext cx="10554028" cy="3893589"/>
          </a:xfrm>
          <a:prstGeom prst="rect">
            <a:avLst/>
          </a:prstGeom>
        </p:spPr>
      </p:pic>
      <p:sp>
        <p:nvSpPr>
          <p:cNvPr id="4" name="TextBox 3">
            <a:extLst>
              <a:ext uri="{FF2B5EF4-FFF2-40B4-BE49-F238E27FC236}">
                <a16:creationId xmlns:a16="http://schemas.microsoft.com/office/drawing/2014/main" id="{A2B007AD-3332-2A4F-EC6F-6F37A9DA175D}"/>
              </a:ext>
            </a:extLst>
          </p:cNvPr>
          <p:cNvSpPr txBox="1"/>
          <p:nvPr/>
        </p:nvSpPr>
        <p:spPr>
          <a:xfrm>
            <a:off x="776216" y="1930892"/>
            <a:ext cx="7569389" cy="369332"/>
          </a:xfrm>
          <a:prstGeom prst="rect">
            <a:avLst/>
          </a:prstGeom>
          <a:noFill/>
        </p:spPr>
        <p:txBody>
          <a:bodyPr wrap="square">
            <a:spAutoFit/>
          </a:bodyPr>
          <a:lstStyle/>
          <a:p>
            <a:r>
              <a:rPr lang="ko-KR" altLang="en-US" dirty="0">
                <a:solidFill>
                  <a:srgbClr val="5D5D5D"/>
                </a:solidFill>
                <a:hlinkClick r:id="rId5"/>
              </a:rPr>
              <a:t>https://github.com/google-deepmind/alphafold3?tab=readme-ov-file</a:t>
            </a:r>
            <a:r>
              <a:rPr lang="ko-KR" altLang="en-US" dirty="0">
                <a:solidFill>
                  <a:srgbClr val="5D5D5D"/>
                </a:solidFill>
              </a:rPr>
              <a:t> </a:t>
            </a:r>
          </a:p>
        </p:txBody>
      </p:sp>
      <p:sp>
        <p:nvSpPr>
          <p:cNvPr id="3" name="슬라이드 번호 개체 틀 2">
            <a:extLst>
              <a:ext uri="{FF2B5EF4-FFF2-40B4-BE49-F238E27FC236}">
                <a16:creationId xmlns:a16="http://schemas.microsoft.com/office/drawing/2014/main" id="{8C755DF9-8AD6-D5C6-97AD-36A0D695F73F}"/>
              </a:ext>
            </a:extLst>
          </p:cNvPr>
          <p:cNvSpPr>
            <a:spLocks noGrp="1"/>
          </p:cNvSpPr>
          <p:nvPr>
            <p:ph type="sldNum" sz="quarter" idx="12"/>
          </p:nvPr>
        </p:nvSpPr>
        <p:spPr/>
        <p:txBody>
          <a:bodyPr/>
          <a:lstStyle/>
          <a:p>
            <a:fld id="{62699DC3-304B-48EC-B099-F95AF3D9844A}" type="slidenum">
              <a:rPr lang="ko-KR" altLang="en-US" smtClean="0"/>
              <a:pPr/>
              <a:t>19</a:t>
            </a:fld>
            <a:r>
              <a:rPr lang="en-US" altLang="ko-KR"/>
              <a:t>/28</a:t>
            </a:r>
            <a:endParaRPr lang="ko-KR" altLang="en-US" dirty="0"/>
          </a:p>
        </p:txBody>
      </p:sp>
    </p:spTree>
    <p:extLst>
      <p:ext uri="{BB962C8B-B14F-4D97-AF65-F5344CB8AC3E}">
        <p14:creationId xmlns:p14="http://schemas.microsoft.com/office/powerpoint/2010/main" val="317010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B896-50A3-B629-B020-51C482AF5F4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D3C6EC7-BA13-AD42-92CD-73B5650EC904}"/>
              </a:ext>
            </a:extLst>
          </p:cNvPr>
          <p:cNvSpPr>
            <a:spLocks noGrp="1"/>
          </p:cNvSpPr>
          <p:nvPr>
            <p:ph type="title"/>
          </p:nvPr>
        </p:nvSpPr>
        <p:spPr/>
        <p:txBody>
          <a:bodyPr/>
          <a:lstStyle/>
          <a:p>
            <a:r>
              <a:rPr lang="en-US" altLang="ko-KR" dirty="0"/>
              <a:t>Alphafold3: open-source code</a:t>
            </a:r>
            <a:endParaRPr lang="ko-KR" altLang="en-US" dirty="0"/>
          </a:p>
        </p:txBody>
      </p:sp>
      <p:sp>
        <p:nvSpPr>
          <p:cNvPr id="4" name="TextBox 3">
            <a:extLst>
              <a:ext uri="{FF2B5EF4-FFF2-40B4-BE49-F238E27FC236}">
                <a16:creationId xmlns:a16="http://schemas.microsoft.com/office/drawing/2014/main" id="{3C4D2CAC-CBCB-98B0-F67E-2053A40EC230}"/>
              </a:ext>
            </a:extLst>
          </p:cNvPr>
          <p:cNvSpPr txBox="1"/>
          <p:nvPr/>
        </p:nvSpPr>
        <p:spPr>
          <a:xfrm>
            <a:off x="776216" y="1930892"/>
            <a:ext cx="7569389" cy="369332"/>
          </a:xfrm>
          <a:prstGeom prst="rect">
            <a:avLst/>
          </a:prstGeom>
          <a:noFill/>
        </p:spPr>
        <p:txBody>
          <a:bodyPr wrap="square">
            <a:spAutoFit/>
          </a:bodyPr>
          <a:lstStyle/>
          <a:p>
            <a:r>
              <a:rPr lang="nl-BE" altLang="ko-KR" dirty="0">
                <a:solidFill>
                  <a:srgbClr val="5D5D5D"/>
                </a:solidFill>
                <a:hlinkClick r:id="rId3"/>
              </a:rPr>
              <a:t>https://alphafoldserver.com/welcome</a:t>
            </a:r>
            <a:r>
              <a:rPr lang="nl-BE" altLang="ko-KR" dirty="0">
                <a:solidFill>
                  <a:srgbClr val="5D5D5D"/>
                </a:solidFill>
              </a:rPr>
              <a:t> </a:t>
            </a:r>
            <a:endParaRPr lang="ko-KR" altLang="en-US" dirty="0">
              <a:solidFill>
                <a:srgbClr val="5D5D5D"/>
              </a:solidFill>
            </a:endParaRPr>
          </a:p>
        </p:txBody>
      </p:sp>
      <p:pic>
        <p:nvPicPr>
          <p:cNvPr id="6" name="그림 5" descr="스크린샷, 텍스트, 그래픽 디자인, 그래픽이(가) 표시된 사진&#10;&#10;AI 생성 콘텐츠는 정확하지 않을 수 있습니다.">
            <a:extLst>
              <a:ext uri="{FF2B5EF4-FFF2-40B4-BE49-F238E27FC236}">
                <a16:creationId xmlns:a16="http://schemas.microsoft.com/office/drawing/2014/main" id="{9E34FD3B-5BDE-A6CC-2CA1-D37E9832F0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095" y="2378891"/>
            <a:ext cx="7833815" cy="3691065"/>
          </a:xfrm>
          <a:prstGeom prst="rect">
            <a:avLst/>
          </a:prstGeom>
          <a:ln>
            <a:noFill/>
          </a:ln>
          <a:effectLst>
            <a:outerShdw blurRad="292100" dist="139700" dir="2700000" algn="tl" rotWithShape="0">
              <a:srgbClr val="333333">
                <a:alpha val="65000"/>
              </a:srgbClr>
            </a:outerShdw>
          </a:effectLst>
        </p:spPr>
      </p:pic>
      <p:pic>
        <p:nvPicPr>
          <p:cNvPr id="9" name="그림 8"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38A1AAB4-1503-515A-21A5-240210A424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6963" y="2717181"/>
            <a:ext cx="7096837" cy="3681192"/>
          </a:xfrm>
          <a:prstGeom prst="rect">
            <a:avLst/>
          </a:prstGeom>
          <a:ln>
            <a:noFill/>
          </a:ln>
          <a:effectLst>
            <a:outerShdw blurRad="292100" dist="139700" dir="2700000" algn="tl" rotWithShape="0">
              <a:srgbClr val="333333">
                <a:alpha val="65000"/>
              </a:srgbClr>
            </a:outerShdw>
          </a:effectLst>
        </p:spPr>
      </p:pic>
      <p:sp>
        <p:nvSpPr>
          <p:cNvPr id="3" name="슬라이드 번호 개체 틀 2">
            <a:extLst>
              <a:ext uri="{FF2B5EF4-FFF2-40B4-BE49-F238E27FC236}">
                <a16:creationId xmlns:a16="http://schemas.microsoft.com/office/drawing/2014/main" id="{F28D3C1C-ED72-F7FD-C9C0-CD3CCC8A9F24}"/>
              </a:ext>
            </a:extLst>
          </p:cNvPr>
          <p:cNvSpPr>
            <a:spLocks noGrp="1"/>
          </p:cNvSpPr>
          <p:nvPr>
            <p:ph type="sldNum" sz="quarter" idx="12"/>
          </p:nvPr>
        </p:nvSpPr>
        <p:spPr/>
        <p:txBody>
          <a:bodyPr/>
          <a:lstStyle/>
          <a:p>
            <a:fld id="{62699DC3-304B-48EC-B099-F95AF3D9844A}" type="slidenum">
              <a:rPr lang="ko-KR" altLang="en-US" smtClean="0"/>
              <a:pPr/>
              <a:t>20</a:t>
            </a:fld>
            <a:r>
              <a:rPr lang="en-US" altLang="ko-KR"/>
              <a:t>/28</a:t>
            </a:r>
            <a:endParaRPr lang="ko-KR" altLang="en-US" dirty="0"/>
          </a:p>
        </p:txBody>
      </p:sp>
    </p:spTree>
    <p:extLst>
      <p:ext uri="{BB962C8B-B14F-4D97-AF65-F5344CB8AC3E}">
        <p14:creationId xmlns:p14="http://schemas.microsoft.com/office/powerpoint/2010/main" val="1116957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CEF187-37EB-5718-5299-02B4CB9A99EA}"/>
              </a:ext>
            </a:extLst>
          </p:cNvPr>
          <p:cNvSpPr>
            <a:spLocks noGrp="1"/>
          </p:cNvSpPr>
          <p:nvPr>
            <p:ph type="title"/>
          </p:nvPr>
        </p:nvSpPr>
        <p:spPr/>
        <p:txBody>
          <a:bodyPr>
            <a:normAutofit/>
          </a:bodyPr>
          <a:lstStyle/>
          <a:p>
            <a:r>
              <a:rPr lang="en-US" altLang="ko-KR" dirty="0"/>
              <a:t>Case study: </a:t>
            </a:r>
            <a:r>
              <a:rPr lang="en-US" altLang="ko-KR" dirty="0" err="1"/>
              <a:t>PspGI</a:t>
            </a:r>
            <a:r>
              <a:rPr lang="en-US" altLang="ko-KR" dirty="0"/>
              <a:t> methyltransferase</a:t>
            </a:r>
            <a:endParaRPr lang="ko-KR" altLang="en-US" dirty="0"/>
          </a:p>
        </p:txBody>
      </p:sp>
      <p:pic>
        <p:nvPicPr>
          <p:cNvPr id="9" name="그림 8" descr="텍스트, 스크린샷, 폰트, 번호이(가) 표시된 사진&#10;&#10;AI 생성 콘텐츠는 정확하지 않을 수 있습니다.">
            <a:extLst>
              <a:ext uri="{FF2B5EF4-FFF2-40B4-BE49-F238E27FC236}">
                <a16:creationId xmlns:a16="http://schemas.microsoft.com/office/drawing/2014/main" id="{B5CACECC-7672-6CCC-A8B8-3C88F200ED8C}"/>
              </a:ext>
            </a:extLst>
          </p:cNvPr>
          <p:cNvPicPr>
            <a:picLocks noChangeAspect="1"/>
          </p:cNvPicPr>
          <p:nvPr/>
        </p:nvPicPr>
        <p:blipFill>
          <a:blip r:embed="rId3">
            <a:extLst>
              <a:ext uri="{28A0092B-C50C-407E-A947-70E740481C1C}">
                <a14:useLocalDpi xmlns:a14="http://schemas.microsoft.com/office/drawing/2010/main" val="0"/>
              </a:ext>
            </a:extLst>
          </a:blip>
          <a:srcRect b="6456"/>
          <a:stretch>
            <a:fillRect/>
          </a:stretch>
        </p:blipFill>
        <p:spPr>
          <a:xfrm>
            <a:off x="1219200" y="1799548"/>
            <a:ext cx="8267532" cy="4315186"/>
          </a:xfrm>
          <a:prstGeom prst="rect">
            <a:avLst/>
          </a:prstGeom>
        </p:spPr>
      </p:pic>
      <p:sp>
        <p:nvSpPr>
          <p:cNvPr id="3" name="슬라이드 번호 개체 틀 2">
            <a:extLst>
              <a:ext uri="{FF2B5EF4-FFF2-40B4-BE49-F238E27FC236}">
                <a16:creationId xmlns:a16="http://schemas.microsoft.com/office/drawing/2014/main" id="{F27FA57D-5C0F-F7F5-6944-C31011EDBE24}"/>
              </a:ext>
            </a:extLst>
          </p:cNvPr>
          <p:cNvSpPr>
            <a:spLocks noGrp="1"/>
          </p:cNvSpPr>
          <p:nvPr>
            <p:ph type="sldNum" sz="quarter" idx="12"/>
          </p:nvPr>
        </p:nvSpPr>
        <p:spPr/>
        <p:txBody>
          <a:bodyPr/>
          <a:lstStyle/>
          <a:p>
            <a:fld id="{62699DC3-304B-48EC-B099-F95AF3D9844A}" type="slidenum">
              <a:rPr lang="ko-KR" altLang="en-US" smtClean="0"/>
              <a:pPr/>
              <a:t>21</a:t>
            </a:fld>
            <a:r>
              <a:rPr lang="en-US" altLang="ko-KR"/>
              <a:t>/28</a:t>
            </a:r>
            <a:endParaRPr lang="ko-KR" altLang="en-US" dirty="0"/>
          </a:p>
        </p:txBody>
      </p:sp>
    </p:spTree>
    <p:extLst>
      <p:ext uri="{BB962C8B-B14F-4D97-AF65-F5344CB8AC3E}">
        <p14:creationId xmlns:p14="http://schemas.microsoft.com/office/powerpoint/2010/main" val="2743890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87AD3-65D4-907E-2F1F-561B61ECF9C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AB9B1DF-BAAD-CB7B-9BBA-3356574E7E62}"/>
              </a:ext>
            </a:extLst>
          </p:cNvPr>
          <p:cNvSpPr>
            <a:spLocks noGrp="1"/>
          </p:cNvSpPr>
          <p:nvPr>
            <p:ph type="title"/>
          </p:nvPr>
        </p:nvSpPr>
        <p:spPr/>
        <p:txBody>
          <a:bodyPr>
            <a:normAutofit/>
          </a:bodyPr>
          <a:lstStyle/>
          <a:p>
            <a:r>
              <a:rPr lang="en-US" altLang="ko-KR" dirty="0"/>
              <a:t>Case study: </a:t>
            </a:r>
            <a:r>
              <a:rPr lang="en-US" altLang="ko-KR" dirty="0" err="1"/>
              <a:t>PspGI</a:t>
            </a:r>
            <a:r>
              <a:rPr lang="en-US" altLang="ko-KR" dirty="0"/>
              <a:t> methyltransferase</a:t>
            </a:r>
            <a:endParaRPr lang="ko-KR" altLang="en-US" dirty="0"/>
          </a:p>
        </p:txBody>
      </p:sp>
      <p:pic>
        <p:nvPicPr>
          <p:cNvPr id="1026" name="Picture 2">
            <a:extLst>
              <a:ext uri="{FF2B5EF4-FFF2-40B4-BE49-F238E27FC236}">
                <a16:creationId xmlns:a16="http://schemas.microsoft.com/office/drawing/2014/main" id="{EB95D846-B522-0E10-5F43-84CED57F285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5170" t="23533" r="42597" b="21518"/>
          <a:stretch>
            <a:fillRect/>
          </a:stretch>
        </p:blipFill>
        <p:spPr bwMode="auto">
          <a:xfrm>
            <a:off x="293914" y="2253341"/>
            <a:ext cx="6001393" cy="34181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742E311-6311-05C4-E1FE-70F751BD72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4857" y="1433173"/>
            <a:ext cx="5752819" cy="50584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91F874F-160A-992B-8865-605C6EDB8B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4856" y="1433173"/>
            <a:ext cx="5752819" cy="5058453"/>
          </a:xfrm>
          <a:prstGeom prst="rect">
            <a:avLst/>
          </a:prstGeom>
          <a:noFill/>
          <a:extLst>
            <a:ext uri="{909E8E84-426E-40DD-AFC4-6F175D3DCCD1}">
              <a14:hiddenFill xmlns:a14="http://schemas.microsoft.com/office/drawing/2010/main">
                <a:solidFill>
                  <a:srgbClr val="FFFFFF"/>
                </a:solidFill>
              </a14:hiddenFill>
            </a:ext>
          </a:extLst>
        </p:spPr>
      </p:pic>
      <p:sp>
        <p:nvSpPr>
          <p:cNvPr id="4" name="직사각형 3">
            <a:extLst>
              <a:ext uri="{FF2B5EF4-FFF2-40B4-BE49-F238E27FC236}">
                <a16:creationId xmlns:a16="http://schemas.microsoft.com/office/drawing/2014/main" id="{FA2A55FE-C5FF-E690-E056-E81F1FECAEE0}"/>
              </a:ext>
            </a:extLst>
          </p:cNvPr>
          <p:cNvSpPr/>
          <p:nvPr/>
        </p:nvSpPr>
        <p:spPr>
          <a:xfrm>
            <a:off x="555171" y="1660069"/>
            <a:ext cx="1349829" cy="36637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dirty="0" err="1">
                <a:latin typeface="Calibri" panose="020F0502020204030204" pitchFamily="34" charset="0"/>
                <a:ea typeface="Calibri" panose="020F0502020204030204" pitchFamily="34" charset="0"/>
                <a:cs typeface="Calibri" panose="020F0502020204030204" pitchFamily="34" charset="0"/>
              </a:rPr>
              <a:t>Alphafold</a:t>
            </a:r>
            <a:endParaRPr lang="ko-KR" altLang="en-US" dirty="0">
              <a:latin typeface="Calibri" panose="020F0502020204030204" pitchFamily="34" charset="0"/>
              <a:cs typeface="Calibri" panose="020F0502020204030204" pitchFamily="34" charset="0"/>
            </a:endParaRPr>
          </a:p>
        </p:txBody>
      </p:sp>
      <p:sp>
        <p:nvSpPr>
          <p:cNvPr id="3" name="슬라이드 번호 개체 틀 2">
            <a:extLst>
              <a:ext uri="{FF2B5EF4-FFF2-40B4-BE49-F238E27FC236}">
                <a16:creationId xmlns:a16="http://schemas.microsoft.com/office/drawing/2014/main" id="{9EEF6D08-40FF-8D97-4847-A45F1C6F1D41}"/>
              </a:ext>
            </a:extLst>
          </p:cNvPr>
          <p:cNvSpPr>
            <a:spLocks noGrp="1"/>
          </p:cNvSpPr>
          <p:nvPr>
            <p:ph type="sldNum" sz="quarter" idx="12"/>
          </p:nvPr>
        </p:nvSpPr>
        <p:spPr/>
        <p:txBody>
          <a:bodyPr/>
          <a:lstStyle/>
          <a:p>
            <a:fld id="{62699DC3-304B-48EC-B099-F95AF3D9844A}" type="slidenum">
              <a:rPr lang="ko-KR" altLang="en-US" smtClean="0"/>
              <a:pPr/>
              <a:t>22</a:t>
            </a:fld>
            <a:r>
              <a:rPr lang="en-US" altLang="ko-KR"/>
              <a:t>/28</a:t>
            </a:r>
            <a:endParaRPr lang="ko-KR" altLang="en-US" dirty="0"/>
          </a:p>
        </p:txBody>
      </p:sp>
    </p:spTree>
    <p:extLst>
      <p:ext uri="{BB962C8B-B14F-4D97-AF65-F5344CB8AC3E}">
        <p14:creationId xmlns:p14="http://schemas.microsoft.com/office/powerpoint/2010/main" val="335623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10E49-6A54-18E5-9838-81546084939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78692F8-EF58-2009-9DAC-CE69B0A6E8EE}"/>
              </a:ext>
            </a:extLst>
          </p:cNvPr>
          <p:cNvSpPr>
            <a:spLocks noGrp="1"/>
          </p:cNvSpPr>
          <p:nvPr>
            <p:ph type="title"/>
          </p:nvPr>
        </p:nvSpPr>
        <p:spPr/>
        <p:txBody>
          <a:bodyPr>
            <a:normAutofit/>
          </a:bodyPr>
          <a:lstStyle/>
          <a:p>
            <a:r>
              <a:rPr lang="en-US" altLang="ko-KR" dirty="0"/>
              <a:t>Case study: </a:t>
            </a:r>
            <a:r>
              <a:rPr lang="en-US" altLang="ko-KR" dirty="0" err="1"/>
              <a:t>PspGI</a:t>
            </a:r>
            <a:r>
              <a:rPr lang="en-US" altLang="ko-KR" dirty="0"/>
              <a:t> methyltransferase</a:t>
            </a:r>
            <a:endParaRPr lang="ko-KR" altLang="en-US" dirty="0"/>
          </a:p>
        </p:txBody>
      </p:sp>
      <p:sp>
        <p:nvSpPr>
          <p:cNvPr id="4" name="직사각형 3">
            <a:extLst>
              <a:ext uri="{FF2B5EF4-FFF2-40B4-BE49-F238E27FC236}">
                <a16:creationId xmlns:a16="http://schemas.microsoft.com/office/drawing/2014/main" id="{B9F454D3-BDF5-C9BF-9CFF-ABDBAEFBD8C0}"/>
              </a:ext>
            </a:extLst>
          </p:cNvPr>
          <p:cNvSpPr/>
          <p:nvPr/>
        </p:nvSpPr>
        <p:spPr>
          <a:xfrm>
            <a:off x="555171" y="1660069"/>
            <a:ext cx="1349829" cy="36637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dirty="0" err="1">
                <a:latin typeface="Calibri" panose="020F0502020204030204" pitchFamily="34" charset="0"/>
                <a:ea typeface="Calibri" panose="020F0502020204030204" pitchFamily="34" charset="0"/>
                <a:cs typeface="Calibri" panose="020F0502020204030204" pitchFamily="34" charset="0"/>
              </a:rPr>
              <a:t>Alphafold</a:t>
            </a:r>
            <a:r>
              <a:rPr lang="en-US" altLang="ko-KR" dirty="0">
                <a:latin typeface="Calibri" panose="020F0502020204030204" pitchFamily="34" charset="0"/>
                <a:ea typeface="Calibri" panose="020F0502020204030204" pitchFamily="34" charset="0"/>
                <a:cs typeface="Calibri" panose="020F0502020204030204" pitchFamily="34" charset="0"/>
              </a:rPr>
              <a:t> 2</a:t>
            </a:r>
            <a:endParaRPr lang="ko-KR" altLang="en-US" dirty="0">
              <a:latin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8794FCA7-798C-6322-640D-618DB574F7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54" t="19626" r="36987" b="17290"/>
          <a:stretch>
            <a:fillRect/>
          </a:stretch>
        </p:blipFill>
        <p:spPr bwMode="auto">
          <a:xfrm>
            <a:off x="3029376" y="1843256"/>
            <a:ext cx="7200047" cy="43944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5B208AE-2A9C-1CF2-63E5-7CB596155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8825" y="1447800"/>
            <a:ext cx="9201150" cy="5029200"/>
          </a:xfrm>
          <a:prstGeom prst="rect">
            <a:avLst/>
          </a:prstGeom>
          <a:noFill/>
          <a:extLst>
            <a:ext uri="{909E8E84-426E-40DD-AFC4-6F175D3DCCD1}">
              <a14:hiddenFill xmlns:a14="http://schemas.microsoft.com/office/drawing/2010/main">
                <a:solidFill>
                  <a:srgbClr val="FFFFFF"/>
                </a:solidFill>
              </a14:hiddenFill>
            </a:ext>
          </a:extLst>
        </p:spPr>
      </p:pic>
      <p:sp>
        <p:nvSpPr>
          <p:cNvPr id="3" name="슬라이드 번호 개체 틀 2">
            <a:extLst>
              <a:ext uri="{FF2B5EF4-FFF2-40B4-BE49-F238E27FC236}">
                <a16:creationId xmlns:a16="http://schemas.microsoft.com/office/drawing/2014/main" id="{1CBAEB9E-EF2C-5D9A-F5CF-730ADF8A52FD}"/>
              </a:ext>
            </a:extLst>
          </p:cNvPr>
          <p:cNvSpPr>
            <a:spLocks noGrp="1"/>
          </p:cNvSpPr>
          <p:nvPr>
            <p:ph type="sldNum" sz="quarter" idx="12"/>
          </p:nvPr>
        </p:nvSpPr>
        <p:spPr/>
        <p:txBody>
          <a:bodyPr/>
          <a:lstStyle/>
          <a:p>
            <a:fld id="{62699DC3-304B-48EC-B099-F95AF3D9844A}" type="slidenum">
              <a:rPr lang="ko-KR" altLang="en-US" smtClean="0"/>
              <a:pPr/>
              <a:t>23</a:t>
            </a:fld>
            <a:r>
              <a:rPr lang="en-US" altLang="ko-KR"/>
              <a:t>/28</a:t>
            </a:r>
            <a:endParaRPr lang="ko-KR" altLang="en-US" dirty="0"/>
          </a:p>
        </p:txBody>
      </p:sp>
    </p:spTree>
    <p:extLst>
      <p:ext uri="{BB962C8B-B14F-4D97-AF65-F5344CB8AC3E}">
        <p14:creationId xmlns:p14="http://schemas.microsoft.com/office/powerpoint/2010/main" val="50889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B9B6B9-A7C6-8832-C8BE-185E0DF934D5}"/>
              </a:ext>
            </a:extLst>
          </p:cNvPr>
          <p:cNvSpPr>
            <a:spLocks noGrp="1"/>
          </p:cNvSpPr>
          <p:nvPr>
            <p:ph type="title"/>
          </p:nvPr>
        </p:nvSpPr>
        <p:spPr/>
        <p:txBody>
          <a:bodyPr/>
          <a:lstStyle/>
          <a:p>
            <a:r>
              <a:rPr lang="en-US" altLang="ko-KR" dirty="0"/>
              <a:t>Case study: </a:t>
            </a:r>
            <a:r>
              <a:rPr lang="en-US" altLang="ko-KR" dirty="0" err="1"/>
              <a:t>PspGI</a:t>
            </a:r>
            <a:r>
              <a:rPr lang="en-US" altLang="ko-KR" dirty="0"/>
              <a:t> methyltransferase</a:t>
            </a:r>
            <a:endParaRPr lang="ko-KR" altLang="en-US" dirty="0"/>
          </a:p>
        </p:txBody>
      </p:sp>
      <p:sp>
        <p:nvSpPr>
          <p:cNvPr id="4" name="직사각형 3">
            <a:extLst>
              <a:ext uri="{FF2B5EF4-FFF2-40B4-BE49-F238E27FC236}">
                <a16:creationId xmlns:a16="http://schemas.microsoft.com/office/drawing/2014/main" id="{FB60CB8C-8EF1-FDCA-4FBB-1834606AF2DE}"/>
              </a:ext>
            </a:extLst>
          </p:cNvPr>
          <p:cNvSpPr/>
          <p:nvPr/>
        </p:nvSpPr>
        <p:spPr>
          <a:xfrm>
            <a:off x="555171" y="1660069"/>
            <a:ext cx="1349829" cy="36637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dirty="0" err="1">
                <a:latin typeface="Calibri" panose="020F0502020204030204" pitchFamily="34" charset="0"/>
                <a:ea typeface="Calibri" panose="020F0502020204030204" pitchFamily="34" charset="0"/>
                <a:cs typeface="Calibri" panose="020F0502020204030204" pitchFamily="34" charset="0"/>
              </a:rPr>
              <a:t>Alphafold</a:t>
            </a:r>
            <a:endParaRPr lang="ko-KR" altLang="en-US" dirty="0">
              <a:latin typeface="Calibri" panose="020F0502020204030204" pitchFamily="34" charset="0"/>
              <a:cs typeface="Calibri" panose="020F0502020204030204" pitchFamily="34" charset="0"/>
            </a:endParaRPr>
          </a:p>
        </p:txBody>
      </p:sp>
      <p:sp>
        <p:nvSpPr>
          <p:cNvPr id="5" name="직사각형 4">
            <a:extLst>
              <a:ext uri="{FF2B5EF4-FFF2-40B4-BE49-F238E27FC236}">
                <a16:creationId xmlns:a16="http://schemas.microsoft.com/office/drawing/2014/main" id="{1B997F26-862F-BDB0-B24E-711296A74F82}"/>
              </a:ext>
            </a:extLst>
          </p:cNvPr>
          <p:cNvSpPr/>
          <p:nvPr/>
        </p:nvSpPr>
        <p:spPr>
          <a:xfrm>
            <a:off x="555171" y="2139040"/>
            <a:ext cx="1349829" cy="36637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dirty="0" err="1">
                <a:latin typeface="Calibri" panose="020F0502020204030204" pitchFamily="34" charset="0"/>
                <a:ea typeface="Calibri" panose="020F0502020204030204" pitchFamily="34" charset="0"/>
                <a:cs typeface="Calibri" panose="020F0502020204030204" pitchFamily="34" charset="0"/>
              </a:rPr>
              <a:t>Alphafold</a:t>
            </a:r>
            <a:r>
              <a:rPr lang="en-US" altLang="ko-KR" dirty="0">
                <a:latin typeface="Calibri" panose="020F0502020204030204" pitchFamily="34" charset="0"/>
                <a:ea typeface="Calibri" panose="020F0502020204030204" pitchFamily="34" charset="0"/>
                <a:cs typeface="Calibri" panose="020F0502020204030204" pitchFamily="34" charset="0"/>
              </a:rPr>
              <a:t> 2</a:t>
            </a:r>
            <a:endParaRPr lang="ko-KR" altLang="en-US" dirty="0">
              <a:latin typeface="Calibri" panose="020F0502020204030204" pitchFamily="34" charset="0"/>
              <a:cs typeface="Calibri" panose="020F0502020204030204" pitchFamily="34" charset="0"/>
            </a:endParaRPr>
          </a:p>
        </p:txBody>
      </p:sp>
      <p:pic>
        <p:nvPicPr>
          <p:cNvPr id="3074" name="Picture 2">
            <a:extLst>
              <a:ext uri="{FF2B5EF4-FFF2-40B4-BE49-F238E27FC236}">
                <a16:creationId xmlns:a16="http://schemas.microsoft.com/office/drawing/2014/main" id="{563144A9-4792-26BC-873D-2C6A0E6DD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642" y="1660069"/>
            <a:ext cx="5457144" cy="4798466"/>
          </a:xfrm>
          <a:prstGeom prst="rect">
            <a:avLst/>
          </a:prstGeom>
          <a:noFill/>
          <a:extLst>
            <a:ext uri="{909E8E84-426E-40DD-AFC4-6F175D3DCCD1}">
              <a14:hiddenFill xmlns:a14="http://schemas.microsoft.com/office/drawing/2010/main">
                <a:solidFill>
                  <a:srgbClr val="FFFFFF"/>
                </a:solidFill>
              </a14:hiddenFill>
            </a:ext>
          </a:extLst>
        </p:spPr>
      </p:pic>
      <p:sp>
        <p:nvSpPr>
          <p:cNvPr id="3" name="슬라이드 번호 개체 틀 2">
            <a:extLst>
              <a:ext uri="{FF2B5EF4-FFF2-40B4-BE49-F238E27FC236}">
                <a16:creationId xmlns:a16="http://schemas.microsoft.com/office/drawing/2014/main" id="{3164A893-361B-4609-BF7F-821C3A5C3FBD}"/>
              </a:ext>
            </a:extLst>
          </p:cNvPr>
          <p:cNvSpPr>
            <a:spLocks noGrp="1"/>
          </p:cNvSpPr>
          <p:nvPr>
            <p:ph type="sldNum" sz="quarter" idx="12"/>
          </p:nvPr>
        </p:nvSpPr>
        <p:spPr/>
        <p:txBody>
          <a:bodyPr/>
          <a:lstStyle/>
          <a:p>
            <a:fld id="{62699DC3-304B-48EC-B099-F95AF3D9844A}" type="slidenum">
              <a:rPr lang="ko-KR" altLang="en-US" smtClean="0"/>
              <a:pPr/>
              <a:t>24</a:t>
            </a:fld>
            <a:r>
              <a:rPr lang="en-US" altLang="ko-KR"/>
              <a:t>/28</a:t>
            </a:r>
            <a:endParaRPr lang="ko-KR" altLang="en-US" dirty="0"/>
          </a:p>
        </p:txBody>
      </p:sp>
    </p:spTree>
    <p:extLst>
      <p:ext uri="{BB962C8B-B14F-4D97-AF65-F5344CB8AC3E}">
        <p14:creationId xmlns:p14="http://schemas.microsoft.com/office/powerpoint/2010/main" val="2121638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E133B8-B464-9534-39A5-9FCFD5D9A06C}"/>
              </a:ext>
            </a:extLst>
          </p:cNvPr>
          <p:cNvSpPr>
            <a:spLocks noGrp="1"/>
          </p:cNvSpPr>
          <p:nvPr>
            <p:ph type="title"/>
          </p:nvPr>
        </p:nvSpPr>
        <p:spPr/>
        <p:txBody>
          <a:bodyPr/>
          <a:lstStyle/>
          <a:p>
            <a:r>
              <a:rPr lang="en-US" altLang="ko-KR" dirty="0"/>
              <a:t>Case study: </a:t>
            </a:r>
            <a:r>
              <a:rPr lang="en-US" altLang="ko-KR" dirty="0" err="1"/>
              <a:t>PspGI</a:t>
            </a:r>
            <a:r>
              <a:rPr lang="en-US" altLang="ko-KR" dirty="0"/>
              <a:t> methyltransferase</a:t>
            </a:r>
            <a:endParaRPr lang="ko-KR" altLang="en-US" dirty="0"/>
          </a:p>
        </p:txBody>
      </p:sp>
      <p:sp>
        <p:nvSpPr>
          <p:cNvPr id="5" name="직사각형 4">
            <a:extLst>
              <a:ext uri="{FF2B5EF4-FFF2-40B4-BE49-F238E27FC236}">
                <a16:creationId xmlns:a16="http://schemas.microsoft.com/office/drawing/2014/main" id="{340E8525-DBA6-19FB-11AC-185588C01A46}"/>
              </a:ext>
            </a:extLst>
          </p:cNvPr>
          <p:cNvSpPr/>
          <p:nvPr/>
        </p:nvSpPr>
        <p:spPr>
          <a:xfrm>
            <a:off x="555171" y="1660069"/>
            <a:ext cx="1349829" cy="36637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ko-KR" dirty="0" err="1">
                <a:latin typeface="Calibri" panose="020F0502020204030204" pitchFamily="34" charset="0"/>
                <a:ea typeface="Calibri" panose="020F0502020204030204" pitchFamily="34" charset="0"/>
                <a:cs typeface="Calibri" panose="020F0502020204030204" pitchFamily="34" charset="0"/>
              </a:rPr>
              <a:t>Alphafold</a:t>
            </a:r>
            <a:r>
              <a:rPr lang="en-US" altLang="ko-KR" dirty="0">
                <a:latin typeface="Calibri" panose="020F0502020204030204" pitchFamily="34" charset="0"/>
                <a:ea typeface="Calibri" panose="020F0502020204030204" pitchFamily="34" charset="0"/>
                <a:cs typeface="Calibri" panose="020F0502020204030204" pitchFamily="34" charset="0"/>
              </a:rPr>
              <a:t> 3</a:t>
            </a:r>
            <a:endParaRPr lang="ko-KR" altLang="en-US"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731A269-AD98-71BC-642B-7043681B1A6F}"/>
              </a:ext>
            </a:extLst>
          </p:cNvPr>
          <p:cNvSpPr txBox="1"/>
          <p:nvPr/>
        </p:nvSpPr>
        <p:spPr>
          <a:xfrm>
            <a:off x="2188029" y="1657112"/>
            <a:ext cx="6097136" cy="369332"/>
          </a:xfrm>
          <a:prstGeom prst="rect">
            <a:avLst/>
          </a:prstGeom>
          <a:noFill/>
        </p:spPr>
        <p:txBody>
          <a:bodyPr wrap="square">
            <a:spAutoFit/>
          </a:bodyPr>
          <a:lstStyle/>
          <a:p>
            <a:r>
              <a:rPr lang="ko-KR" altLang="en-US" dirty="0">
                <a:hlinkClick r:id="rId3"/>
              </a:rPr>
              <a:t>https://alphafoldserver.com/fold/28bb4f0447f7c2e8</a:t>
            </a:r>
            <a:r>
              <a:rPr lang="ko-KR" altLang="en-US" dirty="0"/>
              <a:t> </a:t>
            </a:r>
          </a:p>
        </p:txBody>
      </p:sp>
      <p:pic>
        <p:nvPicPr>
          <p:cNvPr id="9" name="그림 8" descr="스크린샷, 디스플레이, 텍스트이(가) 표시된 사진&#10;&#10;AI 생성 콘텐츠는 정확하지 않을 수 있습니다.">
            <a:extLst>
              <a:ext uri="{FF2B5EF4-FFF2-40B4-BE49-F238E27FC236}">
                <a16:creationId xmlns:a16="http://schemas.microsoft.com/office/drawing/2014/main" id="{501412B0-CAE0-D9C8-60F8-D46A35FB5D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4776" y="1597406"/>
            <a:ext cx="3929719" cy="4786609"/>
          </a:xfrm>
          <a:prstGeom prst="rect">
            <a:avLst/>
          </a:prstGeom>
        </p:spPr>
      </p:pic>
      <p:sp>
        <p:nvSpPr>
          <p:cNvPr id="27" name="직사각형 26">
            <a:extLst>
              <a:ext uri="{FF2B5EF4-FFF2-40B4-BE49-F238E27FC236}">
                <a16:creationId xmlns:a16="http://schemas.microsoft.com/office/drawing/2014/main" id="{CB68DFA5-3BED-1481-009D-81B0E328AF40}"/>
              </a:ext>
            </a:extLst>
          </p:cNvPr>
          <p:cNvSpPr/>
          <p:nvPr/>
        </p:nvSpPr>
        <p:spPr>
          <a:xfrm>
            <a:off x="473283" y="2293443"/>
            <a:ext cx="3241692" cy="4090572"/>
          </a:xfrm>
          <a:prstGeom prst="rect">
            <a:avLst/>
          </a:prstGeom>
          <a:solidFill>
            <a:srgbClr val="0F10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descr="그래픽, 예술, 그래픽 디자인, 만화 영화이(가) 표시된 사진&#10;&#10;AI 생성 콘텐츠는 정확하지 않을 수 있습니다.">
            <a:extLst>
              <a:ext uri="{FF2B5EF4-FFF2-40B4-BE49-F238E27FC236}">
                <a16:creationId xmlns:a16="http://schemas.microsoft.com/office/drawing/2014/main" id="{F72F7D24-2429-5980-1DFB-4347CCAE3C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73842" y="2293443"/>
            <a:ext cx="4139659" cy="4090572"/>
          </a:xfrm>
          <a:prstGeom prst="rect">
            <a:avLst/>
          </a:prstGeom>
        </p:spPr>
      </p:pic>
      <p:pic>
        <p:nvPicPr>
          <p:cNvPr id="20" name="그림 19" descr="텍스트, 폰트, 스크린샷, 그래픽이(가) 표시된 사진&#10;&#10;AI 생성 콘텐츠는 정확하지 않을 수 있습니다.">
            <a:extLst>
              <a:ext uri="{FF2B5EF4-FFF2-40B4-BE49-F238E27FC236}">
                <a16:creationId xmlns:a16="http://schemas.microsoft.com/office/drawing/2014/main" id="{7F45546E-EF77-D2DC-A776-1FF641F274A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1545" y="2293443"/>
            <a:ext cx="2962297" cy="509591"/>
          </a:xfrm>
          <a:prstGeom prst="rect">
            <a:avLst/>
          </a:prstGeom>
        </p:spPr>
      </p:pic>
      <p:pic>
        <p:nvPicPr>
          <p:cNvPr id="22" name="그림 21" descr="텍스트, 폰트, 스크린샷, 그래픽이(가) 표시된 사진&#10;&#10;AI 생성 콘텐츠는 정확하지 않을 수 있습니다.">
            <a:extLst>
              <a:ext uri="{FF2B5EF4-FFF2-40B4-BE49-F238E27FC236}">
                <a16:creationId xmlns:a16="http://schemas.microsoft.com/office/drawing/2014/main" id="{2445B757-C368-9286-3259-97DE516316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1545" y="2806244"/>
            <a:ext cx="2962297" cy="453115"/>
          </a:xfrm>
          <a:prstGeom prst="rect">
            <a:avLst/>
          </a:prstGeom>
        </p:spPr>
      </p:pic>
      <p:pic>
        <p:nvPicPr>
          <p:cNvPr id="24" name="그림 23" descr="텍스트, 폰트, 스크린샷, 그래픽이(가) 표시된 사진&#10;&#10;AI 생성 콘텐츠는 정확하지 않을 수 있습니다.">
            <a:extLst>
              <a:ext uri="{FF2B5EF4-FFF2-40B4-BE49-F238E27FC236}">
                <a16:creationId xmlns:a16="http://schemas.microsoft.com/office/drawing/2014/main" id="{889ACEC8-2B36-7FBB-0210-BC515D28A9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5193" y="3243691"/>
            <a:ext cx="2900395" cy="480970"/>
          </a:xfrm>
          <a:prstGeom prst="rect">
            <a:avLst/>
          </a:prstGeom>
        </p:spPr>
      </p:pic>
      <p:pic>
        <p:nvPicPr>
          <p:cNvPr id="26" name="그림 25" descr="텍스트, 스크린샷, 폰트, 그래픽이(가) 표시된 사진&#10;&#10;AI 생성 콘텐츠는 정확하지 않을 수 있습니다.">
            <a:extLst>
              <a:ext uri="{FF2B5EF4-FFF2-40B4-BE49-F238E27FC236}">
                <a16:creationId xmlns:a16="http://schemas.microsoft.com/office/drawing/2014/main" id="{7D5571AE-6B3A-08CF-ECE6-54B0906F9C8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7896" y="3696806"/>
            <a:ext cx="2962297" cy="439038"/>
          </a:xfrm>
          <a:prstGeom prst="rect">
            <a:avLst/>
          </a:prstGeom>
        </p:spPr>
      </p:pic>
      <p:pic>
        <p:nvPicPr>
          <p:cNvPr id="29" name="그림 28" descr="폰트, 텍스트, 그래픽, 스크린샷이(가) 표시된 사진&#10;&#10;AI 생성 콘텐츠는 정확하지 않을 수 있습니다.">
            <a:extLst>
              <a:ext uri="{FF2B5EF4-FFF2-40B4-BE49-F238E27FC236}">
                <a16:creationId xmlns:a16="http://schemas.microsoft.com/office/drawing/2014/main" id="{37C165BF-90B4-2529-2567-E3E7A05CAB2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2283" y="5677456"/>
            <a:ext cx="2126213" cy="412735"/>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슬라이드 번호 개체 틀 2">
            <a:extLst>
              <a:ext uri="{FF2B5EF4-FFF2-40B4-BE49-F238E27FC236}">
                <a16:creationId xmlns:a16="http://schemas.microsoft.com/office/drawing/2014/main" id="{7620F6DD-3516-8D3F-3803-48F6D09547C3}"/>
              </a:ext>
            </a:extLst>
          </p:cNvPr>
          <p:cNvSpPr>
            <a:spLocks noGrp="1"/>
          </p:cNvSpPr>
          <p:nvPr>
            <p:ph type="sldNum" sz="quarter" idx="12"/>
          </p:nvPr>
        </p:nvSpPr>
        <p:spPr/>
        <p:txBody>
          <a:bodyPr/>
          <a:lstStyle/>
          <a:p>
            <a:fld id="{62699DC3-304B-48EC-B099-F95AF3D9844A}" type="slidenum">
              <a:rPr lang="ko-KR" altLang="en-US" smtClean="0"/>
              <a:pPr/>
              <a:t>25</a:t>
            </a:fld>
            <a:r>
              <a:rPr lang="en-US" altLang="ko-KR"/>
              <a:t>/28</a:t>
            </a:r>
            <a:endParaRPr lang="ko-KR" altLang="en-US" dirty="0"/>
          </a:p>
        </p:txBody>
      </p:sp>
    </p:spTree>
    <p:extLst>
      <p:ext uri="{BB962C8B-B14F-4D97-AF65-F5344CB8AC3E}">
        <p14:creationId xmlns:p14="http://schemas.microsoft.com/office/powerpoint/2010/main" val="1197868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4293C7-77C3-541A-D82D-3888D4427DFC}"/>
              </a:ext>
            </a:extLst>
          </p:cNvPr>
          <p:cNvSpPr>
            <a:spLocks noGrp="1"/>
          </p:cNvSpPr>
          <p:nvPr>
            <p:ph type="title"/>
          </p:nvPr>
        </p:nvSpPr>
        <p:spPr/>
        <p:txBody>
          <a:bodyPr/>
          <a:lstStyle/>
          <a:p>
            <a:r>
              <a:rPr lang="en-US" altLang="ko-KR" dirty="0"/>
              <a:t>What’s next?</a:t>
            </a:r>
            <a:endParaRPr lang="ko-KR" altLang="en-US" dirty="0"/>
          </a:p>
        </p:txBody>
      </p:sp>
      <p:graphicFrame>
        <p:nvGraphicFramePr>
          <p:cNvPr id="4" name="내용 개체 틀 3">
            <a:extLst>
              <a:ext uri="{FF2B5EF4-FFF2-40B4-BE49-F238E27FC236}">
                <a16:creationId xmlns:a16="http://schemas.microsoft.com/office/drawing/2014/main" id="{D0B7DF8F-4298-57CE-3D24-7C9144BA3B1A}"/>
              </a:ext>
            </a:extLst>
          </p:cNvPr>
          <p:cNvGraphicFramePr>
            <a:graphicFrameLocks noGrp="1"/>
          </p:cNvGraphicFramePr>
          <p:nvPr>
            <p:ph idx="1"/>
            <p:extLst>
              <p:ext uri="{D42A27DB-BD31-4B8C-83A1-F6EECF244321}">
                <p14:modId xmlns:p14="http://schemas.microsoft.com/office/powerpoint/2010/main" val="2542393914"/>
              </p:ext>
            </p:extLst>
          </p:nvPr>
        </p:nvGraphicFramePr>
        <p:xfrm>
          <a:off x="838200" y="2061168"/>
          <a:ext cx="10515600" cy="3657600"/>
        </p:xfrm>
        <a:graphic>
          <a:graphicData uri="http://schemas.openxmlformats.org/drawingml/2006/table">
            <a:tbl>
              <a:tblPr firstRow="1" bandRow="1">
                <a:tableStyleId>{7E9639D4-E3E2-4D34-9284-5A2195B3D0D7}</a:tableStyleId>
              </a:tblPr>
              <a:tblGrid>
                <a:gridCol w="3979460">
                  <a:extLst>
                    <a:ext uri="{9D8B030D-6E8A-4147-A177-3AD203B41FA5}">
                      <a16:colId xmlns:a16="http://schemas.microsoft.com/office/drawing/2014/main" val="30676607"/>
                    </a:ext>
                  </a:extLst>
                </a:gridCol>
                <a:gridCol w="6536140">
                  <a:extLst>
                    <a:ext uri="{9D8B030D-6E8A-4147-A177-3AD203B41FA5}">
                      <a16:colId xmlns:a16="http://schemas.microsoft.com/office/drawing/2014/main" val="3600352249"/>
                    </a:ext>
                  </a:extLst>
                </a:gridCol>
              </a:tblGrid>
              <a:tr h="370840">
                <a:tc>
                  <a:txBody>
                    <a:bodyPr/>
                    <a:lstStyle/>
                    <a:p>
                      <a:pPr algn="l" latinLnBrk="1"/>
                      <a:r>
                        <a:rPr lang="en-US" altLang="ko-KR" sz="2400" dirty="0">
                          <a:latin typeface="Calibri" panose="020F0502020204030204" pitchFamily="34" charset="0"/>
                          <a:ea typeface="Calibri" panose="020F0502020204030204" pitchFamily="34" charset="0"/>
                          <a:cs typeface="Calibri" panose="020F0502020204030204" pitchFamily="34" charset="0"/>
                        </a:rPr>
                        <a:t>Aspects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D5D5D"/>
                    </a:solidFill>
                  </a:tcPr>
                </a:tc>
                <a:tc>
                  <a:txBody>
                    <a:bodyPr/>
                    <a:lstStyle/>
                    <a:p>
                      <a:pPr algn="l" latinLnBrk="1"/>
                      <a:r>
                        <a:rPr lang="en-US" altLang="ko-KR" sz="2400" dirty="0">
                          <a:latin typeface="Calibri" panose="020F0502020204030204" pitchFamily="34" charset="0"/>
                          <a:ea typeface="Calibri" panose="020F0502020204030204" pitchFamily="34" charset="0"/>
                          <a:cs typeface="Calibri" panose="020F0502020204030204" pitchFamily="34" charset="0"/>
                        </a:rPr>
                        <a:t>Next step</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D5D5D"/>
                    </a:solidFill>
                  </a:tcPr>
                </a:tc>
                <a:extLst>
                  <a:ext uri="{0D108BD9-81ED-4DB2-BD59-A6C34878D82A}">
                    <a16:rowId xmlns:a16="http://schemas.microsoft.com/office/drawing/2014/main" val="2748091186"/>
                  </a:ext>
                </a:extLst>
              </a:tr>
              <a:tr h="370840">
                <a:tc>
                  <a:txBody>
                    <a:bodyPr/>
                    <a:lstStyle/>
                    <a:p>
                      <a:pPr algn="l" latinLnBrk="1"/>
                      <a:r>
                        <a:rPr lang="en-US" altLang="ko-KR" sz="2400" dirty="0">
                          <a:latin typeface="Calibri" panose="020F0502020204030204" pitchFamily="34" charset="0"/>
                          <a:cs typeface="Calibri" panose="020F0502020204030204" pitchFamily="34" charset="0"/>
                        </a:rPr>
                        <a:t>Dynamics/Ensembles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latinLnBrk="1"/>
                      <a:r>
                        <a:rPr lang="en-US" altLang="ko-KR" sz="2400" dirty="0">
                          <a:latin typeface="Calibri" panose="020F0502020204030204" pitchFamily="34" charset="0"/>
                          <a:cs typeface="Calibri" panose="020F0502020204030204" pitchFamily="34" charset="0"/>
                        </a:rPr>
                        <a:t>Multistate/ensemble predictions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68657"/>
                  </a:ext>
                </a:extLst>
              </a:tr>
              <a:tr h="370840">
                <a:tc>
                  <a:txBody>
                    <a:bodyPr/>
                    <a:lstStyle/>
                    <a:p>
                      <a:pPr algn="l" latinLnBrk="1"/>
                      <a:r>
                        <a:rPr lang="en-US" altLang="ko-KR" sz="2400" dirty="0">
                          <a:latin typeface="Calibri" panose="020F0502020204030204" pitchFamily="34" charset="0"/>
                          <a:cs typeface="Calibri" panose="020F0502020204030204" pitchFamily="34" charset="0"/>
                        </a:rPr>
                        <a:t>Stereochemistry</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latinLnBrk="1"/>
                      <a:r>
                        <a:rPr lang="en-US" altLang="ko-KR" sz="2400" dirty="0">
                          <a:latin typeface="Calibri" panose="020F0502020204030204" pitchFamily="34" charset="0"/>
                          <a:cs typeface="Calibri" panose="020F0502020204030204" pitchFamily="34" charset="0"/>
                        </a:rPr>
                        <a:t>Further reducing chirality/clash errors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376069"/>
                  </a:ext>
                </a:extLst>
              </a:tr>
              <a:tr h="370840">
                <a:tc>
                  <a:txBody>
                    <a:bodyPr/>
                    <a:lstStyle/>
                    <a:p>
                      <a:pPr algn="l" latinLnBrk="1"/>
                      <a:r>
                        <a:rPr lang="en-US" altLang="ko-KR" sz="2400" dirty="0">
                          <a:latin typeface="Calibri" panose="020F0502020204030204" pitchFamily="34" charset="0"/>
                          <a:cs typeface="Calibri" panose="020F0502020204030204" pitchFamily="34" charset="0"/>
                        </a:rPr>
                        <a:t>Disordered Regions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latinLnBrk="1"/>
                      <a:r>
                        <a:rPr lang="en-US" altLang="ko-KR" sz="2400" dirty="0">
                          <a:latin typeface="Calibri" panose="020F0502020204030204" pitchFamily="34" charset="0"/>
                          <a:cs typeface="Calibri" panose="020F0502020204030204" pitchFamily="34" charset="0"/>
                        </a:rPr>
                        <a:t>Preventing hallucinations in unstructured zones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7243379"/>
                  </a:ext>
                </a:extLst>
              </a:tr>
              <a:tr h="370840">
                <a:tc>
                  <a:txBody>
                    <a:bodyPr/>
                    <a:lstStyle/>
                    <a:p>
                      <a:pPr algn="l" latinLnBrk="1"/>
                      <a:r>
                        <a:rPr lang="en-US" altLang="ko-KR" sz="2400" dirty="0">
                          <a:latin typeface="Calibri" panose="020F0502020204030204" pitchFamily="34" charset="0"/>
                          <a:cs typeface="Calibri" panose="020F0502020204030204" pitchFamily="34" charset="0"/>
                        </a:rPr>
                        <a:t>Sampling Efficiency</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latinLnBrk="1"/>
                      <a:r>
                        <a:rPr lang="en-US" altLang="ko-KR" sz="2400" dirty="0">
                          <a:latin typeface="Calibri" panose="020F0502020204030204" pitchFamily="34" charset="0"/>
                          <a:cs typeface="Calibri" panose="020F0502020204030204" pitchFamily="34" charset="0"/>
                        </a:rPr>
                        <a:t>Reducing number of required samples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4627397"/>
                  </a:ext>
                </a:extLst>
              </a:tr>
              <a:tr h="370840">
                <a:tc>
                  <a:txBody>
                    <a:bodyPr/>
                    <a:lstStyle/>
                    <a:p>
                      <a:pPr algn="l" latinLnBrk="1"/>
                      <a:r>
                        <a:rPr lang="en-US" altLang="ko-KR" sz="2400" dirty="0">
                          <a:latin typeface="Calibri" panose="020F0502020204030204" pitchFamily="34" charset="0"/>
                          <a:cs typeface="Calibri" panose="020F0502020204030204" pitchFamily="34" charset="0"/>
                        </a:rPr>
                        <a:t>Chemical Scope</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latinLnBrk="1"/>
                      <a:r>
                        <a:rPr lang="en-US" altLang="ko-KR" sz="2400" dirty="0">
                          <a:latin typeface="Calibri" panose="020F0502020204030204" pitchFamily="34" charset="0"/>
                          <a:cs typeface="Calibri" panose="020F0502020204030204" pitchFamily="34" charset="0"/>
                        </a:rPr>
                        <a:t>Supporting more modifications and rare ligands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6286153"/>
                  </a:ext>
                </a:extLst>
              </a:tr>
              <a:tr h="370840">
                <a:tc>
                  <a:txBody>
                    <a:bodyPr/>
                    <a:lstStyle/>
                    <a:p>
                      <a:pPr algn="l" latinLnBrk="1"/>
                      <a:r>
                        <a:rPr lang="en-US" altLang="ko-KR" sz="2400" dirty="0">
                          <a:latin typeface="Calibri" panose="020F0502020204030204" pitchFamily="34" charset="0"/>
                          <a:cs typeface="Calibri" panose="020F0502020204030204" pitchFamily="34" charset="0"/>
                        </a:rPr>
                        <a:t>Experimental Integration</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latinLnBrk="1"/>
                      <a:r>
                        <a:rPr lang="en-US" altLang="ko-KR" sz="2400" dirty="0">
                          <a:latin typeface="Calibri" panose="020F0502020204030204" pitchFamily="34" charset="0"/>
                          <a:cs typeface="Calibri" panose="020F0502020204030204" pitchFamily="34" charset="0"/>
                        </a:rPr>
                        <a:t>Seamless integration with structural data</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0847538"/>
                  </a:ext>
                </a:extLst>
              </a:tr>
              <a:tr h="370840">
                <a:tc>
                  <a:txBody>
                    <a:bodyPr/>
                    <a:lstStyle/>
                    <a:p>
                      <a:pPr algn="l" latinLnBrk="1"/>
                      <a:r>
                        <a:rPr lang="en-US" altLang="ko-KR" sz="2400" dirty="0">
                          <a:latin typeface="Calibri" panose="020F0502020204030204" pitchFamily="34" charset="0"/>
                          <a:cs typeface="Calibri" panose="020F0502020204030204" pitchFamily="34" charset="0"/>
                        </a:rPr>
                        <a:t>Systems-Level Modeling</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latinLnBrk="1"/>
                      <a:r>
                        <a:rPr lang="en-US" altLang="ko-KR" sz="2400" dirty="0">
                          <a:latin typeface="Calibri" panose="020F0502020204030204" pitchFamily="34" charset="0"/>
                          <a:cs typeface="Calibri" panose="020F0502020204030204" pitchFamily="34" charset="0"/>
                        </a:rPr>
                        <a:t>Organelle/full-cell structure predictions</a:t>
                      </a:r>
                      <a:endParaRPr lang="ko-KR" altLang="en-US" sz="24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1836197"/>
                  </a:ext>
                </a:extLst>
              </a:tr>
            </a:tbl>
          </a:graphicData>
        </a:graphic>
      </p:graphicFrame>
      <p:sp>
        <p:nvSpPr>
          <p:cNvPr id="3" name="슬라이드 번호 개체 틀 2">
            <a:extLst>
              <a:ext uri="{FF2B5EF4-FFF2-40B4-BE49-F238E27FC236}">
                <a16:creationId xmlns:a16="http://schemas.microsoft.com/office/drawing/2014/main" id="{A12E1C82-4E60-1AD6-2522-0E16A0219A8F}"/>
              </a:ext>
            </a:extLst>
          </p:cNvPr>
          <p:cNvSpPr>
            <a:spLocks noGrp="1"/>
          </p:cNvSpPr>
          <p:nvPr>
            <p:ph type="sldNum" sz="quarter" idx="12"/>
          </p:nvPr>
        </p:nvSpPr>
        <p:spPr/>
        <p:txBody>
          <a:bodyPr/>
          <a:lstStyle/>
          <a:p>
            <a:fld id="{62699DC3-304B-48EC-B099-F95AF3D9844A}" type="slidenum">
              <a:rPr lang="ko-KR" altLang="en-US" smtClean="0"/>
              <a:pPr/>
              <a:t>26</a:t>
            </a:fld>
            <a:r>
              <a:rPr lang="en-US" altLang="ko-KR"/>
              <a:t>/28</a:t>
            </a:r>
            <a:endParaRPr lang="ko-KR" altLang="en-US" dirty="0"/>
          </a:p>
        </p:txBody>
      </p:sp>
    </p:spTree>
    <p:extLst>
      <p:ext uri="{BB962C8B-B14F-4D97-AF65-F5344CB8AC3E}">
        <p14:creationId xmlns:p14="http://schemas.microsoft.com/office/powerpoint/2010/main" val="474426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B65CE8-F0A9-0370-E73D-72DA030B765E}"/>
              </a:ext>
            </a:extLst>
          </p:cNvPr>
          <p:cNvSpPr>
            <a:spLocks noGrp="1"/>
          </p:cNvSpPr>
          <p:nvPr>
            <p:ph type="title"/>
          </p:nvPr>
        </p:nvSpPr>
        <p:spPr/>
        <p:txBody>
          <a:bodyPr/>
          <a:lstStyle/>
          <a:p>
            <a:r>
              <a:rPr lang="en-US" altLang="ko-KR" dirty="0"/>
              <a:t>References</a:t>
            </a:r>
            <a:endParaRPr lang="ko-KR" altLang="en-US" dirty="0"/>
          </a:p>
        </p:txBody>
      </p:sp>
      <p:sp>
        <p:nvSpPr>
          <p:cNvPr id="3" name="내용 개체 틀 2">
            <a:extLst>
              <a:ext uri="{FF2B5EF4-FFF2-40B4-BE49-F238E27FC236}">
                <a16:creationId xmlns:a16="http://schemas.microsoft.com/office/drawing/2014/main" id="{47C51860-A6FC-C8EA-8A6B-372306A7B642}"/>
              </a:ext>
            </a:extLst>
          </p:cNvPr>
          <p:cNvSpPr>
            <a:spLocks noGrp="1"/>
          </p:cNvSpPr>
          <p:nvPr>
            <p:ph idx="1"/>
          </p:nvPr>
        </p:nvSpPr>
        <p:spPr>
          <a:xfrm>
            <a:off x="838199" y="1937659"/>
            <a:ext cx="10898875" cy="4299177"/>
          </a:xfrm>
        </p:spPr>
        <p:txBody>
          <a:bodyPr>
            <a:normAutofit/>
          </a:bodyPr>
          <a:lstStyle/>
          <a:p>
            <a:r>
              <a:rPr lang="en-US" altLang="ko-KR" sz="2400" dirty="0"/>
              <a:t>Bae, S. (2024, </a:t>
            </a:r>
            <a:r>
              <a:rPr lang="nl-BE" altLang="ko-KR" sz="2400" dirty="0" err="1"/>
              <a:t>January</a:t>
            </a:r>
            <a:r>
              <a:rPr lang="nl-BE" altLang="ko-KR" sz="2400" dirty="0"/>
              <a:t> 31). </a:t>
            </a:r>
            <a:r>
              <a:rPr lang="nl-BE" altLang="ko-KR" sz="2400" dirty="0" err="1"/>
              <a:t>Comparison</a:t>
            </a:r>
            <a:r>
              <a:rPr lang="nl-BE" altLang="ko-KR" sz="2400" dirty="0"/>
              <a:t> </a:t>
            </a:r>
            <a:r>
              <a:rPr lang="nl-BE" altLang="ko-KR" sz="2400" dirty="0" err="1"/>
              <a:t>between</a:t>
            </a:r>
            <a:r>
              <a:rPr lang="nl-BE" altLang="ko-KR" sz="2400" dirty="0"/>
              <a:t> Google </a:t>
            </a:r>
            <a:r>
              <a:rPr lang="nl-BE" altLang="ko-KR" sz="2400" dirty="0" err="1"/>
              <a:t>Deepmind</a:t>
            </a:r>
            <a:r>
              <a:rPr lang="nl-BE" altLang="ko-KR" sz="2400" dirty="0"/>
              <a:t> </a:t>
            </a:r>
            <a:r>
              <a:rPr lang="nl-BE" altLang="ko-KR" sz="2400" dirty="0" err="1"/>
              <a:t>AlphaFold</a:t>
            </a:r>
            <a:r>
              <a:rPr lang="nl-BE" altLang="ko-KR" sz="2400" dirty="0"/>
              <a:t> 1</a:t>
            </a:r>
            <a:r>
              <a:rPr lang="en-US" altLang="ko-KR" sz="2400" dirty="0"/>
              <a:t> and 2 </a:t>
            </a:r>
            <a:r>
              <a:rPr lang="nl-BE" altLang="ko-KR" sz="2400" dirty="0" err="1"/>
              <a:t>HyperLab</a:t>
            </a:r>
            <a:r>
              <a:rPr lang="nl-BE" altLang="ko-KR" sz="2400" dirty="0"/>
              <a:t>. </a:t>
            </a:r>
            <a:r>
              <a:rPr lang="nl-BE" altLang="ko-KR" sz="2400" dirty="0">
                <a:hlinkClick r:id="rId2"/>
              </a:rPr>
              <a:t>https://hyperlab.hits.ai/blog/google-deepmind-alpha-fold-1-and-2</a:t>
            </a:r>
            <a:endParaRPr lang="nl-BE" altLang="ko-KR" sz="2400" dirty="0"/>
          </a:p>
          <a:p>
            <a:r>
              <a:rPr lang="nl-BE" altLang="ko-KR" sz="2400" dirty="0"/>
              <a:t>Callaway, E. (2024, May 8). </a:t>
            </a:r>
            <a:r>
              <a:rPr lang="nl-BE" altLang="ko-KR" sz="2400" dirty="0" err="1"/>
              <a:t>AlphaFold</a:t>
            </a:r>
            <a:r>
              <a:rPr lang="nl-BE" altLang="ko-KR" sz="2400" dirty="0"/>
              <a:t> 3: The new AI model </a:t>
            </a:r>
            <a:r>
              <a:rPr lang="nl-BE" altLang="ko-KR" sz="2400" dirty="0" err="1"/>
              <a:t>that</a:t>
            </a:r>
            <a:r>
              <a:rPr lang="nl-BE" altLang="ko-KR" sz="2400" dirty="0"/>
              <a:t> </a:t>
            </a:r>
            <a:r>
              <a:rPr lang="nl-BE" altLang="ko-KR" sz="2400" dirty="0" err="1"/>
              <a:t>predicts</a:t>
            </a:r>
            <a:r>
              <a:rPr lang="nl-BE" altLang="ko-KR" sz="2400" dirty="0"/>
              <a:t> DNA, RNA </a:t>
            </a:r>
            <a:r>
              <a:rPr lang="nl-BE" altLang="ko-KR" sz="2400" dirty="0" err="1"/>
              <a:t>and</a:t>
            </a:r>
            <a:r>
              <a:rPr lang="nl-BE" altLang="ko-KR" sz="2400" dirty="0"/>
              <a:t> ligand binding. Nature News. </a:t>
            </a:r>
            <a:r>
              <a:rPr lang="nl-BE" altLang="ko-KR" sz="2400" dirty="0">
                <a:hlinkClick r:id="rId3"/>
              </a:rPr>
              <a:t>https://www.nature.com/articles/d41586-024-01463-0</a:t>
            </a:r>
            <a:r>
              <a:rPr lang="nl-BE" altLang="ko-KR" sz="2400" dirty="0"/>
              <a:t> </a:t>
            </a:r>
            <a:endParaRPr lang="ko-KR" altLang="en-US" sz="2400" dirty="0"/>
          </a:p>
          <a:p>
            <a:r>
              <a:rPr lang="nl-BE" altLang="ko-KR" sz="2400" dirty="0"/>
              <a:t>Evans, R., </a:t>
            </a:r>
            <a:r>
              <a:rPr lang="nl-BE" altLang="ko-KR" sz="2400" dirty="0" err="1"/>
              <a:t>Griffiths</a:t>
            </a:r>
            <a:r>
              <a:rPr lang="nl-BE" altLang="ko-KR" sz="2400" dirty="0"/>
              <a:t>, D., </a:t>
            </a:r>
            <a:r>
              <a:rPr lang="nl-BE" altLang="ko-KR" sz="2400" dirty="0" err="1"/>
              <a:t>Wittmann</a:t>
            </a:r>
            <a:r>
              <a:rPr lang="nl-BE" altLang="ko-KR" sz="2400" dirty="0"/>
              <a:t>, B., </a:t>
            </a:r>
            <a:r>
              <a:rPr lang="nl-BE" altLang="ko-KR" sz="2400" dirty="0" err="1"/>
              <a:t>Tunyasuvunakool</a:t>
            </a:r>
            <a:r>
              <a:rPr lang="nl-BE" altLang="ko-KR" sz="2400" dirty="0"/>
              <a:t>, K., Jumper, J., </a:t>
            </a:r>
            <a:r>
              <a:rPr lang="nl-BE" altLang="ko-KR" sz="2400" dirty="0" err="1"/>
              <a:t>Kohli</a:t>
            </a:r>
            <a:r>
              <a:rPr lang="nl-BE" altLang="ko-KR" sz="2400" dirty="0"/>
              <a:t>, P., ... &amp; </a:t>
            </a:r>
            <a:r>
              <a:rPr lang="nl-BE" altLang="ko-KR" sz="2400" dirty="0" err="1"/>
              <a:t>Hassabis</a:t>
            </a:r>
            <a:r>
              <a:rPr lang="nl-BE" altLang="ko-KR" sz="2400" dirty="0"/>
              <a:t>, D. (2024). </a:t>
            </a:r>
            <a:r>
              <a:rPr lang="nl-BE" altLang="ko-KR" sz="2400" dirty="0" err="1"/>
              <a:t>Protein</a:t>
            </a:r>
            <a:r>
              <a:rPr lang="nl-BE" altLang="ko-KR" sz="2400" dirty="0"/>
              <a:t> </a:t>
            </a:r>
            <a:r>
              <a:rPr lang="nl-BE" altLang="ko-KR" sz="2400" dirty="0" err="1"/>
              <a:t>structure</a:t>
            </a:r>
            <a:r>
              <a:rPr lang="nl-BE" altLang="ko-KR" sz="2400" dirty="0"/>
              <a:t> </a:t>
            </a:r>
            <a:r>
              <a:rPr lang="nl-BE" altLang="ko-KR" sz="2400" dirty="0" err="1"/>
              <a:t>and</a:t>
            </a:r>
            <a:r>
              <a:rPr lang="nl-BE" altLang="ko-KR" sz="2400" dirty="0"/>
              <a:t> </a:t>
            </a:r>
            <a:r>
              <a:rPr lang="nl-BE" altLang="ko-KR" sz="2400" dirty="0" err="1"/>
              <a:t>function</a:t>
            </a:r>
            <a:r>
              <a:rPr lang="nl-BE" altLang="ko-KR" sz="2400" dirty="0"/>
              <a:t> </a:t>
            </a:r>
            <a:r>
              <a:rPr lang="nl-BE" altLang="ko-KR" sz="2400" dirty="0" err="1"/>
              <a:t>prediction</a:t>
            </a:r>
            <a:r>
              <a:rPr lang="nl-BE" altLang="ko-KR" sz="2400" dirty="0"/>
              <a:t> </a:t>
            </a:r>
            <a:r>
              <a:rPr lang="nl-BE" altLang="ko-KR" sz="2400" dirty="0" err="1"/>
              <a:t>using</a:t>
            </a:r>
            <a:r>
              <a:rPr lang="nl-BE" altLang="ko-KR" sz="2400" dirty="0"/>
              <a:t> AlphaFold3. Nature, 629(8000), 319–327. </a:t>
            </a:r>
            <a:r>
              <a:rPr lang="nl-BE" altLang="ko-KR" sz="2400" dirty="0">
                <a:hlinkClick r:id="rId4"/>
              </a:rPr>
              <a:t>https://doi.org/10.1038/s41586-024-07487-w</a:t>
            </a:r>
            <a:r>
              <a:rPr lang="nl-BE" altLang="ko-KR" sz="2400" dirty="0"/>
              <a:t> </a:t>
            </a:r>
          </a:p>
          <a:p>
            <a:r>
              <a:rPr lang="nl-BE" altLang="ko-KR" sz="2400" dirty="0" err="1"/>
              <a:t>Wondrous_World</a:t>
            </a:r>
            <a:r>
              <a:rPr lang="nl-BE" altLang="ko-KR" sz="2400" dirty="0"/>
              <a:t>. (2021, </a:t>
            </a:r>
            <a:r>
              <a:rPr lang="nl-BE" altLang="ko-KR" sz="2400" dirty="0" err="1"/>
              <a:t>July</a:t>
            </a:r>
            <a:r>
              <a:rPr lang="nl-BE" altLang="ko-KR" sz="2400" dirty="0"/>
              <a:t> 14). Running AlphaFold2</a:t>
            </a:r>
            <a:r>
              <a:rPr lang="ko-KR" altLang="en-US" sz="2400" dirty="0"/>
              <a:t> </a:t>
            </a:r>
            <a:r>
              <a:rPr lang="en-US" altLang="ko-KR" sz="2400" dirty="0"/>
              <a:t>[</a:t>
            </a:r>
            <a:r>
              <a:rPr lang="nl-BE" altLang="ko-KR" sz="2400" dirty="0"/>
              <a:t>Blog post]. </a:t>
            </a:r>
            <a:r>
              <a:rPr lang="nl-BE" altLang="ko-KR" sz="2400" dirty="0" err="1"/>
              <a:t>Naver</a:t>
            </a:r>
            <a:r>
              <a:rPr lang="nl-BE" altLang="ko-KR" sz="2400" dirty="0"/>
              <a:t> Blog. </a:t>
            </a:r>
            <a:r>
              <a:rPr lang="nl-BE" altLang="ko-KR" sz="2400" dirty="0">
                <a:hlinkClick r:id="rId5"/>
              </a:rPr>
              <a:t>https://blog.naver.com/PostView.naver?blogId=wondrous_world&amp;logNo=222447597640</a:t>
            </a:r>
            <a:r>
              <a:rPr lang="nl-BE" altLang="ko-KR" sz="2400" dirty="0"/>
              <a:t> </a:t>
            </a:r>
          </a:p>
        </p:txBody>
      </p:sp>
      <p:sp>
        <p:nvSpPr>
          <p:cNvPr id="4" name="슬라이드 번호 개체 틀 3">
            <a:extLst>
              <a:ext uri="{FF2B5EF4-FFF2-40B4-BE49-F238E27FC236}">
                <a16:creationId xmlns:a16="http://schemas.microsoft.com/office/drawing/2014/main" id="{41442C5D-AC29-8690-1559-FD42E16F66E8}"/>
              </a:ext>
            </a:extLst>
          </p:cNvPr>
          <p:cNvSpPr>
            <a:spLocks noGrp="1"/>
          </p:cNvSpPr>
          <p:nvPr>
            <p:ph type="sldNum" sz="quarter" idx="12"/>
          </p:nvPr>
        </p:nvSpPr>
        <p:spPr/>
        <p:txBody>
          <a:bodyPr/>
          <a:lstStyle/>
          <a:p>
            <a:fld id="{62699DC3-304B-48EC-B099-F95AF3D9844A}" type="slidenum">
              <a:rPr lang="ko-KR" altLang="en-US" smtClean="0"/>
              <a:pPr/>
              <a:t>27</a:t>
            </a:fld>
            <a:r>
              <a:rPr lang="en-US" altLang="ko-KR"/>
              <a:t>/28</a:t>
            </a:r>
            <a:endParaRPr lang="ko-KR" altLang="en-US" dirty="0"/>
          </a:p>
        </p:txBody>
      </p:sp>
    </p:spTree>
    <p:extLst>
      <p:ext uri="{BB962C8B-B14F-4D97-AF65-F5344CB8AC3E}">
        <p14:creationId xmlns:p14="http://schemas.microsoft.com/office/powerpoint/2010/main" val="4079165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0699870F-87B8-35CF-6517-82023E261AD2}"/>
              </a:ext>
            </a:extLst>
          </p:cNvPr>
          <p:cNvSpPr>
            <a:spLocks noGrp="1"/>
          </p:cNvSpPr>
          <p:nvPr>
            <p:ph type="ctrTitle"/>
          </p:nvPr>
        </p:nvSpPr>
        <p:spPr/>
        <p:txBody>
          <a:bodyPr/>
          <a:lstStyle/>
          <a:p>
            <a:r>
              <a:rPr lang="en-US" altLang="ko-KR" dirty="0"/>
              <a:t>Thank you</a:t>
            </a:r>
            <a:endParaRPr lang="ko-KR" altLang="en-US" dirty="0"/>
          </a:p>
        </p:txBody>
      </p:sp>
      <p:sp>
        <p:nvSpPr>
          <p:cNvPr id="5" name="부제목 4">
            <a:extLst>
              <a:ext uri="{FF2B5EF4-FFF2-40B4-BE49-F238E27FC236}">
                <a16:creationId xmlns:a16="http://schemas.microsoft.com/office/drawing/2014/main" id="{B98D7A80-20C8-C3C0-7741-FD0D15F686C8}"/>
              </a:ext>
            </a:extLst>
          </p:cNvPr>
          <p:cNvSpPr>
            <a:spLocks noGrp="1"/>
          </p:cNvSpPr>
          <p:nvPr>
            <p:ph type="subTitle" idx="1"/>
          </p:nvPr>
        </p:nvSpPr>
        <p:spPr/>
        <p:txBody>
          <a:bodyPr/>
          <a:lstStyle/>
          <a:p>
            <a:r>
              <a:rPr lang="en-US" altLang="ko-KR" dirty="0"/>
              <a:t>Any Questions?</a:t>
            </a:r>
            <a:endParaRPr lang="ko-KR" altLang="en-US" dirty="0"/>
          </a:p>
        </p:txBody>
      </p:sp>
      <p:cxnSp>
        <p:nvCxnSpPr>
          <p:cNvPr id="2" name="직선 연결선 1">
            <a:extLst>
              <a:ext uri="{FF2B5EF4-FFF2-40B4-BE49-F238E27FC236}">
                <a16:creationId xmlns:a16="http://schemas.microsoft.com/office/drawing/2014/main" id="{82E4C2ED-BA3F-DA15-E44E-B0F01CE1A196}"/>
              </a:ext>
            </a:extLst>
          </p:cNvPr>
          <p:cNvCxnSpPr>
            <a:cxnSpLocks/>
          </p:cNvCxnSpPr>
          <p:nvPr/>
        </p:nvCxnSpPr>
        <p:spPr>
          <a:xfrm>
            <a:off x="204159" y="815828"/>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cxnSp>
        <p:nvCxnSpPr>
          <p:cNvPr id="3" name="직선 연결선 2">
            <a:extLst>
              <a:ext uri="{FF2B5EF4-FFF2-40B4-BE49-F238E27FC236}">
                <a16:creationId xmlns:a16="http://schemas.microsoft.com/office/drawing/2014/main" id="{CF2098CB-0393-F3F9-E513-AD885EB14EC0}"/>
              </a:ext>
            </a:extLst>
          </p:cNvPr>
          <p:cNvCxnSpPr>
            <a:cxnSpLocks/>
          </p:cNvCxnSpPr>
          <p:nvPr/>
        </p:nvCxnSpPr>
        <p:spPr>
          <a:xfrm>
            <a:off x="204159" y="6074532"/>
            <a:ext cx="11783683" cy="0"/>
          </a:xfrm>
          <a:prstGeom prst="line">
            <a:avLst/>
          </a:prstGeom>
          <a:ln>
            <a:solidFill>
              <a:srgbClr val="AEAEAE"/>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8923901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942</TotalTime>
  <Words>2650</Words>
  <Application>Microsoft Office PowerPoint</Application>
  <PresentationFormat>와이드스크린</PresentationFormat>
  <Paragraphs>255</Paragraphs>
  <Slides>28</Slides>
  <Notes>23</Notes>
  <HiddenSlides>1</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28</vt:i4>
      </vt:variant>
    </vt:vector>
  </HeadingPairs>
  <TitlesOfParts>
    <vt:vector size="33" baseType="lpstr">
      <vt:lpstr>맑은 고딕</vt:lpstr>
      <vt:lpstr>Arial</vt:lpstr>
      <vt:lpstr>Calibri</vt:lpstr>
      <vt:lpstr>Calibri Light</vt:lpstr>
      <vt:lpstr>Office 테마</vt:lpstr>
      <vt:lpstr>AlphaFold : the renovation on protein structure prediction</vt:lpstr>
      <vt:lpstr>What is Alphafold (AF)?</vt:lpstr>
      <vt:lpstr>PowerPoint 프레젠테이션</vt:lpstr>
      <vt:lpstr>Multiple Sequence Alignment (MSA)</vt:lpstr>
      <vt:lpstr>Alphafold</vt:lpstr>
      <vt:lpstr>Alphafold2</vt:lpstr>
      <vt:lpstr>Alphafold3</vt:lpstr>
      <vt:lpstr>Input Embedder</vt:lpstr>
      <vt:lpstr>Alphafold3</vt:lpstr>
      <vt:lpstr>MSA module</vt:lpstr>
      <vt:lpstr>Pairformer</vt:lpstr>
      <vt:lpstr>Recycling</vt:lpstr>
      <vt:lpstr>Diffusion module</vt:lpstr>
      <vt:lpstr>Confidence Module</vt:lpstr>
      <vt:lpstr>Why AF3?</vt:lpstr>
      <vt:lpstr>Why AF3?</vt:lpstr>
      <vt:lpstr>Limitations</vt:lpstr>
      <vt:lpstr>Alphafold3: open-source code</vt:lpstr>
      <vt:lpstr>Alphafold3: open-source code</vt:lpstr>
      <vt:lpstr>Alphafold3: open-source code</vt:lpstr>
      <vt:lpstr>Case study: PspGI methyltransferase</vt:lpstr>
      <vt:lpstr>Case study: PspGI methyltransferase</vt:lpstr>
      <vt:lpstr>Case study: PspGI methyltransferase</vt:lpstr>
      <vt:lpstr>Case study: PspGI methyltransferase</vt:lpstr>
      <vt:lpstr>Case study: PspGI methyltransferase</vt:lpstr>
      <vt:lpstr>What’s next?</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수빈 현</dc:creator>
  <cp:lastModifiedBy>수빈 현</cp:lastModifiedBy>
  <cp:revision>76</cp:revision>
  <dcterms:created xsi:type="dcterms:W3CDTF">2025-07-09T00:54:30Z</dcterms:created>
  <dcterms:modified xsi:type="dcterms:W3CDTF">2025-07-18T02:39:55Z</dcterms:modified>
</cp:coreProperties>
</file>