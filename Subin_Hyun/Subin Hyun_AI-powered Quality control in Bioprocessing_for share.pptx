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2" r:id="rId6"/>
    <p:sldId id="265" r:id="rId7"/>
    <p:sldId id="264" r:id="rId8"/>
    <p:sldId id="279" r:id="rId9"/>
    <p:sldId id="280" r:id="rId10"/>
    <p:sldId id="275" r:id="rId11"/>
    <p:sldId id="281" r:id="rId12"/>
    <p:sldId id="284" r:id="rId13"/>
    <p:sldId id="282" r:id="rId14"/>
    <p:sldId id="277" r:id="rId15"/>
    <p:sldId id="283" r:id="rId16"/>
    <p:sldId id="269" r:id="rId17"/>
    <p:sldId id="270" r:id="rId18"/>
    <p:sldId id="278" r:id="rId19"/>
    <p:sldId id="287" r:id="rId20"/>
    <p:sldId id="289" r:id="rId21"/>
    <p:sldId id="290" r:id="rId22"/>
    <p:sldId id="291" r:id="rId23"/>
    <p:sldId id="286" r:id="rId24"/>
    <p:sldId id="266" r:id="rId25"/>
    <p:sldId id="273" r:id="rId26"/>
    <p:sldId id="276" r:id="rId27"/>
    <p:sldId id="274" r:id="rId28"/>
    <p:sldId id="288" r:id="rId29"/>
    <p:sldId id="272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4C8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74460" autoAdjust="0"/>
  </p:normalViewPr>
  <p:slideViewPr>
    <p:cSldViewPr snapToGrid="0">
      <p:cViewPr varScale="1">
        <p:scale>
          <a:sx n="62" d="100"/>
          <a:sy n="62" d="100"/>
        </p:scale>
        <p:origin x="11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F851F4-B039-4D3E-BFAA-76EEE4A2CB1D}" type="doc">
      <dgm:prSet loTypeId="urn:microsoft.com/office/officeart/2005/8/layout/venn1" loCatId="relationship" qsTypeId="urn:microsoft.com/office/officeart/2005/8/quickstyle/3d3" qsCatId="3D" csTypeId="urn:microsoft.com/office/officeart/2005/8/colors/accent1_3" csCatId="accent1" phldr="1"/>
      <dgm:spPr/>
    </dgm:pt>
    <dgm:pt modelId="{D0609261-D5E6-44AE-929C-85699016B932}">
      <dgm:prSet phldrT="[텍스트]"/>
      <dgm:spPr/>
      <dgm:t>
        <a:bodyPr/>
        <a:lstStyle/>
        <a:p>
          <a:pPr latinLnBrk="1"/>
          <a:r>
            <a:rPr lang="en-US" altLang="ko-KR" dirty="0"/>
            <a:t>Compliance</a:t>
          </a:r>
          <a:endParaRPr lang="ko-KR" altLang="en-US" dirty="0"/>
        </a:p>
      </dgm:t>
    </dgm:pt>
    <dgm:pt modelId="{35463463-006E-4C87-BF33-4D8B16B762B6}" type="parTrans" cxnId="{E1650FF0-A2BF-42EE-8F8F-86918DC99FEB}">
      <dgm:prSet/>
      <dgm:spPr/>
      <dgm:t>
        <a:bodyPr/>
        <a:lstStyle/>
        <a:p>
          <a:pPr latinLnBrk="1"/>
          <a:endParaRPr lang="ko-KR" altLang="en-US"/>
        </a:p>
      </dgm:t>
    </dgm:pt>
    <dgm:pt modelId="{FFBAB0A4-B8D5-4A59-A635-0FAE4819989A}" type="sibTrans" cxnId="{E1650FF0-A2BF-42EE-8F8F-86918DC99FEB}">
      <dgm:prSet/>
      <dgm:spPr/>
      <dgm:t>
        <a:bodyPr/>
        <a:lstStyle/>
        <a:p>
          <a:pPr latinLnBrk="1"/>
          <a:endParaRPr lang="ko-KR" altLang="en-US"/>
        </a:p>
      </dgm:t>
    </dgm:pt>
    <dgm:pt modelId="{478ECD95-2F4F-4D3C-A1F5-EBB68FF43EA8}">
      <dgm:prSet phldrT="[텍스트]"/>
      <dgm:spPr/>
      <dgm:t>
        <a:bodyPr/>
        <a:lstStyle/>
        <a:p>
          <a:pPr latinLnBrk="1"/>
          <a:r>
            <a:rPr lang="en-US" altLang="ko-KR" dirty="0"/>
            <a:t>Risk Mitigation</a:t>
          </a:r>
          <a:endParaRPr lang="ko-KR" altLang="en-US" dirty="0"/>
        </a:p>
      </dgm:t>
    </dgm:pt>
    <dgm:pt modelId="{806D0FDD-E82F-4FFC-95DB-7ED788A106EE}" type="parTrans" cxnId="{E05B7D4F-E3C5-4A3C-8DF2-398C0FB1C5BE}">
      <dgm:prSet/>
      <dgm:spPr/>
      <dgm:t>
        <a:bodyPr/>
        <a:lstStyle/>
        <a:p>
          <a:pPr latinLnBrk="1"/>
          <a:endParaRPr lang="ko-KR" altLang="en-US"/>
        </a:p>
      </dgm:t>
    </dgm:pt>
    <dgm:pt modelId="{409FC4E3-A00A-411E-A152-26046CD13E66}" type="sibTrans" cxnId="{E05B7D4F-E3C5-4A3C-8DF2-398C0FB1C5BE}">
      <dgm:prSet/>
      <dgm:spPr/>
      <dgm:t>
        <a:bodyPr/>
        <a:lstStyle/>
        <a:p>
          <a:pPr latinLnBrk="1"/>
          <a:endParaRPr lang="ko-KR" altLang="en-US"/>
        </a:p>
      </dgm:t>
    </dgm:pt>
    <dgm:pt modelId="{F062B949-7CF8-460C-BC97-B1EA60E78741}">
      <dgm:prSet phldrT="[텍스트]"/>
      <dgm:spPr/>
      <dgm:t>
        <a:bodyPr/>
        <a:lstStyle/>
        <a:p>
          <a:pPr latinLnBrk="1"/>
          <a:r>
            <a:rPr lang="en-US" altLang="ko-KR" dirty="0"/>
            <a:t>Consistency</a:t>
          </a:r>
          <a:endParaRPr lang="ko-KR" altLang="en-US" dirty="0"/>
        </a:p>
      </dgm:t>
    </dgm:pt>
    <dgm:pt modelId="{72A7A411-6F19-4D14-A307-E6E085074C5B}" type="parTrans" cxnId="{889390FB-DB6B-4CAE-A156-18388E101967}">
      <dgm:prSet/>
      <dgm:spPr/>
      <dgm:t>
        <a:bodyPr/>
        <a:lstStyle/>
        <a:p>
          <a:pPr latinLnBrk="1"/>
          <a:endParaRPr lang="ko-KR" altLang="en-US"/>
        </a:p>
      </dgm:t>
    </dgm:pt>
    <dgm:pt modelId="{CB8147DB-2183-43BD-A303-9E5638ACBFD7}" type="sibTrans" cxnId="{889390FB-DB6B-4CAE-A156-18388E101967}">
      <dgm:prSet/>
      <dgm:spPr/>
      <dgm:t>
        <a:bodyPr/>
        <a:lstStyle/>
        <a:p>
          <a:pPr latinLnBrk="1"/>
          <a:endParaRPr lang="ko-KR" altLang="en-US"/>
        </a:p>
      </dgm:t>
    </dgm:pt>
    <dgm:pt modelId="{9AEC06A0-5393-4F85-A6BE-A0230879D03E}" type="pres">
      <dgm:prSet presAssocID="{A6F851F4-B039-4D3E-BFAA-76EEE4A2CB1D}" presName="compositeShape" presStyleCnt="0">
        <dgm:presLayoutVars>
          <dgm:chMax val="7"/>
          <dgm:dir/>
          <dgm:resizeHandles val="exact"/>
        </dgm:presLayoutVars>
      </dgm:prSet>
      <dgm:spPr/>
    </dgm:pt>
    <dgm:pt modelId="{DCBC5374-10A6-4044-87A4-BCD49C4A3564}" type="pres">
      <dgm:prSet presAssocID="{D0609261-D5E6-44AE-929C-85699016B932}" presName="circ1" presStyleLbl="vennNode1" presStyleIdx="0" presStyleCnt="3"/>
      <dgm:spPr/>
    </dgm:pt>
    <dgm:pt modelId="{5383DFA0-E3C3-46A7-8522-7F52A782AFE6}" type="pres">
      <dgm:prSet presAssocID="{D0609261-D5E6-44AE-929C-85699016B93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7AB5B99-4905-4EE2-93B0-947A64BF674B}" type="pres">
      <dgm:prSet presAssocID="{478ECD95-2F4F-4D3C-A1F5-EBB68FF43EA8}" presName="circ2" presStyleLbl="vennNode1" presStyleIdx="1" presStyleCnt="3"/>
      <dgm:spPr/>
    </dgm:pt>
    <dgm:pt modelId="{2F53C2F5-4E33-4932-8B11-EAF3942DA455}" type="pres">
      <dgm:prSet presAssocID="{478ECD95-2F4F-4D3C-A1F5-EBB68FF43EA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A29D397-87E9-4EB0-BA35-E75C21851E57}" type="pres">
      <dgm:prSet presAssocID="{F062B949-7CF8-460C-BC97-B1EA60E78741}" presName="circ3" presStyleLbl="vennNode1" presStyleIdx="2" presStyleCnt="3"/>
      <dgm:spPr/>
    </dgm:pt>
    <dgm:pt modelId="{200A94B4-B6E9-4DF1-BDEC-21E220DC41F5}" type="pres">
      <dgm:prSet presAssocID="{F062B949-7CF8-460C-BC97-B1EA60E78741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6AD0C625-C3BE-41D1-8321-5222775DC47C}" type="presOf" srcId="{A6F851F4-B039-4D3E-BFAA-76EEE4A2CB1D}" destId="{9AEC06A0-5393-4F85-A6BE-A0230879D03E}" srcOrd="0" destOrd="0" presId="urn:microsoft.com/office/officeart/2005/8/layout/venn1"/>
    <dgm:cxn modelId="{1A347C2A-F583-4449-AA3B-55C689169B60}" type="presOf" srcId="{D0609261-D5E6-44AE-929C-85699016B932}" destId="{5383DFA0-E3C3-46A7-8522-7F52A782AFE6}" srcOrd="1" destOrd="0" presId="urn:microsoft.com/office/officeart/2005/8/layout/venn1"/>
    <dgm:cxn modelId="{E05B7D4F-E3C5-4A3C-8DF2-398C0FB1C5BE}" srcId="{A6F851F4-B039-4D3E-BFAA-76EEE4A2CB1D}" destId="{478ECD95-2F4F-4D3C-A1F5-EBB68FF43EA8}" srcOrd="1" destOrd="0" parTransId="{806D0FDD-E82F-4FFC-95DB-7ED788A106EE}" sibTransId="{409FC4E3-A00A-411E-A152-26046CD13E66}"/>
    <dgm:cxn modelId="{573AFC90-675D-4869-BE21-5821F08BD316}" type="presOf" srcId="{D0609261-D5E6-44AE-929C-85699016B932}" destId="{DCBC5374-10A6-4044-87A4-BCD49C4A3564}" srcOrd="0" destOrd="0" presId="urn:microsoft.com/office/officeart/2005/8/layout/venn1"/>
    <dgm:cxn modelId="{99B1CDCF-A1CE-449E-9523-B8D2B4065048}" type="presOf" srcId="{478ECD95-2F4F-4D3C-A1F5-EBB68FF43EA8}" destId="{D7AB5B99-4905-4EE2-93B0-947A64BF674B}" srcOrd="0" destOrd="0" presId="urn:microsoft.com/office/officeart/2005/8/layout/venn1"/>
    <dgm:cxn modelId="{E1650FF0-A2BF-42EE-8F8F-86918DC99FEB}" srcId="{A6F851F4-B039-4D3E-BFAA-76EEE4A2CB1D}" destId="{D0609261-D5E6-44AE-929C-85699016B932}" srcOrd="0" destOrd="0" parTransId="{35463463-006E-4C87-BF33-4D8B16B762B6}" sibTransId="{FFBAB0A4-B8D5-4A59-A635-0FAE4819989A}"/>
    <dgm:cxn modelId="{015630F0-B16A-4E9E-9DF7-54B9CB8FB57A}" type="presOf" srcId="{F062B949-7CF8-460C-BC97-B1EA60E78741}" destId="{200A94B4-B6E9-4DF1-BDEC-21E220DC41F5}" srcOrd="1" destOrd="0" presId="urn:microsoft.com/office/officeart/2005/8/layout/venn1"/>
    <dgm:cxn modelId="{5D7D10F2-6FAE-479D-9EE6-57747E445758}" type="presOf" srcId="{F062B949-7CF8-460C-BC97-B1EA60E78741}" destId="{FA29D397-87E9-4EB0-BA35-E75C21851E57}" srcOrd="0" destOrd="0" presId="urn:microsoft.com/office/officeart/2005/8/layout/venn1"/>
    <dgm:cxn modelId="{D20F99F3-1AEE-45B6-9154-39496E59422C}" type="presOf" srcId="{478ECD95-2F4F-4D3C-A1F5-EBB68FF43EA8}" destId="{2F53C2F5-4E33-4932-8B11-EAF3942DA455}" srcOrd="1" destOrd="0" presId="urn:microsoft.com/office/officeart/2005/8/layout/venn1"/>
    <dgm:cxn modelId="{889390FB-DB6B-4CAE-A156-18388E101967}" srcId="{A6F851F4-B039-4D3E-BFAA-76EEE4A2CB1D}" destId="{F062B949-7CF8-460C-BC97-B1EA60E78741}" srcOrd="2" destOrd="0" parTransId="{72A7A411-6F19-4D14-A307-E6E085074C5B}" sibTransId="{CB8147DB-2183-43BD-A303-9E5638ACBFD7}"/>
    <dgm:cxn modelId="{B7938DD9-6C77-43AB-BEE4-64BF09686C09}" type="presParOf" srcId="{9AEC06A0-5393-4F85-A6BE-A0230879D03E}" destId="{DCBC5374-10A6-4044-87A4-BCD49C4A3564}" srcOrd="0" destOrd="0" presId="urn:microsoft.com/office/officeart/2005/8/layout/venn1"/>
    <dgm:cxn modelId="{FB40A69D-1596-4F76-B41F-E469ED64AEBF}" type="presParOf" srcId="{9AEC06A0-5393-4F85-A6BE-A0230879D03E}" destId="{5383DFA0-E3C3-46A7-8522-7F52A782AFE6}" srcOrd="1" destOrd="0" presId="urn:microsoft.com/office/officeart/2005/8/layout/venn1"/>
    <dgm:cxn modelId="{85E30759-3D9D-4029-A2B6-45AF45AEDB01}" type="presParOf" srcId="{9AEC06A0-5393-4F85-A6BE-A0230879D03E}" destId="{D7AB5B99-4905-4EE2-93B0-947A64BF674B}" srcOrd="2" destOrd="0" presId="urn:microsoft.com/office/officeart/2005/8/layout/venn1"/>
    <dgm:cxn modelId="{57882773-94F7-477F-9582-E8A9F8590E73}" type="presParOf" srcId="{9AEC06A0-5393-4F85-A6BE-A0230879D03E}" destId="{2F53C2F5-4E33-4932-8B11-EAF3942DA455}" srcOrd="3" destOrd="0" presId="urn:microsoft.com/office/officeart/2005/8/layout/venn1"/>
    <dgm:cxn modelId="{36DC1E10-D072-49AC-86C3-BA12FB91AE1D}" type="presParOf" srcId="{9AEC06A0-5393-4F85-A6BE-A0230879D03E}" destId="{FA29D397-87E9-4EB0-BA35-E75C21851E57}" srcOrd="4" destOrd="0" presId="urn:microsoft.com/office/officeart/2005/8/layout/venn1"/>
    <dgm:cxn modelId="{711EEE97-3752-4548-B73E-FCD7D39A4E4A}" type="presParOf" srcId="{9AEC06A0-5393-4F85-A6BE-A0230879D03E}" destId="{200A94B4-B6E9-4DF1-BDEC-21E220DC41F5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2FD4DD-EB04-4C30-81DC-ECF87D245AD9}" type="doc">
      <dgm:prSet loTypeId="urn:microsoft.com/office/officeart/2005/8/layout/matrix2" loCatId="matrix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pPr latinLnBrk="1"/>
          <a:endParaRPr lang="ko-KR" altLang="en-US"/>
        </a:p>
      </dgm:t>
    </dgm:pt>
    <dgm:pt modelId="{BFC5DC7C-9965-4A07-A5BA-801A7317B25F}">
      <dgm:prSet phldrT="[텍스트]"/>
      <dgm:spPr/>
      <dgm:t>
        <a:bodyPr/>
        <a:lstStyle/>
        <a:p>
          <a:pPr latinLnBrk="1"/>
          <a:r>
            <a:rPr lang="en-US" altLang="ko-KR" dirty="0"/>
            <a:t>Cell viability</a:t>
          </a:r>
          <a:endParaRPr lang="ko-KR" altLang="en-US" dirty="0"/>
        </a:p>
      </dgm:t>
    </dgm:pt>
    <dgm:pt modelId="{17667BB1-3AA9-470D-B588-397B2A3EF58C}" type="parTrans" cxnId="{9513D9EE-2B6A-429E-AD40-257D3B54B6DC}">
      <dgm:prSet/>
      <dgm:spPr/>
      <dgm:t>
        <a:bodyPr/>
        <a:lstStyle/>
        <a:p>
          <a:pPr latinLnBrk="1"/>
          <a:endParaRPr lang="ko-KR" altLang="en-US"/>
        </a:p>
      </dgm:t>
    </dgm:pt>
    <dgm:pt modelId="{0BB5CB5E-BAF5-495E-B726-ED5604CDB69E}" type="sibTrans" cxnId="{9513D9EE-2B6A-429E-AD40-257D3B54B6DC}">
      <dgm:prSet/>
      <dgm:spPr/>
      <dgm:t>
        <a:bodyPr/>
        <a:lstStyle/>
        <a:p>
          <a:pPr latinLnBrk="1"/>
          <a:endParaRPr lang="ko-KR" altLang="en-US"/>
        </a:p>
      </dgm:t>
    </dgm:pt>
    <dgm:pt modelId="{ADE36CB2-0105-4D60-BD1F-0D95A9D38DFF}">
      <dgm:prSet phldrT="[텍스트]"/>
      <dgm:spPr/>
      <dgm:t>
        <a:bodyPr/>
        <a:lstStyle/>
        <a:p>
          <a:pPr latinLnBrk="1"/>
          <a:r>
            <a:rPr lang="en-US" altLang="ko-KR" dirty="0"/>
            <a:t>Cell density</a:t>
          </a:r>
          <a:endParaRPr lang="ko-KR" altLang="en-US" dirty="0"/>
        </a:p>
      </dgm:t>
    </dgm:pt>
    <dgm:pt modelId="{46182F0B-6D51-4231-B78F-0FEC2043B1D9}" type="parTrans" cxnId="{5A99093B-03F3-459A-BC38-204BEAD3F4E5}">
      <dgm:prSet/>
      <dgm:spPr/>
      <dgm:t>
        <a:bodyPr/>
        <a:lstStyle/>
        <a:p>
          <a:pPr latinLnBrk="1"/>
          <a:endParaRPr lang="ko-KR" altLang="en-US"/>
        </a:p>
      </dgm:t>
    </dgm:pt>
    <dgm:pt modelId="{303C5ACB-8415-4661-9D99-B73A6460EA57}" type="sibTrans" cxnId="{5A99093B-03F3-459A-BC38-204BEAD3F4E5}">
      <dgm:prSet/>
      <dgm:spPr/>
      <dgm:t>
        <a:bodyPr/>
        <a:lstStyle/>
        <a:p>
          <a:pPr latinLnBrk="1"/>
          <a:endParaRPr lang="ko-KR" altLang="en-US"/>
        </a:p>
      </dgm:t>
    </dgm:pt>
    <dgm:pt modelId="{F83C72F1-56FC-4B65-A6B8-8ECB2E278D9E}">
      <dgm:prSet phldrT="[텍스트]"/>
      <dgm:spPr/>
      <dgm:t>
        <a:bodyPr/>
        <a:lstStyle/>
        <a:p>
          <a:pPr latinLnBrk="1"/>
          <a:r>
            <a:rPr lang="en-US" altLang="ko-KR" dirty="0"/>
            <a:t>Retention Efficiency</a:t>
          </a:r>
          <a:endParaRPr lang="ko-KR" altLang="en-US" dirty="0"/>
        </a:p>
      </dgm:t>
    </dgm:pt>
    <dgm:pt modelId="{7B9E1FF1-B94A-4C89-8454-D4C9F09B74AD}" type="parTrans" cxnId="{07EB632E-9DA8-47D6-98F1-8196B5708C4B}">
      <dgm:prSet/>
      <dgm:spPr/>
      <dgm:t>
        <a:bodyPr/>
        <a:lstStyle/>
        <a:p>
          <a:pPr latinLnBrk="1"/>
          <a:endParaRPr lang="ko-KR" altLang="en-US"/>
        </a:p>
      </dgm:t>
    </dgm:pt>
    <dgm:pt modelId="{37EC63CD-9C19-4046-9880-954783949C2E}" type="sibTrans" cxnId="{07EB632E-9DA8-47D6-98F1-8196B5708C4B}">
      <dgm:prSet/>
      <dgm:spPr/>
      <dgm:t>
        <a:bodyPr/>
        <a:lstStyle/>
        <a:p>
          <a:pPr latinLnBrk="1"/>
          <a:endParaRPr lang="ko-KR" altLang="en-US"/>
        </a:p>
      </dgm:t>
    </dgm:pt>
    <dgm:pt modelId="{BEB049B0-CC83-4CFD-9389-EFA9432EDC31}">
      <dgm:prSet phldrT="[텍스트]"/>
      <dgm:spPr/>
      <dgm:t>
        <a:bodyPr/>
        <a:lstStyle/>
        <a:p>
          <a:pPr latinLnBrk="1"/>
          <a:r>
            <a:rPr lang="en-US" altLang="ko-KR" dirty="0"/>
            <a:t>Productivity</a:t>
          </a:r>
          <a:endParaRPr lang="ko-KR" altLang="en-US" dirty="0"/>
        </a:p>
      </dgm:t>
    </dgm:pt>
    <dgm:pt modelId="{6E5C93F4-2575-4474-9C80-5463EC5D4992}" type="parTrans" cxnId="{C2B6E3A1-BE6F-4ACF-840D-243C52D7C398}">
      <dgm:prSet/>
      <dgm:spPr/>
      <dgm:t>
        <a:bodyPr/>
        <a:lstStyle/>
        <a:p>
          <a:pPr latinLnBrk="1"/>
          <a:endParaRPr lang="ko-KR" altLang="en-US"/>
        </a:p>
      </dgm:t>
    </dgm:pt>
    <dgm:pt modelId="{4305E2D1-D652-4900-B960-6B7B844D8B96}" type="sibTrans" cxnId="{C2B6E3A1-BE6F-4ACF-840D-243C52D7C398}">
      <dgm:prSet/>
      <dgm:spPr/>
      <dgm:t>
        <a:bodyPr/>
        <a:lstStyle/>
        <a:p>
          <a:pPr latinLnBrk="1"/>
          <a:endParaRPr lang="ko-KR" altLang="en-US"/>
        </a:p>
      </dgm:t>
    </dgm:pt>
    <dgm:pt modelId="{5FDB0E39-483F-4D42-BEB7-9A27D4EFD230}" type="pres">
      <dgm:prSet presAssocID="{792FD4DD-EB04-4C30-81DC-ECF87D245AD9}" presName="matrix" presStyleCnt="0">
        <dgm:presLayoutVars>
          <dgm:chMax val="1"/>
          <dgm:dir/>
          <dgm:resizeHandles val="exact"/>
        </dgm:presLayoutVars>
      </dgm:prSet>
      <dgm:spPr/>
    </dgm:pt>
    <dgm:pt modelId="{1EB01C38-5362-499C-B581-A2078FD10591}" type="pres">
      <dgm:prSet presAssocID="{792FD4DD-EB04-4C30-81DC-ECF87D245AD9}" presName="axisShape" presStyleLbl="bgShp" presStyleIdx="0" presStyleCnt="1"/>
      <dgm:spPr/>
    </dgm:pt>
    <dgm:pt modelId="{85EE4C68-C327-4C3D-9D48-9CE0E8F06540}" type="pres">
      <dgm:prSet presAssocID="{792FD4DD-EB04-4C30-81DC-ECF87D245AD9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0BCDC97-F5D6-4E51-81E3-120C0E14EBD5}" type="pres">
      <dgm:prSet presAssocID="{792FD4DD-EB04-4C30-81DC-ECF87D245AD9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1DEABF2-15F0-4DB6-917C-3C1950D10186}" type="pres">
      <dgm:prSet presAssocID="{792FD4DD-EB04-4C30-81DC-ECF87D245AD9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12D919B-8DAB-4B4E-ADE7-C7BDECC7CD92}" type="pres">
      <dgm:prSet presAssocID="{792FD4DD-EB04-4C30-81DC-ECF87D245AD9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0470015-A5BE-4558-BA56-505363E48EAB}" type="presOf" srcId="{BEB049B0-CC83-4CFD-9389-EFA9432EDC31}" destId="{412D919B-8DAB-4B4E-ADE7-C7BDECC7CD92}" srcOrd="0" destOrd="0" presId="urn:microsoft.com/office/officeart/2005/8/layout/matrix2"/>
    <dgm:cxn modelId="{07EB632E-9DA8-47D6-98F1-8196B5708C4B}" srcId="{792FD4DD-EB04-4C30-81DC-ECF87D245AD9}" destId="{F83C72F1-56FC-4B65-A6B8-8ECB2E278D9E}" srcOrd="2" destOrd="0" parTransId="{7B9E1FF1-B94A-4C89-8454-D4C9F09B74AD}" sibTransId="{37EC63CD-9C19-4046-9880-954783949C2E}"/>
    <dgm:cxn modelId="{5A99093B-03F3-459A-BC38-204BEAD3F4E5}" srcId="{792FD4DD-EB04-4C30-81DC-ECF87D245AD9}" destId="{ADE36CB2-0105-4D60-BD1F-0D95A9D38DFF}" srcOrd="1" destOrd="0" parTransId="{46182F0B-6D51-4231-B78F-0FEC2043B1D9}" sibTransId="{303C5ACB-8415-4661-9D99-B73A6460EA57}"/>
    <dgm:cxn modelId="{DE36B240-C71C-439F-98AB-7C5BAC247FD3}" type="presOf" srcId="{BFC5DC7C-9965-4A07-A5BA-801A7317B25F}" destId="{85EE4C68-C327-4C3D-9D48-9CE0E8F06540}" srcOrd="0" destOrd="0" presId="urn:microsoft.com/office/officeart/2005/8/layout/matrix2"/>
    <dgm:cxn modelId="{B023066F-0DBE-464E-974E-0D91BAA11E1A}" type="presOf" srcId="{ADE36CB2-0105-4D60-BD1F-0D95A9D38DFF}" destId="{D0BCDC97-F5D6-4E51-81E3-120C0E14EBD5}" srcOrd="0" destOrd="0" presId="urn:microsoft.com/office/officeart/2005/8/layout/matrix2"/>
    <dgm:cxn modelId="{C2B6E3A1-BE6F-4ACF-840D-243C52D7C398}" srcId="{792FD4DD-EB04-4C30-81DC-ECF87D245AD9}" destId="{BEB049B0-CC83-4CFD-9389-EFA9432EDC31}" srcOrd="3" destOrd="0" parTransId="{6E5C93F4-2575-4474-9C80-5463EC5D4992}" sibTransId="{4305E2D1-D652-4900-B960-6B7B844D8B96}"/>
    <dgm:cxn modelId="{FCDB48C4-7DD6-4312-922B-051B02287E55}" type="presOf" srcId="{F83C72F1-56FC-4B65-A6B8-8ECB2E278D9E}" destId="{11DEABF2-15F0-4DB6-917C-3C1950D10186}" srcOrd="0" destOrd="0" presId="urn:microsoft.com/office/officeart/2005/8/layout/matrix2"/>
    <dgm:cxn modelId="{8E6245E6-C55F-4458-B5C0-AB9D62B8ECC5}" type="presOf" srcId="{792FD4DD-EB04-4C30-81DC-ECF87D245AD9}" destId="{5FDB0E39-483F-4D42-BEB7-9A27D4EFD230}" srcOrd="0" destOrd="0" presId="urn:microsoft.com/office/officeart/2005/8/layout/matrix2"/>
    <dgm:cxn modelId="{9513D9EE-2B6A-429E-AD40-257D3B54B6DC}" srcId="{792FD4DD-EB04-4C30-81DC-ECF87D245AD9}" destId="{BFC5DC7C-9965-4A07-A5BA-801A7317B25F}" srcOrd="0" destOrd="0" parTransId="{17667BB1-3AA9-470D-B588-397B2A3EF58C}" sibTransId="{0BB5CB5E-BAF5-495E-B726-ED5604CDB69E}"/>
    <dgm:cxn modelId="{E6223BB7-4AEE-4E9A-B975-75E6DB9944FE}" type="presParOf" srcId="{5FDB0E39-483F-4D42-BEB7-9A27D4EFD230}" destId="{1EB01C38-5362-499C-B581-A2078FD10591}" srcOrd="0" destOrd="0" presId="urn:microsoft.com/office/officeart/2005/8/layout/matrix2"/>
    <dgm:cxn modelId="{E642370B-2869-467E-9767-7CCDE5671114}" type="presParOf" srcId="{5FDB0E39-483F-4D42-BEB7-9A27D4EFD230}" destId="{85EE4C68-C327-4C3D-9D48-9CE0E8F06540}" srcOrd="1" destOrd="0" presId="urn:microsoft.com/office/officeart/2005/8/layout/matrix2"/>
    <dgm:cxn modelId="{8B50386A-72DE-419B-AA1C-2695D90755E7}" type="presParOf" srcId="{5FDB0E39-483F-4D42-BEB7-9A27D4EFD230}" destId="{D0BCDC97-F5D6-4E51-81E3-120C0E14EBD5}" srcOrd="2" destOrd="0" presId="urn:microsoft.com/office/officeart/2005/8/layout/matrix2"/>
    <dgm:cxn modelId="{F6CFDD25-FBD5-42DF-A927-439ED7E9866D}" type="presParOf" srcId="{5FDB0E39-483F-4D42-BEB7-9A27D4EFD230}" destId="{11DEABF2-15F0-4DB6-917C-3C1950D10186}" srcOrd="3" destOrd="0" presId="urn:microsoft.com/office/officeart/2005/8/layout/matrix2"/>
    <dgm:cxn modelId="{72802BD2-1003-4806-BC29-2599A61F944E}" type="presParOf" srcId="{5FDB0E39-483F-4D42-BEB7-9A27D4EFD230}" destId="{412D919B-8DAB-4B4E-ADE7-C7BDECC7CD92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C5374-10A6-4044-87A4-BCD49C4A3564}">
      <dsp:nvSpPr>
        <dsp:cNvPr id="0" name=""/>
        <dsp:cNvSpPr/>
      </dsp:nvSpPr>
      <dsp:spPr>
        <a:xfrm>
          <a:off x="1772997" y="44259"/>
          <a:ext cx="2124450" cy="2124450"/>
        </a:xfrm>
        <a:prstGeom prst="ellipse">
          <a:avLst/>
        </a:prstGeom>
        <a:solidFill>
          <a:schemeClr val="accent1">
            <a:shade val="80000"/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500" kern="1200" dirty="0"/>
            <a:t>Compliance</a:t>
          </a:r>
          <a:endParaRPr lang="ko-KR" altLang="en-US" sz="2500" kern="1200" dirty="0"/>
        </a:p>
      </dsp:txBody>
      <dsp:txXfrm>
        <a:off x="2056257" y="416038"/>
        <a:ext cx="1557930" cy="956002"/>
      </dsp:txXfrm>
    </dsp:sp>
    <dsp:sp modelId="{D7AB5B99-4905-4EE2-93B0-947A64BF674B}">
      <dsp:nvSpPr>
        <dsp:cNvPr id="0" name=""/>
        <dsp:cNvSpPr/>
      </dsp:nvSpPr>
      <dsp:spPr>
        <a:xfrm>
          <a:off x="2539569" y="1372040"/>
          <a:ext cx="2124450" cy="2124450"/>
        </a:xfrm>
        <a:prstGeom prst="ellipse">
          <a:avLst/>
        </a:prstGeom>
        <a:solidFill>
          <a:schemeClr val="accent1">
            <a:shade val="80000"/>
            <a:alpha val="50000"/>
            <a:hueOff val="272799"/>
            <a:satOff val="-28446"/>
            <a:lumOff val="1911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500" kern="1200" dirty="0"/>
            <a:t>Risk Mitigation</a:t>
          </a:r>
          <a:endParaRPr lang="ko-KR" altLang="en-US" sz="2500" kern="1200" dirty="0"/>
        </a:p>
      </dsp:txBody>
      <dsp:txXfrm>
        <a:off x="3189297" y="1920856"/>
        <a:ext cx="1274670" cy="1168447"/>
      </dsp:txXfrm>
    </dsp:sp>
    <dsp:sp modelId="{FA29D397-87E9-4EB0-BA35-E75C21851E57}">
      <dsp:nvSpPr>
        <dsp:cNvPr id="0" name=""/>
        <dsp:cNvSpPr/>
      </dsp:nvSpPr>
      <dsp:spPr>
        <a:xfrm>
          <a:off x="1006424" y="1372040"/>
          <a:ext cx="2124450" cy="2124450"/>
        </a:xfrm>
        <a:prstGeom prst="ellipse">
          <a:avLst/>
        </a:prstGeom>
        <a:solidFill>
          <a:schemeClr val="accent1">
            <a:shade val="80000"/>
            <a:alpha val="50000"/>
            <a:hueOff val="545598"/>
            <a:satOff val="-56892"/>
            <a:lumOff val="3822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500" kern="1200" dirty="0"/>
            <a:t>Consistency</a:t>
          </a:r>
          <a:endParaRPr lang="ko-KR" altLang="en-US" sz="2500" kern="1200" dirty="0"/>
        </a:p>
      </dsp:txBody>
      <dsp:txXfrm>
        <a:off x="1206477" y="1920856"/>
        <a:ext cx="1274670" cy="11684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B01C38-5362-499C-B581-A2078FD10591}">
      <dsp:nvSpPr>
        <dsp:cNvPr id="0" name=""/>
        <dsp:cNvSpPr/>
      </dsp:nvSpPr>
      <dsp:spPr>
        <a:xfrm>
          <a:off x="1088761" y="0"/>
          <a:ext cx="3781693" cy="3781693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E4C68-C327-4C3D-9D48-9CE0E8F06540}">
      <dsp:nvSpPr>
        <dsp:cNvPr id="0" name=""/>
        <dsp:cNvSpPr/>
      </dsp:nvSpPr>
      <dsp:spPr>
        <a:xfrm>
          <a:off x="1334571" y="245810"/>
          <a:ext cx="1512677" cy="151267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Cell viability</a:t>
          </a:r>
          <a:endParaRPr lang="ko-KR" altLang="en-US" sz="2200" kern="1200" dirty="0"/>
        </a:p>
      </dsp:txBody>
      <dsp:txXfrm>
        <a:off x="1408414" y="319653"/>
        <a:ext cx="1364991" cy="1364991"/>
      </dsp:txXfrm>
    </dsp:sp>
    <dsp:sp modelId="{D0BCDC97-F5D6-4E51-81E3-120C0E14EBD5}">
      <dsp:nvSpPr>
        <dsp:cNvPr id="0" name=""/>
        <dsp:cNvSpPr/>
      </dsp:nvSpPr>
      <dsp:spPr>
        <a:xfrm>
          <a:off x="3111967" y="245810"/>
          <a:ext cx="1512677" cy="151267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Cell density</a:t>
          </a:r>
          <a:endParaRPr lang="ko-KR" altLang="en-US" sz="2200" kern="1200" dirty="0"/>
        </a:p>
      </dsp:txBody>
      <dsp:txXfrm>
        <a:off x="3185810" y="319653"/>
        <a:ext cx="1364991" cy="1364991"/>
      </dsp:txXfrm>
    </dsp:sp>
    <dsp:sp modelId="{11DEABF2-15F0-4DB6-917C-3C1950D10186}">
      <dsp:nvSpPr>
        <dsp:cNvPr id="0" name=""/>
        <dsp:cNvSpPr/>
      </dsp:nvSpPr>
      <dsp:spPr>
        <a:xfrm>
          <a:off x="1334571" y="2023205"/>
          <a:ext cx="1512677" cy="151267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Retention Efficiency</a:t>
          </a:r>
          <a:endParaRPr lang="ko-KR" altLang="en-US" sz="2200" kern="1200" dirty="0"/>
        </a:p>
      </dsp:txBody>
      <dsp:txXfrm>
        <a:off x="1408414" y="2097048"/>
        <a:ext cx="1364991" cy="1364991"/>
      </dsp:txXfrm>
    </dsp:sp>
    <dsp:sp modelId="{412D919B-8DAB-4B4E-ADE7-C7BDECC7CD92}">
      <dsp:nvSpPr>
        <dsp:cNvPr id="0" name=""/>
        <dsp:cNvSpPr/>
      </dsp:nvSpPr>
      <dsp:spPr>
        <a:xfrm>
          <a:off x="3111967" y="2023205"/>
          <a:ext cx="1512677" cy="151267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200" kern="1200" dirty="0"/>
            <a:t>Productivity</a:t>
          </a:r>
          <a:endParaRPr lang="ko-KR" altLang="en-US" sz="2200" kern="1200" dirty="0"/>
        </a:p>
      </dsp:txBody>
      <dsp:txXfrm>
        <a:off x="3185810" y="2097048"/>
        <a:ext cx="1364991" cy="1364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540BDE-1558-439A-A134-0A381532A32E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04C66-7BE4-4373-B29C-065650F5E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475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177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826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578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892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449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3D91-4801-A046-0D88-DB22C8817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CD20F0-6950-3AD2-305D-8B6708D6F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FCD8F2-21A4-BBD7-C45B-6C4C5F4AD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9F4333-7977-EF89-E806-18806A63C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206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4E06C-0D6F-2808-D4EE-67B828FF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748C0B-6631-9010-6D05-54C054BE0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1CD007-880F-C83E-6683-27578A46F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6AEBC7-9110-41FE-285A-386E093DD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40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E89EE-285A-AF55-9C46-DF37EB655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CFF6A2-A279-882B-A07F-6F77E2C99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EF1A5B-666E-6EAA-89B5-C27D2D9DB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C10A2C-B645-EBBA-3569-50B9881A3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943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42759-C3BC-52F9-4B86-8BD03436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03E196-B343-47DB-E1E8-7AAEB0689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A14D46-4FB8-B64F-55E4-9A7BF48EE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668FC7-DA2C-6A14-441E-DF166D873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968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A86B1-3F49-3710-D590-EBE223D9E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E0470E-7AA9-2C0F-1231-5F0D0D210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59750B-3490-4A84-4790-23B8450BE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3BB2AE-C086-68A8-4270-3FFF85329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932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D656-BF9C-592F-A15D-38E69E74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BA1B28-C50A-F703-536C-179D47A5C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2EFA69-E05D-5251-99F9-E209CF5A0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D23CB-778D-7630-C86A-A058261DC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208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D94BF-326A-86F0-5175-B835004E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C90838-878D-12D6-443E-B4F5FCEA2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D15FA3-7E03-6461-05D0-C6E7D1E41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6456CE-D2E5-564F-EE6D-AE462CBF3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79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EF785-FB1C-25D9-6439-CC789241C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12A7C5-6B51-EC8A-27FD-B2217E958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BB5873-776A-738D-2B07-7C02EFD7C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37A52B-7786-CAA5-5ECF-3EC37866A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530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9E83-E822-E455-2092-174D9CAC1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7E519D-795D-1435-B428-F44D72036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0F7A9-4674-3EF7-2A94-27A06FAAE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AE396F-9269-3427-9646-AAD24D4AC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026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BBB6B-DBAF-A106-C497-2603A16FC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04AB6D-7D2C-C88A-8B20-9B6E29173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A59B58-AB5B-03D5-5ED9-65E06F69D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90CD5-7831-9D81-A439-DD161402C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763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EBB88-6B48-3AAD-4009-C31B8E69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E85A1C-08AC-9560-1E81-981867E14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CEAC27-4B00-7749-12AF-9DC042357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D8014A-734A-3D12-CE36-5A54681FB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537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6AEAD-DEEC-9519-096F-CD13EB08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AC9D23-6822-449B-2532-84F4E722A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EE846E-C3E9-0096-8897-E205F083F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55A73F-0641-5733-2F0D-4E65ECA8C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365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46282-0F98-F003-0BFB-DDF18A59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E9D3CA-2E47-F8CA-BD35-62C3444A4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83F864-0985-0354-065F-2349F956A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2B3B4C-204A-99EB-178A-22BAEBB2E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3923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8A13E-5A51-00CE-909B-2477D7B3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C2BD39-18C4-8BC7-B03B-48452699A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30F34D-201D-0079-6A2F-36420729E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BDD109-9695-D7A9-644F-D1B2BBA1B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133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4957-5575-119E-8F6A-D1BB4BA9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00D998-66D4-2A69-F009-933FE3757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B597BA-575F-4732-0437-BAC38783C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61CA1A-F705-24EC-3E06-E007487EA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128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C3486-F2D0-50A7-2F05-A572DEE50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477D0C-9D96-76D0-F285-43000E34D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3C0332-D82A-EC51-44C0-D5A0DC886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E4B201-FC48-7B33-828D-B41DEED6F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7014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3BFE-BCDF-B8DC-E968-F7C367C60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070B28-3F9E-7379-23A8-12F11108C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0D0E00-D0D1-9E40-90C4-C02651DD5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55585F-3329-01DA-6413-2355AEBF8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9599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EA47A-D3E8-4479-7AB6-BED0CD8C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1CC1F2-E072-44D7-E398-21E320BAF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AF80B9-89DB-C791-7A79-AFB95C66C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D0ED26-5A00-36C1-497B-C6E13AA1A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623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2E3A4-6B8F-9A9A-8232-2C2C29B1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5506F6-2849-5905-CD59-5E54F539C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A281F1-6D08-ED17-8876-92F7BBF7A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B97995-43D4-A713-83F8-F797D54E1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3051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119F-68C8-8D7E-0BD4-BF00789A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AB56E-957C-0434-33FF-0B54D2DE4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ED73E9-5697-42D2-3CF6-E7D2CDFEC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ABEF33-4F8F-3A2A-C900-7A0962493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2005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D97C2-E45B-6306-94BD-CADBCB4E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857CA5-76E3-91A5-AFAC-C9F3CF155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2B0706-C2BF-8CAF-E7C7-0EDB3BEAD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8DD264-DEAC-39E4-AB8F-55FF1CD4C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5633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BECE5-6153-D3BC-A93D-A20F802C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35D021-423F-1DCA-D32C-4DCBFAED7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E7F1EE-17FD-CC37-69FC-7D8E8E880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759FAB-B046-2618-C8F5-3C779A064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5334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E858-ED2C-F144-505E-DDE097E06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EA5FF1-1394-69C0-2A3F-D120B96ED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968B87-7303-595D-824C-CF5660E0F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FDC85D-4A3D-04E8-0354-43ECE1C37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1446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B9A3-BFCC-0195-4E73-59C186CB4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B5DF56-F17A-00D0-84C7-7F5D025AE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FD8AD7-02E5-6C3A-FC3C-3064554D7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86CFAD-E92E-FEE5-9EC4-20E512B96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04C66-7BE4-4373-B29C-065650F5E2E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898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4262F-A658-1B8C-5ED3-C952E4EE5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6F578D-1E5A-5A6B-D770-1E8B73508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5469D1-3A47-9388-812A-6212AC894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72B41-A358-4806-8C2D-FC7EC6C00835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A9BB45-48B0-5D5C-1579-E12737266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4D984C-1A4B-5E6B-C847-CAD61072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60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FA649A-97D0-86A8-BADE-42A1E5D6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04669-8F4E-3051-DBFF-B0C8EB512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4F60B-D6AE-FA5B-4252-24BCA4FF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22F0-F91B-446A-8B35-6EA215539404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80EF18-25BF-4E87-E541-AA69486F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7E16C1-5B38-8F33-C350-4B62D460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9996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A4CF3-0922-20A8-4902-99C1AE34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F1694A-2206-5262-B886-DC1C5847E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30A995-E075-79CC-FDA9-63D5D847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FF0D-3DD2-4CF2-B371-CC23C61EF44D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6B78CA-A4A8-E6B4-4862-8F4EE989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CC6C04-0579-CFFE-0A85-EBCF9153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8863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BA9EA-EE3E-E3D5-13C3-83FE40835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EAAB5-DFA8-7BC6-FBF5-D72EFEC3A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8F6F-8F9E-AD35-09B9-480F8641B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BC64CC-C1BC-7D65-59C0-9AA9BBA8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4E62-E075-450D-B9CB-A2489FEB1B56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5219CE-261B-4894-CF66-C016E90D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6B2D4D-9A61-02CE-3235-22628003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09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4706A-CCC4-8B1F-8D2B-6F346B6D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CD198F-8869-27BE-023B-D631C0234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3926DE-7D3A-9FCF-1355-389CABE72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ACD2E8-3AFF-9B3E-FDAB-224787A2D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7D8AE1-3C67-15BC-E1D3-53839DB33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8FF256-CD90-AD38-6CCF-2812CED0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A6530-F198-4A44-BD9D-A01B9E216A78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F830F3-74D9-FBB9-4FC6-4388442D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AEAB0E-CFBF-C70F-00C5-CEDADB69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45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4B9E7-9E24-E829-784F-B46E9A9F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13DE75-7B79-70FC-106C-2CCD5A291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C9076-3981-4BCD-A77B-FB613B1D8165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A60574-F98D-1718-8D3E-88F84F27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95595F-3839-9FD1-FA8A-D1BED7838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10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4B01A-A3BB-A718-5236-2F84C267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63823-1EF5-46A3-8FAC-F686A8AC5998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33742E-EA19-1C3E-3AAC-6A3D13D0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A30162-3B34-05B8-6391-1CF2AAF8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62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720BF-9368-97ED-177E-D44D7CDE6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9B795F-0445-9120-16FF-6B4140649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35DA56-2D51-1A15-1BAF-91FC4A446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AE1401-D5AC-7E32-1161-D4A2CB48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5720E-A5D6-40EA-A0CA-79FF6FC8C2B0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AC0B31-6C22-BE8E-80F4-8E3B386CE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82E1EA-0D7B-C638-B9C9-87A96FC2B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33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20375-D1C3-706D-4AEF-B911A4F9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A01911-EC4C-040A-5B10-49BCA7960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84E314-2912-4955-BF3F-A4218853A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7FFFA0-021D-08E4-060E-CA00B4AD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9D8A-CB62-40A1-A3C3-160E2EC41762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D2AEF5-EEF9-4A1D-AFE1-280367D9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531BA7-AAFB-A818-CE15-E98A645D5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7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560F9-624A-94D6-6469-1D52EA1B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31BFCF-469F-3FFA-2230-AAF8E2957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393A8-55A7-4883-230C-E184F410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B25B-ECDE-4319-9524-A098366E5C98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D13ECF-1D0B-3B7C-8CC4-443A91BE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4C27B-0DBD-D55D-702E-0FA36197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68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C8698D-0A87-0F2A-6E72-CC5A4C6D2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5354DD-A441-9183-3CFD-8CB1CF884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688419-E7DC-035F-3A58-0E291641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EFDE5-1058-4A18-80A0-34B3F4C2F6D3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1AE0F-0222-1220-3B7B-1D0FBB12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F49FFA-AB69-F4E5-2FE9-7CF0DB852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121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A118BF-4902-F39B-693C-18C994689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21139D-5A7F-0617-7F78-00CC5BCD7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72FC8E-F556-BC53-E10C-3C36ABF9A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BD0F0-53B7-4E60-85E3-2CA4FCF5D78D}" type="datetime1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8361E-9F93-7759-82DB-5CE661AFD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C2C2E5-C599-96D1-6240-1AB6F06BA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E643F-74BF-4EBF-A462-65DED07D36D4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6722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tmp"/><Relationship Id="rId7" Type="http://schemas.openxmlformats.org/officeDocument/2006/relationships/image" Target="../media/image12.jpeg"/><Relationship Id="rId12" Type="http://schemas.openxmlformats.org/officeDocument/2006/relationships/image" Target="../media/image17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tmp"/><Relationship Id="rId11" Type="http://schemas.openxmlformats.org/officeDocument/2006/relationships/image" Target="../media/image16.jpeg"/><Relationship Id="rId5" Type="http://schemas.openxmlformats.org/officeDocument/2006/relationships/image" Target="../media/image10.tmp"/><Relationship Id="rId10" Type="http://schemas.openxmlformats.org/officeDocument/2006/relationships/image" Target="../media/image15.jpeg"/><Relationship Id="rId4" Type="http://schemas.openxmlformats.org/officeDocument/2006/relationships/image" Target="../media/image9.tmp"/><Relationship Id="rId9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tmp"/><Relationship Id="rId3" Type="http://schemas.openxmlformats.org/officeDocument/2006/relationships/image" Target="../media/image27.tmp"/><Relationship Id="rId7" Type="http://schemas.openxmlformats.org/officeDocument/2006/relationships/image" Target="../media/image31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tmp"/><Relationship Id="rId5" Type="http://schemas.openxmlformats.org/officeDocument/2006/relationships/image" Target="../media/image29.tmp"/><Relationship Id="rId4" Type="http://schemas.openxmlformats.org/officeDocument/2006/relationships/image" Target="../media/image28.tmp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tmp"/><Relationship Id="rId3" Type="http://schemas.openxmlformats.org/officeDocument/2006/relationships/image" Target="../media/image27.tmp"/><Relationship Id="rId7" Type="http://schemas.openxmlformats.org/officeDocument/2006/relationships/image" Target="../media/image31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tmp"/><Relationship Id="rId5" Type="http://schemas.openxmlformats.org/officeDocument/2006/relationships/image" Target="../media/image29.tmp"/><Relationship Id="rId4" Type="http://schemas.openxmlformats.org/officeDocument/2006/relationships/image" Target="../media/image28.tm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tmp"/><Relationship Id="rId4" Type="http://schemas.openxmlformats.org/officeDocument/2006/relationships/image" Target="../media/image35.tm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5F7A6C4-E8B6-7D0B-121B-6D60835BBACC}"/>
              </a:ext>
            </a:extLst>
          </p:cNvPr>
          <p:cNvSpPr/>
          <p:nvPr/>
        </p:nvSpPr>
        <p:spPr>
          <a:xfrm>
            <a:off x="0" y="-1"/>
            <a:ext cx="12192000" cy="5118282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EF29C8A-F8B0-CAFF-315E-B61F7360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65544"/>
            <a:ext cx="11280202" cy="2852737"/>
          </a:xfrm>
        </p:spPr>
        <p:txBody>
          <a:bodyPr>
            <a:normAutofit/>
          </a:bodyPr>
          <a:lstStyle/>
          <a:p>
            <a:r>
              <a:rPr lang="en-US" altLang="ko-KR" sz="4700" dirty="0">
                <a:solidFill>
                  <a:schemeClr val="bg1"/>
                </a:solidFill>
                <a:latin typeface="UGent Panno Text Medium" panose="02000606040000040003" pitchFamily="2" charset="0"/>
              </a:rPr>
              <a:t>AI-powered</a:t>
            </a:r>
            <a:r>
              <a:rPr lang="ko-KR" altLang="en-US" sz="4700" dirty="0">
                <a:solidFill>
                  <a:schemeClr val="bg1"/>
                </a:solidFill>
                <a:latin typeface="UGent Panno Text Medium" panose="02000606040000040003" pitchFamily="2" charset="0"/>
              </a:rPr>
              <a:t> </a:t>
            </a:r>
            <a:r>
              <a:rPr lang="en-US" altLang="ko-KR" sz="4700" dirty="0">
                <a:solidFill>
                  <a:schemeClr val="bg1"/>
                </a:solidFill>
                <a:latin typeface="UGent Panno Text Medium" panose="02000606040000040003" pitchFamily="2" charset="0"/>
              </a:rPr>
              <a:t>Quality control in Bioprocessing:</a:t>
            </a:r>
            <a:br>
              <a:rPr lang="en-US" altLang="ko-KR" sz="4700" dirty="0">
                <a:solidFill>
                  <a:schemeClr val="bg1"/>
                </a:solidFill>
                <a:latin typeface="UGent Panno Text Medium" panose="02000606040000040003" pitchFamily="2" charset="0"/>
              </a:rPr>
            </a:br>
            <a:r>
              <a:rPr lang="en-US" altLang="ko-KR" sz="4700" dirty="0">
                <a:solidFill>
                  <a:schemeClr val="bg1"/>
                </a:solidFill>
                <a:latin typeface="UGent Panno Text Medium" panose="02000606040000040003" pitchFamily="2" charset="0"/>
              </a:rPr>
              <a:t>automation of CRO test with Computer Vision</a:t>
            </a:r>
            <a:endParaRPr lang="ko-KR" altLang="en-US" sz="4700" dirty="0">
              <a:solidFill>
                <a:schemeClr val="bg1"/>
              </a:solidFill>
              <a:latin typeface="UGent Panno Text Medium" panose="02000606040000040003" pitchFamily="2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07519E-A32A-1E43-3A29-CB7B6563D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145269"/>
            <a:ext cx="10515600" cy="1500187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UGent Panno Text" panose="02000506040000040003" pitchFamily="2" charset="0"/>
              </a:rPr>
              <a:t>02216822 Subin Hyun  (BA2)</a:t>
            </a:r>
            <a:endParaRPr lang="ko-KR" altLang="en-US" dirty="0">
              <a:solidFill>
                <a:schemeClr val="tx1"/>
              </a:solidFill>
              <a:latin typeface="UGent Panno Text" panose="0200050604000004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16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2051896-18C1-CF7C-7F4A-A8511774B4F3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670253-2954-B9A4-A22C-BAD8CF3BB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Index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DED49-5166-997A-EBFA-841068D46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UGent Panno Text" panose="02000506040000040003" pitchFamily="2" charset="0"/>
              </a:rPr>
              <a:t>Introduction</a:t>
            </a:r>
          </a:p>
          <a:p>
            <a:pPr lvl="1"/>
            <a:r>
              <a:rPr lang="en-US" altLang="ko-KR" dirty="0">
                <a:latin typeface="UGent Panno Text" panose="02000506040000040003" pitchFamily="2" charset="0"/>
              </a:rPr>
              <a:t>Keywords</a:t>
            </a:r>
          </a:p>
          <a:p>
            <a:pPr lvl="1"/>
            <a:r>
              <a:rPr lang="en-US" altLang="ko-KR" dirty="0">
                <a:latin typeface="UGent Panno Text" panose="02000506040000040003" pitchFamily="2" charset="0"/>
              </a:rPr>
              <a:t>Why automation of QC in bioprocessing required?</a:t>
            </a:r>
          </a:p>
          <a:p>
            <a:pPr lvl="1"/>
            <a:r>
              <a:rPr lang="en-US" altLang="ko-KR" dirty="0">
                <a:latin typeface="UGent Panno Text" panose="02000506040000040003" pitchFamily="2" charset="0"/>
              </a:rPr>
              <a:t>What are some advantages of CV application in QC? 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Method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Result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Conclusion &amp; Discussion</a:t>
            </a:r>
          </a:p>
          <a:p>
            <a:endParaRPr lang="en-US" altLang="ko-KR" dirty="0"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3C033A-60A1-3964-3F42-1DE8FF760F82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666BCF-A4B5-7367-14EA-E78DA7C6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859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E14A8-A295-A071-3DC7-5496224D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89D7884-38B7-D655-AF92-381257012FAE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69C882-C9FA-F5B9-FC57-E85311B8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Introduction-Keywords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BED0A8-8ED7-B431-170B-EADD2DEAA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UGent Panno Text" panose="02000506040000040003" pitchFamily="2" charset="0"/>
              </a:rPr>
              <a:t>Bioprocessing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F89BDF-9B26-4DA1-E5D8-BB8858B9E3DF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40BC0CE-015B-E67C-27CB-74CFB737E679}"/>
              </a:ext>
            </a:extLst>
          </p:cNvPr>
          <p:cNvGrpSpPr/>
          <p:nvPr/>
        </p:nvGrpSpPr>
        <p:grpSpPr>
          <a:xfrm>
            <a:off x="2236032" y="1867594"/>
            <a:ext cx="7231506" cy="4413285"/>
            <a:chOff x="4012367" y="2274826"/>
            <a:chExt cx="7231506" cy="4413285"/>
          </a:xfrm>
        </p:grpSpPr>
        <p:pic>
          <p:nvPicPr>
            <p:cNvPr id="1028" name="Picture 4" descr="Factory of the Future Will Be a Convergence of Digital and Bioprocessing  Technologies">
              <a:extLst>
                <a:ext uri="{FF2B5EF4-FFF2-40B4-BE49-F238E27FC236}">
                  <a16:creationId xmlns:a16="http://schemas.microsoft.com/office/drawing/2014/main" id="{3D91D854-5E73-4CD8-7B49-767A36E796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146" t="9559" r="1972" b="59587"/>
            <a:stretch/>
          </p:blipFill>
          <p:spPr bwMode="auto">
            <a:xfrm>
              <a:off x="5428938" y="2274826"/>
              <a:ext cx="5814935" cy="16675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Factory of the Future Will Be a Convergence of Digital and Bioprocessing  Technologies">
              <a:extLst>
                <a:ext uri="{FF2B5EF4-FFF2-40B4-BE49-F238E27FC236}">
                  <a16:creationId xmlns:a16="http://schemas.microsoft.com/office/drawing/2014/main" id="{2EECBCD1-CBCD-F292-4984-D66DD1FDA6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61" t="39257" r="1972" b="8695"/>
            <a:stretch/>
          </p:blipFill>
          <p:spPr bwMode="auto">
            <a:xfrm>
              <a:off x="4012367" y="3874957"/>
              <a:ext cx="7231506" cy="281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0A17440-247B-464D-C2AA-359F86C9F0AA}"/>
              </a:ext>
            </a:extLst>
          </p:cNvPr>
          <p:cNvSpPr txBox="1"/>
          <p:nvPr/>
        </p:nvSpPr>
        <p:spPr>
          <a:xfrm>
            <a:off x="2998033" y="6280879"/>
            <a:ext cx="904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Source: Pharma’s almanac, Factory of the Future Will Be a Convergence of Digital and Bioprocessing Technologies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619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9EC7-EF35-A0F0-9997-37E61DD1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07F9A6-8411-F9B1-00DB-2A381EC1D93F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2A5FA6-296D-C256-1A99-0339DFB2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Introduction-Keywords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59416B-1FD0-B043-B8BE-5F6D39C9CF00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48B19-E93C-16BF-91AE-6192BEEAEDA4}"/>
              </a:ext>
            </a:extLst>
          </p:cNvPr>
          <p:cNvSpPr txBox="1"/>
          <p:nvPr/>
        </p:nvSpPr>
        <p:spPr>
          <a:xfrm>
            <a:off x="8952" y="6159074"/>
            <a:ext cx="12047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Source: ISO 9001:2015 - International standard for Quality Management Systems</a:t>
            </a:r>
          </a:p>
          <a:p>
            <a:r>
              <a:rPr lang="en-US" altLang="ko-KR" sz="1400" dirty="0"/>
              <a:t>Wang, Y., et al. (2016). "Optimization of perfusion bioreactor systems for large-scale cell culture applications in biotechnology." Biotechnology and Bioengineering, 113(8), 1801-1811.</a:t>
            </a:r>
            <a:endParaRPr lang="ko-KR" altLang="en-US" sz="1400" dirty="0"/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AF0E33F5-5BBC-F4F4-B915-DB5841CF6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2895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3200" dirty="0"/>
              <a:t>Quality Control (QC)</a:t>
            </a:r>
          </a:p>
        </p:txBody>
      </p:sp>
      <p:graphicFrame>
        <p:nvGraphicFramePr>
          <p:cNvPr id="16" name="다이어그램 15">
            <a:extLst>
              <a:ext uri="{FF2B5EF4-FFF2-40B4-BE49-F238E27FC236}">
                <a16:creationId xmlns:a16="http://schemas.microsoft.com/office/drawing/2014/main" id="{AF31F9CC-AB91-EB66-DF6B-102470087B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9465054"/>
              </p:ext>
            </p:extLst>
          </p:nvPr>
        </p:nvGraphicFramePr>
        <p:xfrm>
          <a:off x="425556" y="2421792"/>
          <a:ext cx="5670444" cy="3540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4" name="다이어그램 23">
            <a:extLst>
              <a:ext uri="{FF2B5EF4-FFF2-40B4-BE49-F238E27FC236}">
                <a16:creationId xmlns:a16="http://schemas.microsoft.com/office/drawing/2014/main" id="{27739278-50D5-1D2D-36BB-0FE18EBA2E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3852625"/>
              </p:ext>
            </p:extLst>
          </p:nvPr>
        </p:nvGraphicFramePr>
        <p:xfrm>
          <a:off x="6032916" y="2301448"/>
          <a:ext cx="5959216" cy="3781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5" name="내용 개체 틀 14">
            <a:extLst>
              <a:ext uri="{FF2B5EF4-FFF2-40B4-BE49-F238E27FC236}">
                <a16:creationId xmlns:a16="http://schemas.microsoft.com/office/drawing/2014/main" id="{6358A711-DACF-05BE-59DE-AE4C0AA32F13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8961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3200" dirty="0"/>
              <a:t>Cell Retention Optimization (CRO) test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90D666-BDB8-C7BE-9AF5-554ABBD2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4</a:t>
            </a:fld>
            <a:r>
              <a:rPr lang="ko-KR" altLang="en-US" dirty="0"/>
              <a:t> </a:t>
            </a:r>
            <a:r>
              <a:rPr lang="en-US" altLang="ko-KR" dirty="0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908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D4E8-827D-4AF4-0375-257DF7B6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2B30680-29CC-AC00-128E-0AC966ECA382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9D1506-6398-EBE4-4E1A-73137AD3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Introduction-Why automation of QC required?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17D2F9-88B8-C40E-7F40-650A3A1F5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UGent Panno Text" panose="02000506040000040003" pitchFamily="2" charset="0"/>
              </a:rPr>
              <a:t>Reduce cost &amp; time</a:t>
            </a:r>
          </a:p>
          <a:p>
            <a:r>
              <a:rPr lang="en-US" altLang="ko-KR" sz="3200" dirty="0">
                <a:latin typeface="UGent Panno Text" panose="02000506040000040003" pitchFamily="2" charset="0"/>
              </a:rPr>
              <a:t>Follow up overall process</a:t>
            </a:r>
          </a:p>
          <a:p>
            <a:r>
              <a:rPr lang="en-US" altLang="ko-KR" sz="3200" dirty="0">
                <a:latin typeface="UGent Panno Text" panose="02000506040000040003" pitchFamily="2" charset="0"/>
              </a:rPr>
              <a:t>Real-time monitoring</a:t>
            </a:r>
          </a:p>
          <a:p>
            <a:r>
              <a:rPr lang="en-US" altLang="ko-KR" sz="3200" dirty="0">
                <a:latin typeface="UGent Panno Text" panose="02000506040000040003" pitchFamily="2" charset="0"/>
              </a:rPr>
              <a:t>Consistency &amp; Scalability</a:t>
            </a:r>
          </a:p>
          <a:p>
            <a:r>
              <a:rPr lang="en-US" altLang="ko-KR" sz="3200" dirty="0">
                <a:latin typeface="UGent Panno Text" panose="02000506040000040003" pitchFamily="2" charset="0"/>
              </a:rPr>
              <a:t>Efficiency &amp; Accuracy</a:t>
            </a:r>
          </a:p>
          <a:p>
            <a:r>
              <a:rPr lang="en-US" altLang="ko-KR" sz="3200" dirty="0">
                <a:latin typeface="UGent Panno Text" panose="02000506040000040003" pitchFamily="2" charset="0"/>
              </a:rPr>
              <a:t>Minimized </a:t>
            </a:r>
            <a:r>
              <a:rPr lang="nl-BE" altLang="ko-KR" sz="3200" dirty="0" err="1"/>
              <a:t>Destructive</a:t>
            </a:r>
            <a:r>
              <a:rPr lang="nl-BE" altLang="ko-KR" sz="3200" dirty="0"/>
              <a:t> </a:t>
            </a:r>
            <a:r>
              <a:rPr lang="nl-BE" altLang="ko-KR" sz="3200" dirty="0" err="1"/>
              <a:t>Testing</a:t>
            </a:r>
            <a:r>
              <a:rPr lang="nl-BE" altLang="ko-KR" sz="3200" dirty="0"/>
              <a:t> (DT)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0BF781-C3FA-1861-96D4-4355D4151A27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8E993F-6B6F-05A0-BA82-472E5CB5A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5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237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5B8C8-837F-A44C-5580-87070F20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5057C4F-C24C-0CB6-12A6-68BDA864A085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ED187F1-8F8C-0C77-14EB-743E37D5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FDA regulations for CRO test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BAD3FB-5EF6-8F21-B4E8-8E817AC20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UGent Panno Text" panose="02000506040000040003" pitchFamily="2" charset="0"/>
              </a:rPr>
              <a:t>USP &lt;61&gt; : </a:t>
            </a:r>
            <a:r>
              <a:rPr lang="en-US" altLang="ko-KR" sz="3200" dirty="0">
                <a:solidFill>
                  <a:srgbClr val="1E64C8"/>
                </a:solidFill>
                <a:latin typeface="UGent Panno Text" panose="02000506040000040003" pitchFamily="2" charset="0"/>
              </a:rPr>
              <a:t>quantitative</a:t>
            </a:r>
            <a:r>
              <a:rPr lang="en-US" altLang="ko-KR" sz="3200" dirty="0">
                <a:latin typeface="UGent Panno Text" panose="02000506040000040003" pitchFamily="2" charset="0"/>
              </a:rPr>
              <a:t> testing of microbiome</a:t>
            </a:r>
          </a:p>
          <a:p>
            <a:r>
              <a:rPr lang="en-US" altLang="ko-KR" sz="3200" dirty="0">
                <a:latin typeface="UGent Panno Text" panose="02000506040000040003" pitchFamily="2" charset="0"/>
              </a:rPr>
              <a:t>USP &lt;62&gt; : </a:t>
            </a:r>
            <a:r>
              <a:rPr lang="en-US" altLang="ko-KR" sz="3200" dirty="0">
                <a:solidFill>
                  <a:srgbClr val="1E64C8"/>
                </a:solidFill>
                <a:latin typeface="UGent Panno Text" panose="02000506040000040003" pitchFamily="2" charset="0"/>
              </a:rPr>
              <a:t>assuring absence </a:t>
            </a:r>
            <a:r>
              <a:rPr lang="en-US" altLang="ko-KR" sz="3200" dirty="0">
                <a:latin typeface="UGent Panno Text" panose="02000506040000040003" pitchFamily="2" charset="0"/>
              </a:rPr>
              <a:t>of specified harmful microorganisms</a:t>
            </a:r>
          </a:p>
          <a:p>
            <a:pPr lvl="1"/>
            <a:r>
              <a:rPr lang="en-US" altLang="ko-KR" sz="2800" b="1" i="1" dirty="0">
                <a:latin typeface="UGent Panno Text" panose="02000506040000040003" pitchFamily="2" charset="0"/>
              </a:rPr>
              <a:t>Staphylococcus aureus</a:t>
            </a:r>
          </a:p>
          <a:p>
            <a:pPr lvl="1"/>
            <a:r>
              <a:rPr lang="en-US" altLang="ko-KR" sz="2800" b="1" i="1" dirty="0">
                <a:latin typeface="UGent Panno Text" panose="02000506040000040003" pitchFamily="2" charset="0"/>
              </a:rPr>
              <a:t>Pseudomonas aeruginosa</a:t>
            </a:r>
          </a:p>
          <a:p>
            <a:pPr lvl="1"/>
            <a:r>
              <a:rPr lang="en-US" altLang="ko-KR" sz="2800" b="1" i="1" dirty="0">
                <a:latin typeface="UGent Panno Text" panose="02000506040000040003" pitchFamily="2" charset="0"/>
              </a:rPr>
              <a:t>Escherichia coli</a:t>
            </a:r>
          </a:p>
          <a:p>
            <a:pPr lvl="1"/>
            <a:r>
              <a:rPr lang="en-US" altLang="ko-KR" sz="2800" i="1" dirty="0">
                <a:latin typeface="UGent Panno Text" panose="02000506040000040003" pitchFamily="2" charset="0"/>
              </a:rPr>
              <a:t>Salmonella</a:t>
            </a:r>
            <a:r>
              <a:rPr lang="en-US" altLang="ko-KR" sz="2800" dirty="0">
                <a:latin typeface="UGent Panno Text" panose="02000506040000040003" pitchFamily="2" charset="0"/>
              </a:rPr>
              <a:t> species</a:t>
            </a:r>
          </a:p>
          <a:p>
            <a:pPr lvl="1"/>
            <a:r>
              <a:rPr lang="en-US" altLang="ko-KR" sz="2800" b="1" i="1" dirty="0">
                <a:latin typeface="UGent Panno Text" panose="02000506040000040003" pitchFamily="2" charset="0"/>
              </a:rPr>
              <a:t>Candida albicans</a:t>
            </a:r>
          </a:p>
          <a:p>
            <a:pPr lvl="1"/>
            <a:r>
              <a:rPr lang="en-US" altLang="ko-KR" sz="2800" b="1" dirty="0">
                <a:latin typeface="UGent Panno Text" panose="02000506040000040003" pitchFamily="2" charset="0"/>
              </a:rPr>
              <a:t>Bile-tolerant Gram-negative bacteria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sz="3200" dirty="0">
                <a:latin typeface="UGent Panno Text" panose="02000506040000040003" pitchFamily="2" charset="0"/>
              </a:rPr>
              <a:t>For “sterilized” pharmaceuticals CRO test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649070-0F61-DF03-0ADB-BD0BC0CA7A77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C4D135-76A7-EC76-C4CE-788F6753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6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3585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A174B-E9F4-FF72-DEDC-C86865F3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0D347A1-AB3E-5E0C-5181-53293CD39065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1FE55B-6406-1359-20FD-361CAD09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Main</a:t>
            </a:r>
            <a:r>
              <a:rPr lang="ko-KR" altLang="en-US" dirty="0">
                <a:solidFill>
                  <a:schemeClr val="bg1"/>
                </a:solidFill>
                <a:latin typeface="UGent Panno Text" panose="02000506040000040003" pitchFamily="2" charset="0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Idea: automation of counting micro-organisms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21D0BB-AB88-7EE6-86BB-E08A6B594D2E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0A8908-B877-75EA-86AB-D45D0ABD6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232633"/>
              </p:ext>
            </p:extLst>
          </p:nvPr>
        </p:nvGraphicFramePr>
        <p:xfrm>
          <a:off x="592311" y="1872586"/>
          <a:ext cx="11271837" cy="43476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55454">
                  <a:extLst>
                    <a:ext uri="{9D8B030D-6E8A-4147-A177-3AD203B41FA5}">
                      <a16:colId xmlns:a16="http://schemas.microsoft.com/office/drawing/2014/main" val="1290010237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544198454"/>
                    </a:ext>
                  </a:extLst>
                </a:gridCol>
                <a:gridCol w="5079146">
                  <a:extLst>
                    <a:ext uri="{9D8B030D-6E8A-4147-A177-3AD203B41FA5}">
                      <a16:colId xmlns:a16="http://schemas.microsoft.com/office/drawing/2014/main" val="3227103250"/>
                    </a:ext>
                  </a:extLst>
                </a:gridCol>
              </a:tblGrid>
              <a:tr h="710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Direct counting</a:t>
                      </a:r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vs</a:t>
                      </a:r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Indirect counting</a:t>
                      </a:r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20841"/>
                  </a:ext>
                </a:extLst>
              </a:tr>
              <a:tr h="7107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800" b="1" dirty="0">
                          <a:latin typeface="UGent Panno Text" panose="02000506040000040003" pitchFamily="2" charset="0"/>
                        </a:rPr>
                        <a:t>Pros</a:t>
                      </a:r>
                    </a:p>
                    <a:p>
                      <a:pPr marL="0" indent="0" algn="l" latinLnBrk="1">
                        <a:buFont typeface="UGent Panno Text" panose="02000506040000040003" pitchFamily="2" charset="0"/>
                        <a:buNone/>
                      </a:pPr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+ Accurate</a:t>
                      </a:r>
                      <a:r>
                        <a:rPr lang="ko-KR" altLang="en-US" sz="2800" dirty="0">
                          <a:latin typeface="UGent Panno Text" panose="02000506040000040003" pitchFamily="2" charset="0"/>
                        </a:rPr>
                        <a:t> </a:t>
                      </a:r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counting</a:t>
                      </a:r>
                      <a:r>
                        <a:rPr lang="ko-KR" altLang="en-US" sz="2800" dirty="0">
                          <a:latin typeface="UGent Panno Text" panose="02000506040000040003" pitchFamily="2" charset="0"/>
                        </a:rPr>
                        <a:t> </a:t>
                      </a:r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can be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800" b="1" dirty="0">
                          <a:latin typeface="UGent Panno Text" panose="02000506040000040003" pitchFamily="2" charset="0"/>
                        </a:rPr>
                        <a:t>Pros</a:t>
                      </a:r>
                    </a:p>
                    <a:p>
                      <a:pPr algn="l" latinLnBrk="1"/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+ Not much</a:t>
                      </a:r>
                      <a:r>
                        <a:rPr lang="ko-KR" altLang="en-US" sz="2800" dirty="0">
                          <a:latin typeface="UGent Panno Text" panose="02000506040000040003" pitchFamily="2" charset="0"/>
                        </a:rPr>
                        <a:t> </a:t>
                      </a:r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human</a:t>
                      </a:r>
                      <a:r>
                        <a:rPr lang="ko-KR" altLang="en-US" sz="2800" dirty="0">
                          <a:latin typeface="UGent Panno Text" panose="02000506040000040003" pitchFamily="2" charset="0"/>
                        </a:rPr>
                        <a:t> </a:t>
                      </a:r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053"/>
                  </a:ext>
                </a:extLst>
              </a:tr>
              <a:tr h="7107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+ dead cells can be ignored while counting</a:t>
                      </a:r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+ Timely efficient</a:t>
                      </a:r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876007"/>
                  </a:ext>
                </a:extLst>
              </a:tr>
              <a:tr h="34867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800" b="1" dirty="0">
                          <a:latin typeface="UGent Panno Text" panose="02000506040000040003" pitchFamily="2" charset="0"/>
                        </a:rPr>
                        <a:t>Cons</a:t>
                      </a:r>
                      <a:endParaRPr lang="ko-KR" altLang="en-US" sz="2800" b="1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800" b="1" dirty="0">
                          <a:latin typeface="UGent Panno Text" panose="02000506040000040003" pitchFamily="2" charset="0"/>
                        </a:rPr>
                        <a:t>Cons</a:t>
                      </a:r>
                      <a:endParaRPr lang="ko-KR" altLang="en-US" sz="2800" b="1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898661"/>
                  </a:ext>
                </a:extLst>
              </a:tr>
              <a:tr h="431124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- Human error can occur</a:t>
                      </a:r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- Cannot distinguish living/dead cells</a:t>
                      </a:r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21790"/>
                  </a:ext>
                </a:extLst>
              </a:tr>
              <a:tr h="7107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- Cost/Timely inefficient</a:t>
                      </a:r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800" dirty="0">
                          <a:latin typeface="UGent Panno Text" panose="02000506040000040003" pitchFamily="2" charset="0"/>
                        </a:rPr>
                        <a:t>- Only estimation can be done</a:t>
                      </a:r>
                      <a:endParaRPr lang="ko-KR" altLang="en-US" sz="2800" dirty="0">
                        <a:latin typeface="UGent Panno Text" panose="0200050604000004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827824"/>
                  </a:ext>
                </a:extLst>
              </a:tr>
            </a:tbl>
          </a:graphicData>
        </a:graphic>
      </p:graphicFrame>
      <p:pic>
        <p:nvPicPr>
          <p:cNvPr id="15" name="Picture 2" descr="image">
            <a:extLst>
              <a:ext uri="{FF2B5EF4-FFF2-40B4-BE49-F238E27FC236}">
                <a16:creationId xmlns:a16="http://schemas.microsoft.com/office/drawing/2014/main" id="{06305B18-FF33-6EEB-2379-5CE9F3D83C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56" t="2224"/>
          <a:stretch/>
        </p:blipFill>
        <p:spPr bwMode="auto">
          <a:xfrm>
            <a:off x="648178" y="2521433"/>
            <a:ext cx="4880548" cy="397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623A8656-56C8-9765-AE4E-8F713DB85AFA}"/>
              </a:ext>
            </a:extLst>
          </p:cNvPr>
          <p:cNvGrpSpPr/>
          <p:nvPr/>
        </p:nvGrpSpPr>
        <p:grpSpPr>
          <a:xfrm>
            <a:off x="5782494" y="2521433"/>
            <a:ext cx="6259334" cy="3129668"/>
            <a:chOff x="6356454" y="3822876"/>
            <a:chExt cx="5530122" cy="2765061"/>
          </a:xfrm>
        </p:grpSpPr>
        <p:pic>
          <p:nvPicPr>
            <p:cNvPr id="20" name="Picture 4" descr="image">
              <a:extLst>
                <a:ext uri="{FF2B5EF4-FFF2-40B4-BE49-F238E27FC236}">
                  <a16:creationId xmlns:a16="http://schemas.microsoft.com/office/drawing/2014/main" id="{EAC031D7-3EEF-8CAE-0174-CB9DDF0872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1515" y="3822876"/>
              <a:ext cx="2765061" cy="2765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6" descr="image">
              <a:extLst>
                <a:ext uri="{FF2B5EF4-FFF2-40B4-BE49-F238E27FC236}">
                  <a16:creationId xmlns:a16="http://schemas.microsoft.com/office/drawing/2014/main" id="{9880D4F5-38A1-CADF-59FF-B8B0F04282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6454" y="3822876"/>
              <a:ext cx="2765061" cy="2765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80D2C19-2B46-5044-159D-00D938220959}"/>
              </a:ext>
            </a:extLst>
          </p:cNvPr>
          <p:cNvGrpSpPr/>
          <p:nvPr/>
        </p:nvGrpSpPr>
        <p:grpSpPr>
          <a:xfrm>
            <a:off x="5782493" y="2464095"/>
            <a:ext cx="6259335" cy="4031912"/>
            <a:chOff x="5782493" y="2464095"/>
            <a:chExt cx="6259335" cy="4031912"/>
          </a:xfrm>
        </p:grpSpPr>
        <p:pic>
          <p:nvPicPr>
            <p:cNvPr id="23" name="Picture 8" descr="image">
              <a:extLst>
                <a:ext uri="{FF2B5EF4-FFF2-40B4-BE49-F238E27FC236}">
                  <a16:creationId xmlns:a16="http://schemas.microsoft.com/office/drawing/2014/main" id="{AF6D9653-040D-6138-AE1E-399EF2A261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2493" y="2521795"/>
              <a:ext cx="2649474" cy="3974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0" descr="세포 계수기 및 분석기(셀 카운터) | Beckman Coulter Life Sciences">
              <a:extLst>
                <a:ext uri="{FF2B5EF4-FFF2-40B4-BE49-F238E27FC236}">
                  <a16:creationId xmlns:a16="http://schemas.microsoft.com/office/drawing/2014/main" id="{86C9BA89-6A15-63B4-2CC4-48A9E92547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66" r="6713" b="3885"/>
            <a:stretch/>
          </p:blipFill>
          <p:spPr bwMode="auto">
            <a:xfrm>
              <a:off x="8431967" y="2464095"/>
              <a:ext cx="3609861" cy="4028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슬라이드 번호 개체 틀 27">
            <a:extLst>
              <a:ext uri="{FF2B5EF4-FFF2-40B4-BE49-F238E27FC236}">
                <a16:creationId xmlns:a16="http://schemas.microsoft.com/office/drawing/2014/main" id="{34EE4D03-7271-DA0B-5682-7CB74F65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7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563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7ABD4-AD3A-A5F9-FA72-15E1CB41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200EE8-E2E5-4A82-2EEB-38FFFF1650BC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1E9535-5F6F-10CD-E4B5-10125C2A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</a:t>
            </a:r>
            <a:r>
              <a:rPr lang="ko-KR" altLang="en-US" dirty="0">
                <a:solidFill>
                  <a:schemeClr val="bg1"/>
                </a:solidFill>
                <a:latin typeface="UGent Panno Text" panose="02000506040000040003" pitchFamily="2" charset="0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training-dataset selection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EE6200-7D8F-2069-AFD8-1CA62B36F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UGent Panno Text" panose="02000506040000040003" pitchFamily="2" charset="0"/>
              </a:rPr>
              <a:t>annotated dataset for colony unit count of micro-organisms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D3FE7F-A975-6E7D-ED67-61B0250A5884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6F01EBB-9C2B-C563-4172-E94B6CCA8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59502"/>
            <a:ext cx="9510647" cy="382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8C08649-78AC-9D22-51D7-43747CEA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8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0754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2914-D9CE-FB4C-98B7-DBE156489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6CB5A22-DEDB-3BC3-E254-DDA0E08E378C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359664-1D78-024F-966E-A709E22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</a:t>
            </a:r>
            <a:r>
              <a:rPr lang="ko-KR" altLang="en-US" dirty="0">
                <a:solidFill>
                  <a:schemeClr val="bg1"/>
                </a:solidFill>
                <a:latin typeface="UGent Panno Text" panose="02000506040000040003" pitchFamily="2" charset="0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training-annotated data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54E466-8E46-BDEB-DECD-73AF6C5D1AAE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0401017-2A78-C259-4A05-FE1C2C4D30AA}"/>
              </a:ext>
            </a:extLst>
          </p:cNvPr>
          <p:cNvGrpSpPr/>
          <p:nvPr/>
        </p:nvGrpSpPr>
        <p:grpSpPr>
          <a:xfrm>
            <a:off x="-488099" y="1614720"/>
            <a:ext cx="12589864" cy="4979711"/>
            <a:chOff x="-495594" y="1674680"/>
            <a:chExt cx="12589864" cy="4979711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A25DD86D-497B-1A5D-BA51-32D74B2259CF}"/>
                </a:ext>
              </a:extLst>
            </p:cNvPr>
            <p:cNvGrpSpPr/>
            <p:nvPr/>
          </p:nvGrpSpPr>
          <p:grpSpPr>
            <a:xfrm>
              <a:off x="67455" y="1674680"/>
              <a:ext cx="12026815" cy="4238945"/>
              <a:chOff x="67455" y="1607225"/>
              <a:chExt cx="12026815" cy="4238945"/>
            </a:xfrm>
          </p:grpSpPr>
          <p:pic>
            <p:nvPicPr>
              <p:cNvPr id="10" name="그림 9" descr="원, 스크린샷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86A0B0DE-5983-E751-600B-D3504D6403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455" y="1607225"/>
                <a:ext cx="2420168" cy="2318529"/>
              </a:xfrm>
              <a:prstGeom prst="rect">
                <a:avLst/>
              </a:prstGeom>
            </p:spPr>
          </p:pic>
          <p:pic>
            <p:nvPicPr>
              <p:cNvPr id="13" name="그림 12" descr="원, 스크린샷, 다채로움, 대칭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E30106F8-372B-1535-6389-2867AA53A6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307" t="11896" r="9927" b="8097"/>
              <a:stretch/>
            </p:blipFill>
            <p:spPr>
              <a:xfrm>
                <a:off x="2593456" y="1607225"/>
                <a:ext cx="2338465" cy="2318528"/>
              </a:xfrm>
              <a:prstGeom prst="rect">
                <a:avLst/>
              </a:prstGeom>
            </p:spPr>
          </p:pic>
          <p:pic>
            <p:nvPicPr>
              <p:cNvPr id="15" name="그림 14" descr="원, 테이블웨어, 식기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E61C179E-D767-BFF4-6ADB-F51642DFE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31" r="8229"/>
              <a:stretch/>
            </p:blipFill>
            <p:spPr>
              <a:xfrm>
                <a:off x="5037754" y="1607225"/>
                <a:ext cx="2404007" cy="2318529"/>
              </a:xfrm>
              <a:prstGeom prst="rect">
                <a:avLst/>
              </a:prstGeom>
            </p:spPr>
          </p:pic>
          <p:pic>
            <p:nvPicPr>
              <p:cNvPr id="19" name="그림 18" descr="원, 스크린샷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1ADD8FD4-3BC3-3448-8BB0-55A5F8111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47594" y="1607225"/>
                <a:ext cx="2356908" cy="2337267"/>
              </a:xfrm>
              <a:prstGeom prst="rect">
                <a:avLst/>
              </a:prstGeom>
            </p:spPr>
          </p:pic>
          <p:pic>
            <p:nvPicPr>
              <p:cNvPr id="2056" name="Picture 8" descr="Staphylococcus bacteria, SEM">
                <a:extLst>
                  <a:ext uri="{FF2B5EF4-FFF2-40B4-BE49-F238E27FC236}">
                    <a16:creationId xmlns:a16="http://schemas.microsoft.com/office/drawing/2014/main" id="{ACE46D5D-37DB-ECCC-B97A-079DC157D8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455" y="4003698"/>
                <a:ext cx="2420168" cy="180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8" name="Picture 10" descr="Pseudomonas in Lung, SEM">
                <a:extLst>
                  <a:ext uri="{FF2B5EF4-FFF2-40B4-BE49-F238E27FC236}">
                    <a16:creationId xmlns:a16="http://schemas.microsoft.com/office/drawing/2014/main" id="{1FF0A52D-D99E-C6EF-240F-8E5D653F99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66" t="15896" r="33928" b="26486"/>
              <a:stretch/>
            </p:blipFill>
            <p:spPr bwMode="auto">
              <a:xfrm>
                <a:off x="2593456" y="4024427"/>
                <a:ext cx="2338465" cy="180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Escherichia coli bacteria, SEM">
                <a:extLst>
                  <a:ext uri="{FF2B5EF4-FFF2-40B4-BE49-F238E27FC236}">
                    <a16:creationId xmlns:a16="http://schemas.microsoft.com/office/drawing/2014/main" id="{EACA3F91-1E72-7059-9CF3-DAF5C8F018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37754" y="4024427"/>
                <a:ext cx="2404007" cy="180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4" name="Picture 6" descr="Candida albicans yeast and hyphae, SEM">
                <a:extLst>
                  <a:ext uri="{FF2B5EF4-FFF2-40B4-BE49-F238E27FC236}">
                    <a16:creationId xmlns:a16="http://schemas.microsoft.com/office/drawing/2014/main" id="{78C0E3D4-370A-B16B-CA7D-6FD491C42F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59"/>
              <a:stretch/>
            </p:blipFill>
            <p:spPr bwMode="auto">
              <a:xfrm rot="5400000">
                <a:off x="7824545" y="3766214"/>
                <a:ext cx="1803005" cy="23569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0" name="Picture 2" descr="Bacillus subtilis, SEM - Stock Image - C043/5825 - Science Photo Library">
                <a:extLst>
                  <a:ext uri="{FF2B5EF4-FFF2-40B4-BE49-F238E27FC236}">
                    <a16:creationId xmlns:a16="http://schemas.microsoft.com/office/drawing/2014/main" id="{A5F0DE06-C08B-35FA-52AE-9CF7F96E10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10334" y="4043165"/>
                <a:ext cx="2083936" cy="180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5EF3F2A8-F5FE-6183-F70C-5778D14EA0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9057"/>
              <a:stretch/>
            </p:blipFill>
            <p:spPr>
              <a:xfrm>
                <a:off x="10010334" y="1607225"/>
                <a:ext cx="2083936" cy="2337267"/>
              </a:xfrm>
              <a:prstGeom prst="rect">
                <a:avLst/>
              </a:prstGeom>
            </p:spPr>
          </p:pic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AA5632D-7AD0-8577-9682-25F4B207C05D}"/>
                </a:ext>
              </a:extLst>
            </p:cNvPr>
            <p:cNvGrpSpPr/>
            <p:nvPr/>
          </p:nvGrpSpPr>
          <p:grpSpPr>
            <a:xfrm>
              <a:off x="-495594" y="5964323"/>
              <a:ext cx="12589864" cy="690068"/>
              <a:chOff x="-495594" y="5941838"/>
              <a:chExt cx="12589864" cy="690068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4D4F07A-F515-8676-A5D2-04340084E0DB}"/>
                  </a:ext>
                </a:extLst>
              </p:cNvPr>
              <p:cNvSpPr txBox="1"/>
              <p:nvPr/>
            </p:nvSpPr>
            <p:spPr>
              <a:xfrm>
                <a:off x="-495594" y="5941838"/>
                <a:ext cx="12589864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1" algn="l" defTabSz="914400" rtl="0" eaLnBrk="1" fontAlgn="auto" latinLnBrk="1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altLang="ko-KR" sz="240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Gent Panno Text" panose="02000506040000040003" pitchFamily="2" charset="0"/>
                    <a:ea typeface="돋움"/>
                    <a:cs typeface="+mn-cs"/>
                  </a:rPr>
                  <a:t>Staphylococcus aureus  Pseudomonas aeruginosa      Escherichia coli          Candida albicans          </a:t>
                </a:r>
                <a:r>
                  <a:rPr kumimoji="0" lang="en-US" altLang="ko-KR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Gent Panno Text" panose="02000506040000040003" pitchFamily="2" charset="0"/>
                    <a:ea typeface="돋움"/>
                    <a:cs typeface="+mn-cs"/>
                  </a:rPr>
                  <a:t>Gram-negative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788A7A2-068B-CD37-0EDD-5E77222788D8}"/>
                  </a:ext>
                </a:extLst>
              </p:cNvPr>
              <p:cNvSpPr txBox="1"/>
              <p:nvPr/>
            </p:nvSpPr>
            <p:spPr>
              <a:xfrm>
                <a:off x="9992819" y="6170241"/>
                <a:ext cx="12260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ko-K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Gent Panno Text" panose="02000506040000040003" pitchFamily="2" charset="0"/>
                    <a:ea typeface="돋움"/>
                    <a:cs typeface="+mn-cs"/>
                  </a:rPr>
                  <a:t>bacteria</a:t>
                </a:r>
                <a:endParaRPr lang="ko-KR" altLang="en-US" dirty="0"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BD4984D-C477-3B50-175D-F04C99645427}"/>
              </a:ext>
            </a:extLst>
          </p:cNvPr>
          <p:cNvSpPr txBox="1"/>
          <p:nvPr/>
        </p:nvSpPr>
        <p:spPr>
          <a:xfrm>
            <a:off x="10349815" y="6467235"/>
            <a:ext cx="32237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Image source: Science photo library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62781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4436E-7576-E0D9-E03B-7DAFCD94A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024754F-2067-EA8E-8157-A9E93A42E940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2C79C6-485D-B18F-497A-C3468E3E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</a:t>
            </a:r>
            <a:r>
              <a:rPr lang="ko-KR" altLang="en-US" dirty="0">
                <a:solidFill>
                  <a:schemeClr val="bg1"/>
                </a:solidFill>
                <a:latin typeface="UGent Panno Text" panose="02000506040000040003" pitchFamily="2" charset="0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training-model type selection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5CC5C-B1F0-E97F-99F1-2FABE2921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2980"/>
            <a:ext cx="10515600" cy="4351338"/>
          </a:xfrm>
        </p:spPr>
        <p:txBody>
          <a:bodyPr/>
          <a:lstStyle/>
          <a:p>
            <a:r>
              <a:rPr lang="en-US" altLang="ko-KR" dirty="0">
                <a:latin typeface="UGent Panno Text" panose="02000506040000040003" pitchFamily="2" charset="0"/>
              </a:rPr>
              <a:t>Yolo models: one step object detection (you only look once)</a:t>
            </a:r>
          </a:p>
          <a:p>
            <a:endParaRPr lang="en-US" altLang="ko-KR" dirty="0">
              <a:latin typeface="UGent Panno Text" panose="02000506040000040003" pitchFamily="2" charset="0"/>
            </a:endParaRPr>
          </a:p>
          <a:p>
            <a:endParaRPr lang="en-US" altLang="ko-KR" dirty="0">
              <a:latin typeface="UGent Panno Text" panose="02000506040000040003" pitchFamily="2" charset="0"/>
            </a:endParaRPr>
          </a:p>
          <a:p>
            <a:endParaRPr lang="en-US" altLang="ko-KR" dirty="0">
              <a:latin typeface="UGent Panno Text" panose="02000506040000040003" pitchFamily="2" charset="0"/>
            </a:endParaRPr>
          </a:p>
          <a:p>
            <a:endParaRPr lang="en-US" altLang="ko-KR" dirty="0">
              <a:latin typeface="UGent Panno Text" panose="02000506040000040003" pitchFamily="2" charset="0"/>
            </a:endParaRPr>
          </a:p>
          <a:p>
            <a:pPr lvl="1"/>
            <a:r>
              <a:rPr lang="en-US" altLang="ko-KR" dirty="0">
                <a:latin typeface="UGent Panno Text" panose="02000506040000040003" pitchFamily="2" charset="0"/>
              </a:rPr>
              <a:t>For long term view, yolo models can work for real time object detection</a:t>
            </a:r>
          </a:p>
          <a:p>
            <a:pPr lvl="1"/>
            <a:r>
              <a:rPr lang="en-US" altLang="ko-KR" dirty="0">
                <a:latin typeface="UGent Panno Text" panose="02000506040000040003" pitchFamily="2" charset="0"/>
              </a:rPr>
              <a:t>rt-detection is required for the automation of the quality control in “bioprocess”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B91C72-EF77-5B5A-811F-6C731ACF8E9E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D7613C5-78A1-C931-7D3A-30792CE6348C}"/>
              </a:ext>
            </a:extLst>
          </p:cNvPr>
          <p:cNvGrpSpPr/>
          <p:nvPr/>
        </p:nvGrpSpPr>
        <p:grpSpPr>
          <a:xfrm>
            <a:off x="1026560" y="2612362"/>
            <a:ext cx="10138879" cy="1863836"/>
            <a:chOff x="1101776" y="4829810"/>
            <a:chExt cx="10138879" cy="1863836"/>
          </a:xfrm>
        </p:grpSpPr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C169EF7B-FDC3-FF8A-8DE6-FE8D7DE486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7" b="63503"/>
            <a:stretch/>
          </p:blipFill>
          <p:spPr bwMode="auto">
            <a:xfrm>
              <a:off x="1101776" y="4829810"/>
              <a:ext cx="8502643" cy="1808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9C6171C-801E-D57F-8A00-319B70DD7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19692" y="4853393"/>
              <a:ext cx="1820963" cy="1840253"/>
            </a:xfrm>
            <a:prstGeom prst="rect">
              <a:avLst/>
            </a:prstGeom>
          </p:spPr>
        </p:pic>
      </p:grp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D8E1F018-B9F2-65B7-D180-AE2C1EE9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10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2884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EE2C9-33CA-3FB2-79FC-FBA77294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E6A91D9-B8F0-56DC-20BF-7D9813A08B84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0444FB-F3A5-F4C3-450C-34BA9530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training-yolo</a:t>
            </a:r>
            <a:r>
              <a:rPr lang="ko-KR" altLang="en-US" dirty="0">
                <a:solidFill>
                  <a:schemeClr val="bg1"/>
                </a:solidFill>
                <a:latin typeface="UGent Panno Text" panose="02000506040000040003" pitchFamily="2" charset="0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version</a:t>
            </a:r>
            <a:r>
              <a:rPr lang="ko-KR" altLang="en-US" dirty="0">
                <a:solidFill>
                  <a:schemeClr val="bg1"/>
                </a:solidFill>
                <a:latin typeface="UGent Panno Text" panose="02000506040000040003" pitchFamily="2" charset="0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selection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BB65D2-B06F-998E-C190-C9E24676A11B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03F956A-0169-8417-8AA2-1817D7CA9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72" y="2147173"/>
            <a:ext cx="10925255" cy="366715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004286-92C8-EA5E-A0C2-7D6833844F93}"/>
              </a:ext>
            </a:extLst>
          </p:cNvPr>
          <p:cNvSpPr/>
          <p:nvPr/>
        </p:nvSpPr>
        <p:spPr>
          <a:xfrm>
            <a:off x="648363" y="3252865"/>
            <a:ext cx="10895276" cy="494676"/>
          </a:xfrm>
          <a:prstGeom prst="rect">
            <a:avLst/>
          </a:prstGeom>
          <a:noFill/>
          <a:ln w="38100">
            <a:solidFill>
              <a:srgbClr val="1E64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B4566D2-36E2-FCE8-A260-A5C56DDE5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11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2268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89717-2E33-AFBE-E05E-0A8F6248F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41F85A2-2520-DE79-4D7A-121EEA6A0713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C37289-EFA1-3B21-E5B4-EE22E8DB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training-loss trend graph: Box</a:t>
            </a:r>
            <a:r>
              <a:rPr lang="ko-KR" altLang="en-US" dirty="0">
                <a:solidFill>
                  <a:schemeClr val="bg1"/>
                </a:solidFill>
                <a:latin typeface="UGent Panno Text" panose="02000506040000040003" pitchFamily="2" charset="0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loss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F58446-DBFA-C4A3-FC36-301EF0B7ED8C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3EE87E-7C91-B20D-38AA-61C82FDF8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33" y="1737832"/>
            <a:ext cx="10200133" cy="4744396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6B44790-E18A-7801-CCDF-2B24DDA82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12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5330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91A5C-BA67-061D-9045-2813CCB5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448BE94-2BE2-8AFC-04A4-647F782B377E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4CCCEF-46B3-1D53-017B-D3E52550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training-loss trend graph: Classification loss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0E4A0DC-9BC0-6599-204E-0C6E80F2F925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텍스트, 스크린샷, 그래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E60134-8F2E-E263-C203-0C2FB43E4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22" y="1700992"/>
            <a:ext cx="9983955" cy="4770931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CE8720-7BEB-186B-727D-754FB6E0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13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041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76E46-9CA3-92EE-2AA8-50648A995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95656B3-4E41-E113-9B80-5F1AC8ECD20F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4C97504-F408-18EE-97CF-D334EB98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4089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training-loss trend graph: distribution focal loss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189CB5-6887-2F1A-64FA-156F25073CF4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679B8D-49A9-8FA3-363B-8EE3F1A46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953" y="1787615"/>
            <a:ext cx="9792093" cy="4597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573441C-11E0-767C-C29A-DEA661C7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14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0934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A259-CFDC-B22B-CD37-34BCD914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080D55-8104-7DCF-E39C-CCE8FA15A088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D6B4A4-79BD-0661-74A1-8F119395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training-validation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A2D9B2-7E74-267B-8A86-FFB36BD13044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910CED3-D840-8F15-37F3-88BD298A4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15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A8E95B6-DBED-8208-12CF-F12D164299BB}"/>
              </a:ext>
            </a:extLst>
          </p:cNvPr>
          <p:cNvGrpSpPr/>
          <p:nvPr/>
        </p:nvGrpSpPr>
        <p:grpSpPr>
          <a:xfrm>
            <a:off x="195430" y="1844395"/>
            <a:ext cx="11994098" cy="4298429"/>
            <a:chOff x="126274" y="1844395"/>
            <a:chExt cx="11994098" cy="4298429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08737FE8-4A78-F509-7578-BA730C4679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36" b="65574"/>
            <a:stretch/>
          </p:blipFill>
          <p:spPr bwMode="auto">
            <a:xfrm>
              <a:off x="4080222" y="1844395"/>
              <a:ext cx="8040150" cy="42984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그림 5" descr="텍스트, 원, 스크린샷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8C5BA96C-A864-5C91-3ED3-9F240754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274" y="2055813"/>
              <a:ext cx="3877108" cy="39674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9249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CB655-00BD-4CBA-C8DE-4DD9B339B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600E650-8EED-3B4F-DB68-BB6D7DCA23A3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969DE41-89E1-F1D5-79B1-A51E8474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training-validation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20355C-1A0E-9D1D-D063-9718B97EB764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2301DB7-F633-61BE-56B8-A0ACFE4D7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78" y="1964259"/>
            <a:ext cx="7681969" cy="2752745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6D7CFDC-4E08-F226-B79E-3571E2ACA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876580"/>
              </p:ext>
            </p:extLst>
          </p:nvPr>
        </p:nvGraphicFramePr>
        <p:xfrm>
          <a:off x="8169639" y="2243351"/>
          <a:ext cx="3783767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208">
                  <a:extLst>
                    <a:ext uri="{9D8B030D-6E8A-4147-A177-3AD203B41FA5}">
                      <a16:colId xmlns:a16="http://schemas.microsoft.com/office/drawing/2014/main" val="3119686521"/>
                    </a:ext>
                  </a:extLst>
                </a:gridCol>
                <a:gridCol w="1526559">
                  <a:extLst>
                    <a:ext uri="{9D8B030D-6E8A-4147-A177-3AD203B41FA5}">
                      <a16:colId xmlns:a16="http://schemas.microsoft.com/office/drawing/2014/main" val="33455514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endParaRPr lang="ko-KR" altLang="en-US" b="1"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b="1" dirty="0" err="1">
                          <a:effectLst/>
                        </a:rPr>
                        <a:t>Metric</a:t>
                      </a:r>
                      <a:r>
                        <a:rPr lang="nl-BE" b="1" dirty="0">
                          <a:effectLst/>
                        </a:rPr>
                        <a:t> Value</a:t>
                      </a:r>
                      <a:endParaRPr lang="nl-BE" b="1" dirty="0"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484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nl-BE" b="1" dirty="0" err="1">
                          <a:effectLst/>
                        </a:rPr>
                        <a:t>metrics</a:t>
                      </a:r>
                      <a:r>
                        <a:rPr lang="nl-BE" b="1" dirty="0">
                          <a:effectLst/>
                        </a:rPr>
                        <a:t>/</a:t>
                      </a:r>
                      <a:r>
                        <a:rPr lang="nl-BE" b="1" dirty="0" err="1">
                          <a:effectLst/>
                        </a:rPr>
                        <a:t>precision</a:t>
                      </a:r>
                      <a:r>
                        <a:rPr lang="nl-BE" b="1" dirty="0">
                          <a:effectLst/>
                        </a:rPr>
                        <a:t>(B)</a:t>
                      </a:r>
                      <a:endParaRPr lang="nl-BE" b="1" dirty="0">
                        <a:effectLst/>
                        <a:latin typeface="inherit"/>
                      </a:endParaRPr>
                    </a:p>
                  </a:txBody>
                  <a:tcPr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dirty="0">
                          <a:effectLst/>
                        </a:rPr>
                        <a:t>0.879</a:t>
                      </a:r>
                      <a:endParaRPr lang="en-US" altLang="ko-KR" dirty="0">
                        <a:effectLst/>
                        <a:latin typeface="inherit"/>
                      </a:endParaRPr>
                    </a:p>
                  </a:txBody>
                  <a:tcPr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071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nl-BE" b="1">
                          <a:effectLst/>
                        </a:rPr>
                        <a:t>metrics/recall(B)</a:t>
                      </a:r>
                      <a:endParaRPr lang="nl-BE" b="1">
                        <a:effectLst/>
                        <a:latin typeface="inherit"/>
                      </a:endParaRPr>
                    </a:p>
                  </a:txBody>
                  <a:tcPr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dirty="0">
                          <a:effectLst/>
                        </a:rPr>
                        <a:t>0.611</a:t>
                      </a:r>
                      <a:endParaRPr lang="en-US" altLang="ko-KR" dirty="0">
                        <a:effectLst/>
                        <a:latin typeface="inherit"/>
                      </a:endParaRPr>
                    </a:p>
                  </a:txBody>
                  <a:tcPr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7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nl-BE" b="1">
                          <a:effectLst/>
                        </a:rPr>
                        <a:t>metrics/mAP50(B)</a:t>
                      </a:r>
                      <a:endParaRPr lang="nl-BE" b="1"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>
                          <a:effectLst/>
                        </a:rPr>
                        <a:t>0.681</a:t>
                      </a:r>
                      <a:endParaRPr lang="en-US" altLang="ko-KR"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25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nl-BE" b="1">
                          <a:effectLst/>
                        </a:rPr>
                        <a:t>metrics/mAP50-95(B)</a:t>
                      </a:r>
                      <a:endParaRPr lang="nl-BE" b="1"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>
                          <a:effectLst/>
                        </a:rPr>
                        <a:t>0.426</a:t>
                      </a:r>
                      <a:endParaRPr lang="en-US" altLang="ko-KR"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385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nl-BE" b="1">
                          <a:effectLst/>
                        </a:rPr>
                        <a:t>fitness</a:t>
                      </a:r>
                      <a:endParaRPr lang="nl-BE" b="1">
                        <a:effectLst/>
                        <a:latin typeface="inheri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dirty="0">
                          <a:effectLst/>
                        </a:rPr>
                        <a:t>0.451</a:t>
                      </a:r>
                      <a:endParaRPr lang="en-US" altLang="ko-KR" dirty="0">
                        <a:effectLst/>
                        <a:latin typeface="inheri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1954341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6C0C31C9-0601-377F-EADE-F8895AE8822E}"/>
              </a:ext>
            </a:extLst>
          </p:cNvPr>
          <p:cNvGrpSpPr/>
          <p:nvPr/>
        </p:nvGrpSpPr>
        <p:grpSpPr>
          <a:xfrm>
            <a:off x="6932951" y="2593298"/>
            <a:ext cx="5020455" cy="2765686"/>
            <a:chOff x="6932951" y="2593298"/>
            <a:chExt cx="5020455" cy="2765686"/>
          </a:xfrm>
        </p:grpSpPr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8FB89EF0-71F7-C904-8998-C94707312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2951" y="2953062"/>
              <a:ext cx="1236688" cy="2405922"/>
            </a:xfrm>
            <a:prstGeom prst="straightConnector1">
              <a:avLst/>
            </a:prstGeom>
            <a:ln w="57150">
              <a:solidFill>
                <a:srgbClr val="1E64C8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01DB0F4-35CB-8B1C-9F30-8399E78DF286}"/>
                </a:ext>
              </a:extLst>
            </p:cNvPr>
            <p:cNvSpPr/>
            <p:nvPr/>
          </p:nvSpPr>
          <p:spPr>
            <a:xfrm>
              <a:off x="8169639" y="2593298"/>
              <a:ext cx="3783767" cy="734517"/>
            </a:xfrm>
            <a:prstGeom prst="rect">
              <a:avLst/>
            </a:prstGeom>
            <a:noFill/>
            <a:ln w="57150">
              <a:solidFill>
                <a:srgbClr val="1E64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46DDE4-D960-9CB6-6C5E-AE589379A41D}"/>
                  </a:ext>
                </a:extLst>
              </p:cNvPr>
              <p:cNvSpPr txBox="1"/>
              <p:nvPr/>
            </p:nvSpPr>
            <p:spPr>
              <a:xfrm>
                <a:off x="1241321" y="5315688"/>
                <a:ext cx="4729436" cy="626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2800" dirty="0"/>
                  <a:t>F1 Score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2×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800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r>
                  <a:rPr lang="en-US" altLang="ko-KR" sz="2800" dirty="0"/>
                  <a:t> = 0.721</a:t>
                </a:r>
                <a:endParaRPr lang="ko-KR" alt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46DDE4-D960-9CB6-6C5E-AE589379A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321" y="5315688"/>
                <a:ext cx="4729436" cy="626775"/>
              </a:xfrm>
              <a:prstGeom prst="rect">
                <a:avLst/>
              </a:prstGeom>
              <a:blipFill>
                <a:blip r:embed="rId4"/>
                <a:stretch>
                  <a:fillRect l="-4645" t="-1942" r="-3484" b="-17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C45D5CE0-1D97-64A6-A59D-E34190F3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16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8996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71436-5752-2A8A-93CE-0CB59089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1836B28-C1AA-2D38-71D3-13F9507932C8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49889D-66A6-9B92-1CB5-60F5F2BC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evaluation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B1975E-5493-9481-F21A-D7BEF8F61D10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텍스트, 스크린샷, 원, 일반 보급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595A214-A85E-6B26-24E2-FCCA03CA7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863" y="1590103"/>
            <a:ext cx="4476294" cy="4892125"/>
          </a:xfrm>
          <a:prstGeom prst="rect">
            <a:avLst/>
          </a:prstGeom>
        </p:spPr>
      </p:pic>
      <p:pic>
        <p:nvPicPr>
          <p:cNvPr id="9" name="그림 8" descr="텍스트, 스크린샷, 원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1289805-12EB-1DC1-038E-0680706070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4"/>
          <a:stretch/>
        </p:blipFill>
        <p:spPr>
          <a:xfrm>
            <a:off x="6713863" y="1486256"/>
            <a:ext cx="4476294" cy="5130314"/>
          </a:xfrm>
          <a:prstGeom prst="rect">
            <a:avLst/>
          </a:prstGeom>
        </p:spPr>
      </p:pic>
      <p:pic>
        <p:nvPicPr>
          <p:cNvPr id="11" name="그림 10" descr="텍스트, 원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52415E-BFBA-DAE1-25D0-3237B2F762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213" y="1571336"/>
            <a:ext cx="4693092" cy="5035506"/>
          </a:xfrm>
          <a:prstGeom prst="rect">
            <a:avLst/>
          </a:prstGeom>
        </p:spPr>
      </p:pic>
      <p:pic>
        <p:nvPicPr>
          <p:cNvPr id="13" name="그림 12" descr="텍스트, 스크린샷, 원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9581E6B-339A-A1C9-1FEA-AC77ADCA78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227" y="1578382"/>
            <a:ext cx="5017267" cy="507379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19C28DE-AA29-4670-2B98-9B07DC22FA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04"/>
          <a:stretch/>
        </p:blipFill>
        <p:spPr>
          <a:xfrm>
            <a:off x="6450760" y="1502550"/>
            <a:ext cx="4926774" cy="5149631"/>
          </a:xfrm>
          <a:prstGeom prst="rect">
            <a:avLst/>
          </a:prstGeom>
        </p:spPr>
      </p:pic>
      <p:pic>
        <p:nvPicPr>
          <p:cNvPr id="17" name="그림 16" descr="원, 테이블웨어, 식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F99C59-F713-E05C-0B32-829C59DE03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83"/>
          <a:stretch/>
        </p:blipFill>
        <p:spPr>
          <a:xfrm>
            <a:off x="6465750" y="1501754"/>
            <a:ext cx="4960245" cy="5191892"/>
          </a:xfrm>
          <a:prstGeom prst="rect">
            <a:avLst/>
          </a:prstGeom>
        </p:spPr>
      </p:pic>
      <p:pic>
        <p:nvPicPr>
          <p:cNvPr id="7" name="그림 6" descr="텍스트, 스크린샷, 도표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2B2C8E3-42DE-E682-0CEE-781BDDCBBA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5" t="3148" r="6283" b="1450"/>
          <a:stretch/>
        </p:blipFill>
        <p:spPr>
          <a:xfrm>
            <a:off x="312123" y="1546007"/>
            <a:ext cx="6059896" cy="5138548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88CDC04-5A32-D9D6-DB93-9BC1D1F9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17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5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01B1A-FA8A-840E-959E-75459DBCB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AF7D0AC-6017-3CE8-52A0-BBD480DD60AC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33D401-5FB4-5417-137A-91049F35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Result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8484BA-6A95-F682-E908-987E57F7AD88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텍스트, 스크린샷, 원, 일반 보급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874335-D802-FCA3-6CFF-D0BA5B7DF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97" y="4470438"/>
            <a:ext cx="1936764" cy="2116680"/>
          </a:xfrm>
          <a:prstGeom prst="rect">
            <a:avLst/>
          </a:prstGeom>
        </p:spPr>
      </p:pic>
      <p:pic>
        <p:nvPicPr>
          <p:cNvPr id="6" name="그림 5" descr="텍스트, 스크린샷, 원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FDC8ED9-0613-4618-DEC9-A07243A184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4"/>
          <a:stretch/>
        </p:blipFill>
        <p:spPr>
          <a:xfrm>
            <a:off x="2074790" y="4437060"/>
            <a:ext cx="1865852" cy="2138466"/>
          </a:xfrm>
          <a:prstGeom prst="rect">
            <a:avLst/>
          </a:prstGeom>
        </p:spPr>
      </p:pic>
      <p:pic>
        <p:nvPicPr>
          <p:cNvPr id="8" name="그림 7" descr="텍스트, 원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2BDC50C-388F-14E0-C1E9-B975856B08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880" y="4467819"/>
            <a:ext cx="1963656" cy="2106928"/>
          </a:xfrm>
          <a:prstGeom prst="rect">
            <a:avLst/>
          </a:prstGeom>
        </p:spPr>
      </p:pic>
      <p:pic>
        <p:nvPicPr>
          <p:cNvPr id="9" name="그림 8" descr="텍스트, 스크린샷, 원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AFA012A-709A-F8F0-E9B2-B98EB27807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98" y="4471325"/>
            <a:ext cx="2091344" cy="21149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929DA01-6D64-37C4-FF08-021F177DCF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04"/>
          <a:stretch/>
        </p:blipFill>
        <p:spPr>
          <a:xfrm>
            <a:off x="7977742" y="4455521"/>
            <a:ext cx="2053624" cy="2146516"/>
          </a:xfrm>
          <a:prstGeom prst="rect">
            <a:avLst/>
          </a:prstGeom>
        </p:spPr>
      </p:pic>
      <p:pic>
        <p:nvPicPr>
          <p:cNvPr id="11" name="그림 10" descr="원, 테이블웨어, 식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A51FD4F-8B50-8504-D8D7-E53A1B3B6D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83"/>
          <a:stretch/>
        </p:blipFill>
        <p:spPr>
          <a:xfrm>
            <a:off x="10023758" y="4431425"/>
            <a:ext cx="2067576" cy="2164132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50AD9318-F855-AC86-83F8-F8D1506D5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64777" cy="2164132"/>
          </a:xfrm>
        </p:spPr>
        <p:txBody>
          <a:bodyPr/>
          <a:lstStyle/>
          <a:p>
            <a:r>
              <a:rPr lang="en-US" altLang="ko-KR" dirty="0">
                <a:latin typeface="UGent Panno Text" panose="02000506040000040003" pitchFamily="2" charset="0"/>
              </a:rPr>
              <a:t>Fine-tuned yolov8 model is good at classification and recognizing the region for 5 main micro-organisms regulated in FDA pharmaceutical regulation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Some colonies were not detected (-&gt; low recall)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No detection for contamination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FE5AA4D8-C43C-E905-E6DD-3369FDB1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18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5706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04D93-9308-777A-1F40-55B817E5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DA9802C-4205-28F3-BED1-CB93061E8ED2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21C3D7-4A5E-7146-AFF9-2A05F78F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4089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evaluation-test metric values (not</a:t>
            </a:r>
            <a:r>
              <a:rPr lang="ko-KR" altLang="en-US" dirty="0">
                <a:solidFill>
                  <a:schemeClr val="bg1"/>
                </a:solidFill>
                <a:latin typeface="UGent Panno Text" panose="02000506040000040003" pitchFamily="2" charset="0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augmented)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8C0B7C-0580-9EAD-9928-C0C721CD3EC0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69C1B3C-34E3-86C7-F822-53DAAF2D2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45920"/>
              </p:ext>
            </p:extLst>
          </p:nvPr>
        </p:nvGraphicFramePr>
        <p:xfrm>
          <a:off x="493429" y="2055813"/>
          <a:ext cx="11228881" cy="402042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37903">
                  <a:extLst>
                    <a:ext uri="{9D8B030D-6E8A-4147-A177-3AD203B41FA5}">
                      <a16:colId xmlns:a16="http://schemas.microsoft.com/office/drawing/2014/main" val="1934358756"/>
                    </a:ext>
                  </a:extLst>
                </a:gridCol>
                <a:gridCol w="1059403">
                  <a:extLst>
                    <a:ext uri="{9D8B030D-6E8A-4147-A177-3AD203B41FA5}">
                      <a16:colId xmlns:a16="http://schemas.microsoft.com/office/drawing/2014/main" val="2783064123"/>
                    </a:ext>
                  </a:extLst>
                </a:gridCol>
                <a:gridCol w="1528997">
                  <a:extLst>
                    <a:ext uri="{9D8B030D-6E8A-4147-A177-3AD203B41FA5}">
                      <a16:colId xmlns:a16="http://schemas.microsoft.com/office/drawing/2014/main" val="2317826349"/>
                    </a:ext>
                  </a:extLst>
                </a:gridCol>
                <a:gridCol w="2151089">
                  <a:extLst>
                    <a:ext uri="{9D8B030D-6E8A-4147-A177-3AD203B41FA5}">
                      <a16:colId xmlns:a16="http://schemas.microsoft.com/office/drawing/2014/main" val="8734452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113178571"/>
                    </a:ext>
                  </a:extLst>
                </a:gridCol>
                <a:gridCol w="1792724">
                  <a:extLst>
                    <a:ext uri="{9D8B030D-6E8A-4147-A177-3AD203B41FA5}">
                      <a16:colId xmlns:a16="http://schemas.microsoft.com/office/drawing/2014/main" val="3828066064"/>
                    </a:ext>
                  </a:extLst>
                </a:gridCol>
                <a:gridCol w="1729965">
                  <a:extLst>
                    <a:ext uri="{9D8B030D-6E8A-4147-A177-3AD203B41FA5}">
                      <a16:colId xmlns:a16="http://schemas.microsoft.com/office/drawing/2014/main" val="3248661161"/>
                    </a:ext>
                  </a:extLst>
                </a:gridCol>
              </a:tblGrid>
              <a:tr h="1004341"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 dirty="0" err="1">
                          <a:effectLst/>
                        </a:rPr>
                        <a:t>Epoch</a:t>
                      </a:r>
                      <a:r>
                        <a:rPr lang="nl-BE" sz="2800" u="none" strike="noStrike" dirty="0">
                          <a:effectLst/>
                        </a:rPr>
                        <a:t> #</a:t>
                      </a:r>
                      <a:endParaRPr lang="nl-BE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000" u="none" strike="noStrike" dirty="0">
                          <a:effectLst/>
                        </a:rPr>
                        <a:t>Second </a:t>
                      </a:r>
                      <a:r>
                        <a:rPr lang="nl-BE" sz="2000" u="none" strike="noStrike" dirty="0" err="1">
                          <a:effectLst/>
                        </a:rPr>
                        <a:t>fine-tune</a:t>
                      </a:r>
                      <a:endParaRPr lang="nl-BE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000" u="none" strike="noStrike" dirty="0">
                          <a:effectLst/>
                        </a:rPr>
                        <a:t>Second </a:t>
                      </a:r>
                      <a:r>
                        <a:rPr lang="nl-BE" sz="2000" u="none" strike="noStrike" dirty="0" err="1">
                          <a:effectLst/>
                        </a:rPr>
                        <a:t>fine-tune</a:t>
                      </a:r>
                      <a:r>
                        <a:rPr lang="nl-BE" sz="2000" u="none" strike="noStrike" dirty="0">
                          <a:effectLst/>
                        </a:rPr>
                        <a:t> </a:t>
                      </a:r>
                      <a:r>
                        <a:rPr lang="nl-BE" sz="2000" u="none" strike="noStrike" dirty="0" err="1">
                          <a:effectLst/>
                        </a:rPr>
                        <a:t>epoch</a:t>
                      </a:r>
                      <a:r>
                        <a:rPr lang="nl-BE" sz="2000" u="none" strike="noStrike" dirty="0">
                          <a:effectLst/>
                        </a:rPr>
                        <a:t> #</a:t>
                      </a:r>
                      <a:endParaRPr lang="nl-BE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 dirty="0">
                          <a:effectLst/>
                        </a:rPr>
                        <a:t>Precision</a:t>
                      </a:r>
                      <a:endParaRPr lang="nl-BE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Recall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 dirty="0">
                          <a:effectLst/>
                        </a:rPr>
                        <a:t>F1 score</a:t>
                      </a:r>
                      <a:endParaRPr lang="nl-BE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human eval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47644362"/>
                  </a:ext>
                </a:extLst>
              </a:tr>
              <a:tr h="502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50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No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.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0.770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0.566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0.652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medium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03254929"/>
                  </a:ext>
                </a:extLst>
              </a:tr>
              <a:tr h="502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50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Yes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100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0.660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0.742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0.699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low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93847958"/>
                  </a:ext>
                </a:extLst>
              </a:tr>
              <a:tr h="502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100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No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.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0.879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0.611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0.721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high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47695007"/>
                  </a:ext>
                </a:extLst>
              </a:tr>
              <a:tr h="502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150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No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.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0.957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0.593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0.732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high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684316819"/>
                  </a:ext>
                </a:extLst>
              </a:tr>
              <a:tr h="502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u="none" strike="noStrike" dirty="0">
                          <a:effectLst/>
                        </a:rPr>
                        <a:t>200</a:t>
                      </a:r>
                      <a:endParaRPr lang="en-US" altLang="ko-KR" sz="2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b="1" u="none" strike="noStrike" dirty="0">
                          <a:effectLst/>
                        </a:rPr>
                        <a:t>No</a:t>
                      </a:r>
                      <a:endParaRPr lang="nl-BE" sz="2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u="none" strike="noStrike" dirty="0">
                          <a:effectLst/>
                        </a:rPr>
                        <a:t>.</a:t>
                      </a:r>
                      <a:endParaRPr lang="en-US" altLang="ko-KR" sz="2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u="none" strike="noStrike" dirty="0">
                          <a:effectLst/>
                        </a:rPr>
                        <a:t>0.955</a:t>
                      </a:r>
                      <a:endParaRPr lang="en-US" altLang="ko-KR" sz="2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u="none" strike="noStrike" dirty="0">
                          <a:effectLst/>
                        </a:rPr>
                        <a:t>0.602</a:t>
                      </a:r>
                      <a:endParaRPr lang="en-US" altLang="ko-KR" sz="2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u="none" strike="noStrike" dirty="0">
                          <a:effectLst/>
                        </a:rPr>
                        <a:t>0.738</a:t>
                      </a:r>
                      <a:endParaRPr lang="en-US" altLang="ko-KR" sz="2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b="1" u="none" strike="noStrike" dirty="0">
                          <a:effectLst/>
                        </a:rPr>
                        <a:t>high</a:t>
                      </a:r>
                      <a:endParaRPr lang="nl-BE" sz="2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968824"/>
                  </a:ext>
                </a:extLst>
              </a:tr>
              <a:tr h="5026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 dirty="0">
                          <a:effectLst/>
                        </a:rPr>
                        <a:t>200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>
                          <a:effectLst/>
                        </a:rPr>
                        <a:t>Yes</a:t>
                      </a:r>
                      <a:endParaRPr lang="nl-BE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100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0.794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0.675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u="none" strike="noStrike">
                          <a:effectLst/>
                        </a:rPr>
                        <a:t>0.730</a:t>
                      </a:r>
                      <a:endParaRPr lang="en-US" altLang="ko-KR" sz="2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u="none" strike="noStrike" dirty="0">
                          <a:effectLst/>
                        </a:rPr>
                        <a:t>low</a:t>
                      </a:r>
                      <a:endParaRPr lang="nl-BE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70000667"/>
                  </a:ext>
                </a:extLst>
              </a:tr>
            </a:tbl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7F4821-D829-D8E0-A016-3D2D7962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19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0806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E945-C096-2D0A-99DC-58C014B45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996147F-85A5-AE3F-D958-F15B2EF16F1B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B1CB857-BADE-6603-4354-5E322FDF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4089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improvement-data augmentation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0F1C83-A4E7-56E0-55A4-C3F53337F98F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BF31388-830C-137F-FB54-7BFEF1A42369}"/>
              </a:ext>
            </a:extLst>
          </p:cNvPr>
          <p:cNvGrpSpPr/>
          <p:nvPr/>
        </p:nvGrpSpPr>
        <p:grpSpPr>
          <a:xfrm>
            <a:off x="861565" y="2083635"/>
            <a:ext cx="10468870" cy="2750690"/>
            <a:chOff x="983334" y="2182784"/>
            <a:chExt cx="9485964" cy="2492432"/>
          </a:xfrm>
        </p:grpSpPr>
        <p:pic>
          <p:nvPicPr>
            <p:cNvPr id="6" name="그림 5" descr="원, 일반 보급, 접시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0811C65-818A-D756-86F2-CFB22AEC0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4870" y="2182784"/>
              <a:ext cx="2542956" cy="2492432"/>
            </a:xfrm>
            <a:prstGeom prst="rect">
              <a:avLst/>
            </a:prstGeom>
          </p:spPr>
        </p:pic>
        <p:pic>
          <p:nvPicPr>
            <p:cNvPr id="8" name="그림 7" descr="원, 실내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CBACCCA-C2DB-1FDE-75BA-2B5CB6059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37"/>
            <a:stretch/>
          </p:blipFill>
          <p:spPr>
            <a:xfrm>
              <a:off x="983334" y="2188510"/>
              <a:ext cx="2542956" cy="2480981"/>
            </a:xfrm>
            <a:prstGeom prst="rect">
              <a:avLst/>
            </a:prstGeom>
          </p:spPr>
        </p:pic>
        <p:pic>
          <p:nvPicPr>
            <p:cNvPr id="10" name="그림 9" descr="원, 거울, 실내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259BF291-2C1D-4EEC-E932-FA6D91DA3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6407" y="2182784"/>
              <a:ext cx="2562891" cy="2492432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903509C-D4EA-7422-303F-D977E36C3F5B}"/>
              </a:ext>
            </a:extLst>
          </p:cNvPr>
          <p:cNvSpPr txBox="1"/>
          <p:nvPr/>
        </p:nvSpPr>
        <p:spPr>
          <a:xfrm>
            <a:off x="801976" y="5201584"/>
            <a:ext cx="2626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-25% brightness</a:t>
            </a:r>
            <a:endParaRPr lang="ko-KR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7357BF-AC81-59EB-FF4F-920E7F156A3F}"/>
              </a:ext>
            </a:extLst>
          </p:cNvPr>
          <p:cNvSpPr txBox="1"/>
          <p:nvPr/>
        </p:nvSpPr>
        <p:spPr>
          <a:xfrm>
            <a:off x="8603111" y="5201583"/>
            <a:ext cx="2626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+25% brightness</a:t>
            </a:r>
            <a:endParaRPr lang="ko-KR" alt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05CEDD-26D8-A6CA-5797-F5F387C1BA3D}"/>
              </a:ext>
            </a:extLst>
          </p:cNvPr>
          <p:cNvSpPr txBox="1"/>
          <p:nvPr/>
        </p:nvSpPr>
        <p:spPr>
          <a:xfrm>
            <a:off x="4742304" y="5201583"/>
            <a:ext cx="2626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Original image</a:t>
            </a:r>
            <a:endParaRPr lang="ko-KR" altLang="en-US" sz="2400" dirty="0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8489AD85-2146-2DFC-3ECD-D74C923C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20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511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CB9AB-200E-3E79-8D46-53FE78F2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0A85ADD-4FBD-7242-EA2D-B6CCAC8C42F7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EC917D-294E-3D47-166A-D4089C70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4089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improvement-test metric values (augmented)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3F5F45-6213-8F96-5537-C1DA29201E82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5493CD-FDB4-66DE-6F81-97CDF1A79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407705"/>
              </p:ext>
            </p:extLst>
          </p:nvPr>
        </p:nvGraphicFramePr>
        <p:xfrm>
          <a:off x="928140" y="2268369"/>
          <a:ext cx="10335719" cy="38475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445">
                  <a:extLst>
                    <a:ext uri="{9D8B030D-6E8A-4147-A177-3AD203B41FA5}">
                      <a16:colId xmlns:a16="http://schemas.microsoft.com/office/drawing/2014/main" val="4178268630"/>
                    </a:ext>
                  </a:extLst>
                </a:gridCol>
                <a:gridCol w="1863445">
                  <a:extLst>
                    <a:ext uri="{9D8B030D-6E8A-4147-A177-3AD203B41FA5}">
                      <a16:colId xmlns:a16="http://schemas.microsoft.com/office/drawing/2014/main" val="87344527"/>
                    </a:ext>
                  </a:extLst>
                </a:gridCol>
                <a:gridCol w="2302156">
                  <a:extLst>
                    <a:ext uri="{9D8B030D-6E8A-4147-A177-3AD203B41FA5}">
                      <a16:colId xmlns:a16="http://schemas.microsoft.com/office/drawing/2014/main" val="1113178571"/>
                    </a:ext>
                  </a:extLst>
                </a:gridCol>
                <a:gridCol w="2353112">
                  <a:extLst>
                    <a:ext uri="{9D8B030D-6E8A-4147-A177-3AD203B41FA5}">
                      <a16:colId xmlns:a16="http://schemas.microsoft.com/office/drawing/2014/main" val="3828066064"/>
                    </a:ext>
                  </a:extLst>
                </a:gridCol>
                <a:gridCol w="1953561">
                  <a:extLst>
                    <a:ext uri="{9D8B030D-6E8A-4147-A177-3AD203B41FA5}">
                      <a16:colId xmlns:a16="http://schemas.microsoft.com/office/drawing/2014/main" val="3248661161"/>
                    </a:ext>
                  </a:extLst>
                </a:gridCol>
              </a:tblGrid>
              <a:tr h="784823"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Data</a:t>
                      </a:r>
                    </a:p>
                    <a:p>
                      <a:pPr algn="ctr" fontAlgn="ctr"/>
                      <a:r>
                        <a:rPr lang="nl-BE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augmentation</a:t>
                      </a:r>
                      <a:endParaRPr lang="nl-BE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Epoch</a:t>
                      </a:r>
                      <a:r>
                        <a:rPr lang="nl-BE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#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Precision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Recall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F1 score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47644362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0.810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0.591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0.683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03254929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0.815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0.601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0.692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93847958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150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0.818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0.654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0.727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47695007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0.849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0.646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0.734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316819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300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0.808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0.664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0.729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968824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0.816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0.639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0.717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70000667"/>
                  </a:ext>
                </a:extLst>
              </a:tr>
            </a:tbl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ABB257-A539-158C-39F3-EA6BA5832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21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6463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42A7-88F2-0516-8B08-AD3BDEB06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29CB55B-3889-2547-C6C6-072EE8E91F5A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D039418-AD68-F863-91EC-B4774408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4089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Model improvement-test metric values (augmented)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E71612-ECA1-5C17-3B17-406FE766DBB7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A6A0CD6-39B1-F8EE-61D8-DD2F0E781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044674"/>
              </p:ext>
            </p:extLst>
          </p:nvPr>
        </p:nvGraphicFramePr>
        <p:xfrm>
          <a:off x="928140" y="1707437"/>
          <a:ext cx="10335719" cy="38475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445">
                  <a:extLst>
                    <a:ext uri="{9D8B030D-6E8A-4147-A177-3AD203B41FA5}">
                      <a16:colId xmlns:a16="http://schemas.microsoft.com/office/drawing/2014/main" val="4178268630"/>
                    </a:ext>
                  </a:extLst>
                </a:gridCol>
                <a:gridCol w="1863445">
                  <a:extLst>
                    <a:ext uri="{9D8B030D-6E8A-4147-A177-3AD203B41FA5}">
                      <a16:colId xmlns:a16="http://schemas.microsoft.com/office/drawing/2014/main" val="87344527"/>
                    </a:ext>
                  </a:extLst>
                </a:gridCol>
                <a:gridCol w="2302156">
                  <a:extLst>
                    <a:ext uri="{9D8B030D-6E8A-4147-A177-3AD203B41FA5}">
                      <a16:colId xmlns:a16="http://schemas.microsoft.com/office/drawing/2014/main" val="1113178571"/>
                    </a:ext>
                  </a:extLst>
                </a:gridCol>
                <a:gridCol w="2353112">
                  <a:extLst>
                    <a:ext uri="{9D8B030D-6E8A-4147-A177-3AD203B41FA5}">
                      <a16:colId xmlns:a16="http://schemas.microsoft.com/office/drawing/2014/main" val="3828066064"/>
                    </a:ext>
                  </a:extLst>
                </a:gridCol>
                <a:gridCol w="1953561">
                  <a:extLst>
                    <a:ext uri="{9D8B030D-6E8A-4147-A177-3AD203B41FA5}">
                      <a16:colId xmlns:a16="http://schemas.microsoft.com/office/drawing/2014/main" val="3248661161"/>
                    </a:ext>
                  </a:extLst>
                </a:gridCol>
              </a:tblGrid>
              <a:tr h="784823"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Data</a:t>
                      </a:r>
                    </a:p>
                    <a:p>
                      <a:pPr algn="ctr" fontAlgn="ctr"/>
                      <a:r>
                        <a:rPr lang="nl-BE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augmentation</a:t>
                      </a:r>
                      <a:endParaRPr lang="nl-BE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Epoch</a:t>
                      </a:r>
                      <a:r>
                        <a:rPr lang="nl-BE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#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Precision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Recall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BE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F1 score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47644362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0.810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0.591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0.683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103254929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0.815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0.601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0.692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93847958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150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0.818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0.654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0.727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47695007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0.849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0.646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0.734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316819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300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0.808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0.664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0.729</a:t>
                      </a:r>
                    </a:p>
                  </a:txBody>
                  <a:tcPr marL="4763" marR="4763" marT="476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968824"/>
                  </a:ext>
                </a:extLst>
              </a:tr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600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0.816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0.639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0.717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70000667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F002543-C6B7-1BF3-9E4D-9C2A6FF01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462233"/>
              </p:ext>
            </p:extLst>
          </p:nvPr>
        </p:nvGraphicFramePr>
        <p:xfrm>
          <a:off x="928140" y="5717262"/>
          <a:ext cx="10335719" cy="5104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445">
                  <a:extLst>
                    <a:ext uri="{9D8B030D-6E8A-4147-A177-3AD203B41FA5}">
                      <a16:colId xmlns:a16="http://schemas.microsoft.com/office/drawing/2014/main" val="4178268630"/>
                    </a:ext>
                  </a:extLst>
                </a:gridCol>
                <a:gridCol w="1863445">
                  <a:extLst>
                    <a:ext uri="{9D8B030D-6E8A-4147-A177-3AD203B41FA5}">
                      <a16:colId xmlns:a16="http://schemas.microsoft.com/office/drawing/2014/main" val="87344527"/>
                    </a:ext>
                  </a:extLst>
                </a:gridCol>
                <a:gridCol w="2302156">
                  <a:extLst>
                    <a:ext uri="{9D8B030D-6E8A-4147-A177-3AD203B41FA5}">
                      <a16:colId xmlns:a16="http://schemas.microsoft.com/office/drawing/2014/main" val="1113178571"/>
                    </a:ext>
                  </a:extLst>
                </a:gridCol>
                <a:gridCol w="2353112">
                  <a:extLst>
                    <a:ext uri="{9D8B030D-6E8A-4147-A177-3AD203B41FA5}">
                      <a16:colId xmlns:a16="http://schemas.microsoft.com/office/drawing/2014/main" val="3828066064"/>
                    </a:ext>
                  </a:extLst>
                </a:gridCol>
                <a:gridCol w="1953561">
                  <a:extLst>
                    <a:ext uri="{9D8B030D-6E8A-4147-A177-3AD203B41FA5}">
                      <a16:colId xmlns:a16="http://schemas.microsoft.com/office/drawing/2014/main" val="3248661161"/>
                    </a:ext>
                  </a:extLst>
                </a:gridCol>
              </a:tblGrid>
              <a:tr h="5104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Yes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0.796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0.694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0.741</a:t>
                      </a:r>
                    </a:p>
                  </a:txBody>
                  <a:tcPr marL="4763" marR="4763" marT="4763" marB="0" anchor="ctr">
                    <a:solidFill>
                      <a:srgbClr val="1E64C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316819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DEF7AF2-F25D-3008-0A36-C377A585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22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2371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187CD-4312-CEC0-8C18-EA3CB1AC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91D275-DE41-46CC-5451-1EDE11CDDB46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BCC6F6-8B39-C6D9-6499-87ABF041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Conclusion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61E229-6350-9B3E-C49E-18D90FABF1FC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099CC899-C4C5-2924-4D05-C0424AC32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864777" cy="4412805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UGent Panno Text" panose="02000506040000040003" pitchFamily="2" charset="0"/>
              </a:rPr>
              <a:t>The best number of epoch is 200 both for not augmented model and the augmented model.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When preprocessing and augmentation technique is applied to the dataset, the model gets better precision than the same epoch finetuned one.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If use the model as pretrained model and train with another petri-dish dataset (the ones that multiple labels are on one petri dish), the F1 score gets higher but the actual inferences show poor performances.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If apply the precision and recall from test dataset, the ones that are retrained get lower F1 score.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C04FD7E-66C7-D1E8-C466-7909053A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23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5507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09BF0-CFE4-F638-395A-A5E812AF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F041339-9118-4FC8-995B-9A496D82574C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5246F94-B2B7-8C5B-E6B2-4D13504F6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Industrial use : Growth Direct® System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75684E-1605-845C-CF34-994A291EBB38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AC7D05C2-0AC4-0A57-A4A1-C2059DF26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77" y="1613162"/>
            <a:ext cx="9872045" cy="4946592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188468D-566C-04B8-62A1-C43B25D5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24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5330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372B5-33CA-E236-789F-7BFA3E84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696A69-75FC-28AF-5D68-44F0FCC72F24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2DF54C0-69EC-8A9B-261F-429AEBD8C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Discussion: Gained Knowledge &amp; Experiences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A2A3EA-F823-F3FB-38F9-4FA33E9A2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UGent Panno Text" panose="02000506040000040003" pitchFamily="2" charset="0"/>
              </a:rPr>
              <a:t>Object detection (two stage models, one stage models)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Computer vision techniques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Micro-organism image dataset labeling</a:t>
            </a:r>
          </a:p>
          <a:p>
            <a:r>
              <a:rPr lang="en-US" altLang="ko-KR" b="1" dirty="0">
                <a:latin typeface="UGent Panno Text" panose="02000506040000040003" pitchFamily="2" charset="0"/>
              </a:rPr>
              <a:t>Industrial usage of computer vision in bioprocessing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FDA standards for pharmaceutics’ development &amp; quality control</a:t>
            </a:r>
          </a:p>
          <a:p>
            <a:r>
              <a:rPr lang="en-US" altLang="ko-KR" b="1" dirty="0">
                <a:latin typeface="UGent Panno Text" panose="02000506040000040003" pitchFamily="2" charset="0"/>
              </a:rPr>
              <a:t>Yolo model development history</a:t>
            </a:r>
          </a:p>
          <a:p>
            <a:r>
              <a:rPr lang="en-US" altLang="ko-KR" b="1" dirty="0">
                <a:latin typeface="UGent Panno Text" panose="02000506040000040003" pitchFamily="2" charset="0"/>
              </a:rPr>
              <a:t>Yolo model finetune &amp; evaluation 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Augmentation techniques and the actual applications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237C77-52B1-9E47-FF0C-2184D89E74BE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53445E-2214-1334-A171-89961FBF4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25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1121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E578-835D-8F81-3475-1612E426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206B43-447D-E292-1E6F-2E690DA32854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C31283-4AD2-C840-CF5E-76F3C0AE1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Discussion: Further study ideas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7CB4EB-4FA3-24DF-8E64-3016995C9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5077"/>
          </a:xfrm>
        </p:spPr>
        <p:txBody>
          <a:bodyPr>
            <a:normAutofit lnSpcReduction="10000"/>
          </a:bodyPr>
          <a:lstStyle/>
          <a:p>
            <a:r>
              <a:rPr lang="en-US" altLang="ko-KR" dirty="0">
                <a:latin typeface="UGent Panno Text" panose="02000506040000040003" pitchFamily="2" charset="0"/>
              </a:rPr>
              <a:t>Real-time detective model training for rt-QC in bioprocessing using video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Wider labels of microorganisms (varying microorganisms for the detection)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SSD (single shot </a:t>
            </a:r>
            <a:r>
              <a:rPr lang="en-US" altLang="ko-KR" dirty="0" err="1">
                <a:latin typeface="UGent Panno Text" panose="02000506040000040003" pitchFamily="2" charset="0"/>
              </a:rPr>
              <a:t>multibox</a:t>
            </a:r>
            <a:r>
              <a:rPr lang="en-US" altLang="ko-KR" dirty="0">
                <a:latin typeface="UGent Panno Text" panose="02000506040000040003" pitchFamily="2" charset="0"/>
              </a:rPr>
              <a:t> detector) usage in bioprocessing QC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Transformer usage in object detection (DETR: detection with transformer)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Evaluating model usage on microorganism classification/detection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Microorganism detection in oral/colon/stomach epithelial cells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Diagnostics from urine sample; microorganism classification using CV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Biomedical</a:t>
            </a:r>
            <a:r>
              <a:rPr lang="ko-KR" altLang="en-US" dirty="0">
                <a:latin typeface="UGent Panno Text" panose="02000506040000040003" pitchFamily="2" charset="0"/>
              </a:rPr>
              <a:t> </a:t>
            </a:r>
            <a:r>
              <a:rPr lang="en-US" altLang="ko-KR" dirty="0">
                <a:latin typeface="UGent Panno Text" panose="02000506040000040003" pitchFamily="2" charset="0"/>
              </a:rPr>
              <a:t>paper analysis using </a:t>
            </a:r>
            <a:r>
              <a:rPr lang="en-US" altLang="ko-KR" dirty="0" err="1">
                <a:latin typeface="UGent Panno Text" panose="02000506040000040003" pitchFamily="2" charset="0"/>
              </a:rPr>
              <a:t>BioBERT</a:t>
            </a:r>
            <a:r>
              <a:rPr lang="en-US" altLang="ko-KR" dirty="0">
                <a:latin typeface="UGent Panno Text" panose="02000506040000040003" pitchFamily="2" charset="0"/>
              </a:rPr>
              <a:t> (another pretrained model)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Model training for laboratory usage (creation of pretrained model for biolab)</a:t>
            </a:r>
          </a:p>
          <a:p>
            <a:r>
              <a:rPr lang="en-US" altLang="ko-KR" dirty="0">
                <a:latin typeface="UGent Panno Text" panose="02000506040000040003" pitchFamily="2" charset="0"/>
              </a:rPr>
              <a:t>Augmentation technique that fits to the model of micro-organism detection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0F3655-F3F0-383A-99A8-8653C8A3FE10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663861-0617-49AA-52C0-6FD500348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26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7305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ABD85-80F5-82FB-E1B9-4B3BF75A1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49E154D-BC4D-4C8A-6D06-7EC351C2C229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AB7EFA4-044D-8A3E-EFA3-BE3D7720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References (1)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AE3759-905A-6EB1-2DEE-F1D5C7083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59" y="1608242"/>
            <a:ext cx="10861675" cy="5062381"/>
          </a:xfrm>
        </p:spPr>
        <p:txBody>
          <a:bodyPr>
            <a:noAutofit/>
          </a:bodyPr>
          <a:lstStyle/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b="1" dirty="0">
                <a:latin typeface="UGent Panno Text" panose="02000506040000040003" pitchFamily="2" charset="0"/>
              </a:rPr>
              <a:t>Bacteria. (2022, September). Microbial Colonies Dataset [Open Source Dataset]. </a:t>
            </a:r>
            <a:r>
              <a:rPr lang="en-US" altLang="ko-KR" sz="1800" b="1" dirty="0" err="1">
                <a:latin typeface="UGent Panno Text" panose="02000506040000040003" pitchFamily="2" charset="0"/>
              </a:rPr>
              <a:t>Roboflow</a:t>
            </a:r>
            <a:r>
              <a:rPr lang="en-US" altLang="ko-KR" sz="1800" b="1" dirty="0">
                <a:latin typeface="UGent Panno Text" panose="02000506040000040003" pitchFamily="2" charset="0"/>
              </a:rPr>
              <a:t> Universe. </a:t>
            </a:r>
            <a:r>
              <a:rPr lang="en-US" altLang="ko-KR" sz="1800" b="1" dirty="0" err="1">
                <a:latin typeface="UGent Panno Text" panose="02000506040000040003" pitchFamily="2" charset="0"/>
              </a:rPr>
              <a:t>Roboflow</a:t>
            </a:r>
            <a:r>
              <a:rPr lang="en-US" altLang="ko-KR" sz="1800" b="1" dirty="0">
                <a:latin typeface="UGent Panno Text" panose="02000506040000040003" pitchFamily="2" charset="0"/>
              </a:rPr>
              <a:t>. Retrieved February 1, 2025, from https://universe.roboflow.com/bacteria-5xdkl/microbial-colonies</a:t>
            </a:r>
            <a:endParaRPr lang="en-US" altLang="ko-KR" sz="1800" dirty="0">
              <a:latin typeface="UGent Panno Text" panose="02000506040000040003" pitchFamily="2" charset="0"/>
            </a:endParaRP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b="1" dirty="0" err="1">
                <a:latin typeface="UGent Panno Text" panose="02000506040000040003" pitchFamily="2" charset="0"/>
              </a:rPr>
              <a:t>Farzadnekouei</a:t>
            </a:r>
            <a:r>
              <a:rPr lang="en-US" altLang="ko-KR" sz="1800" b="1" dirty="0">
                <a:latin typeface="UGent Panno Text" panose="02000506040000040003" pitchFamily="2" charset="0"/>
              </a:rPr>
              <a:t>. (2024, January 7). Real-Time Traffic Density Estimation with YOLOv8. Kaggle. https://www.kaggle.com/code/farzadnekouei/real-time-traffic-density-estimation-with-yolov8/notebook</a:t>
            </a:r>
            <a:endParaRPr lang="en-US" altLang="ko-KR" sz="1800" dirty="0">
              <a:latin typeface="UGent Panno Text" panose="02000506040000040003" pitchFamily="2" charset="0"/>
            </a:endParaRP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UGent Panno Text" panose="02000506040000040003" pitchFamily="2" charset="0"/>
              </a:rPr>
              <a:t>FDA. (25 Aug 2020). Pharmaceutical Microbiology Manual. FOOD AND DRUG ADMINISTRATION OFFICE OF REGULATORY AFFAIRS Office of Regulatory Science, 7(2), 1-92.</a:t>
            </a: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err="1">
                <a:latin typeface="UGent Panno Text" panose="02000506040000040003" pitchFamily="2" charset="0"/>
              </a:rPr>
              <a:t>Jarostaw</a:t>
            </a:r>
            <a:r>
              <a:rPr lang="en-US" altLang="ko-KR" sz="1800" dirty="0">
                <a:latin typeface="UGent Panno Text" panose="02000506040000040003" pitchFamily="2" charset="0"/>
              </a:rPr>
              <a:t>, P., Sylwia, M. (13 Oct 2021). Recognition and counting of microorganisms on Petri dishes. https://neurosys.com/blog/recognition-and-counting-of-microorganisms</a:t>
            </a: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UGent Panno Text" panose="02000506040000040003" pitchFamily="2" charset="0"/>
              </a:rPr>
              <a:t>J. Redmon et al. YOLO9000: Better, Faster, Stronger. </a:t>
            </a:r>
            <a:r>
              <a:rPr lang="en-US" altLang="ko-KR" sz="1800" dirty="0" err="1">
                <a:latin typeface="UGent Panno Text" panose="02000506040000040003" pitchFamily="2" charset="0"/>
              </a:rPr>
              <a:t>arXiv</a:t>
            </a:r>
            <a:r>
              <a:rPr lang="en-US" altLang="ko-KR" sz="1800" dirty="0">
                <a:latin typeface="UGent Panno Text" panose="02000506040000040003" pitchFamily="2" charset="0"/>
              </a:rPr>
              <a:t> 1612.08242</a:t>
            </a: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UGent Panno Text" panose="02000506040000040003" pitchFamily="2" charset="0"/>
              </a:rPr>
              <a:t>J. Redmon et al. YOLOv3: An Incremental Improvement. </a:t>
            </a:r>
            <a:r>
              <a:rPr lang="en-US" altLang="ko-KR" sz="1800" dirty="0" err="1">
                <a:latin typeface="UGent Panno Text" panose="02000506040000040003" pitchFamily="2" charset="0"/>
              </a:rPr>
              <a:t>arXiv</a:t>
            </a:r>
            <a:r>
              <a:rPr lang="en-US" altLang="ko-KR" sz="1800" dirty="0">
                <a:latin typeface="UGent Panno Text" panose="02000506040000040003" pitchFamily="2" charset="0"/>
              </a:rPr>
              <a:t> 1804.02767</a:t>
            </a: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UGent Panno Text" panose="02000506040000040003" pitchFamily="2" charset="0"/>
              </a:rPr>
              <a:t>Rodrigues, P. M., Luís, J., &amp; </a:t>
            </a:r>
            <a:r>
              <a:rPr lang="en-US" altLang="ko-KR" sz="1800" dirty="0" err="1">
                <a:latin typeface="UGent Panno Text" panose="02000506040000040003" pitchFamily="2" charset="0"/>
              </a:rPr>
              <a:t>Tavaria</a:t>
            </a:r>
            <a:r>
              <a:rPr lang="en-US" altLang="ko-KR" sz="1800" dirty="0">
                <a:latin typeface="UGent Panno Text" panose="02000506040000040003" pitchFamily="2" charset="0"/>
              </a:rPr>
              <a:t>, F. K. (2022). Image analysis semi-automatic system for colony-forming-unit counting. Bioengineering, 9(7), Article 271. https://doi.org/10.3390/bioengineering9070271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91527C-5B16-2492-E330-407E2F1E8864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71BAD6-2321-4BAC-7AC4-EE386F2B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27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0838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84DA6-3F3A-9A77-3326-8E3C133C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6242720-4B99-4E79-C8EE-FD6198E2E8A6}"/>
              </a:ext>
            </a:extLst>
          </p:cNvPr>
          <p:cNvSpPr/>
          <p:nvPr/>
        </p:nvSpPr>
        <p:spPr>
          <a:xfrm>
            <a:off x="0" y="0"/>
            <a:ext cx="12192000" cy="147927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43DA91-3BE8-9911-EF19-BDCF2285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UGent Panno Text" panose="02000506040000040003" pitchFamily="2" charset="0"/>
              </a:rPr>
              <a:t>References (2)</a:t>
            </a:r>
            <a:endParaRPr lang="ko-KR" altLang="en-US" dirty="0">
              <a:solidFill>
                <a:schemeClr val="bg1"/>
              </a:solidFill>
              <a:latin typeface="UGent Panno Text" panose="02000506040000040003" pitchFamily="2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21543-04F6-B753-0332-9E42E711D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310"/>
            <a:ext cx="10515600" cy="4671516"/>
          </a:xfrm>
        </p:spPr>
        <p:txBody>
          <a:bodyPr>
            <a:noAutofit/>
          </a:bodyPr>
          <a:lstStyle/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UGent Panno Text" panose="02000506040000040003" pitchFamily="2" charset="0"/>
              </a:rPr>
              <a:t>Redmond et al. (2015). You Only Look Once: Unified, Real-Time Object Detection, CVPR</a:t>
            </a:r>
          </a:p>
          <a:p>
            <a:pPr marL="18000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UGent Panno Text" panose="02000506040000040003" pitchFamily="2" charset="0"/>
              </a:rPr>
              <a:t>Rodrigues, P. M. (Creator), Luis, J. (Creator), </a:t>
            </a:r>
            <a:r>
              <a:rPr lang="en-US" altLang="ko-KR" sz="1800" dirty="0" err="1">
                <a:latin typeface="UGent Panno Text" panose="02000506040000040003" pitchFamily="2" charset="0"/>
              </a:rPr>
              <a:t>Tavaria</a:t>
            </a:r>
            <a:r>
              <a:rPr lang="en-US" altLang="ko-KR" sz="1800" dirty="0">
                <a:latin typeface="UGent Panno Text" panose="02000506040000040003" pitchFamily="2" charset="0"/>
              </a:rPr>
              <a:t>, F. (Creator) (21 Jun 2022). Petri dishes digital images dataset of </a:t>
            </a:r>
            <a:r>
              <a:rPr lang="en-US" altLang="ko-KR" sz="1800" dirty="0" err="1">
                <a:latin typeface="UGent Panno Text" panose="02000506040000040003" pitchFamily="2" charset="0"/>
              </a:rPr>
              <a:t>e.coli</a:t>
            </a:r>
            <a:r>
              <a:rPr lang="en-US" altLang="ko-KR" sz="1800" dirty="0">
                <a:latin typeface="UGent Panno Text" panose="02000506040000040003" pitchFamily="2" charset="0"/>
              </a:rPr>
              <a:t>, </a:t>
            </a:r>
            <a:r>
              <a:rPr lang="en-US" altLang="ko-KR" sz="1800" dirty="0" err="1">
                <a:latin typeface="UGent Panno Text" panose="02000506040000040003" pitchFamily="2" charset="0"/>
              </a:rPr>
              <a:t>s.aureus</a:t>
            </a:r>
            <a:r>
              <a:rPr lang="en-US" altLang="ko-KR" sz="1800" dirty="0">
                <a:latin typeface="UGent Panno Text" panose="02000506040000040003" pitchFamily="2" charset="0"/>
              </a:rPr>
              <a:t> and </a:t>
            </a:r>
            <a:r>
              <a:rPr lang="en-US" altLang="ko-KR" sz="1800" dirty="0" err="1">
                <a:latin typeface="UGent Panno Text" panose="02000506040000040003" pitchFamily="2" charset="0"/>
              </a:rPr>
              <a:t>p.aeruginosa</a:t>
            </a:r>
            <a:r>
              <a:rPr lang="en-US" altLang="ko-KR" sz="1800" dirty="0">
                <a:latin typeface="UGent Panno Text" panose="02000506040000040003" pitchFamily="2" charset="0"/>
              </a:rPr>
              <a:t>. </a:t>
            </a:r>
            <a:r>
              <a:rPr lang="en-US" altLang="ko-KR" sz="1800" dirty="0" err="1">
                <a:latin typeface="UGent Panno Text" panose="02000506040000040003" pitchFamily="2" charset="0"/>
              </a:rPr>
              <a:t>Figshare</a:t>
            </a:r>
            <a:r>
              <a:rPr lang="en-US" altLang="ko-KR" sz="1800" dirty="0">
                <a:latin typeface="UGent Panno Text" panose="02000506040000040003" pitchFamily="2" charset="0"/>
              </a:rPr>
              <a:t>. 10.6084/m9.figshare.20109377.v2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UGent Panno Text" panose="02000506040000040003" pitchFamily="2" charset="0"/>
              </a:rPr>
              <a:t>Ross et al. (2014). Rich feature hierarchies for accurate object detection and semantic segmentation.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UGent Panno Text" panose="02000506040000040003" pitchFamily="2" charset="0"/>
              </a:rPr>
              <a:t>Stanford 231b, selective search, http://vision.stanford.edu/teaching/cs231b_spring1415/slides/ssearch_schuyler.pdf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err="1">
                <a:latin typeface="UGent Panno Text" panose="02000506040000040003" pitchFamily="2" charset="0"/>
              </a:rPr>
              <a:t>Stpete_ishii</a:t>
            </a:r>
            <a:r>
              <a:rPr lang="en-US" altLang="ko-KR" sz="1800" dirty="0">
                <a:latin typeface="UGent Panno Text" panose="02000506040000040003" pitchFamily="2" charset="0"/>
              </a:rPr>
              <a:t>. (2022). Micro Organism Classify MONAI </a:t>
            </a:r>
            <a:r>
              <a:rPr lang="en-US" altLang="ko-KR" sz="1800" dirty="0" err="1">
                <a:latin typeface="UGent Panno Text" panose="02000506040000040003" pitchFamily="2" charset="0"/>
              </a:rPr>
              <a:t>Pytorch</a:t>
            </a:r>
            <a:r>
              <a:rPr lang="en-US" altLang="ko-KR" sz="1800" dirty="0">
                <a:latin typeface="UGent Panno Text" panose="02000506040000040003" pitchFamily="2" charset="0"/>
              </a:rPr>
              <a:t>, Version 10.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 err="1">
                <a:latin typeface="UGent Panno Text" panose="02000506040000040003" pitchFamily="2" charset="0"/>
              </a:rPr>
              <a:t>Ultralytics</a:t>
            </a:r>
            <a:r>
              <a:rPr lang="en-US" altLang="ko-KR" sz="1800" dirty="0">
                <a:latin typeface="UGent Panno Text" panose="02000506040000040003" pitchFamily="2" charset="0"/>
              </a:rPr>
              <a:t>. (2024, December 18). Tips for model training. Tips for model training - </a:t>
            </a:r>
            <a:r>
              <a:rPr lang="en-US" altLang="ko-KR" sz="1800" dirty="0" err="1">
                <a:latin typeface="UGent Panno Text" panose="02000506040000040003" pitchFamily="2" charset="0"/>
              </a:rPr>
              <a:t>Ultralytics</a:t>
            </a:r>
            <a:r>
              <a:rPr lang="en-US" altLang="ko-KR" sz="1800" dirty="0">
                <a:latin typeface="UGent Panno Text" panose="02000506040000040003" pitchFamily="2" charset="0"/>
              </a:rPr>
              <a:t> YOLO docs. https://docs.ultralytics.com/ko/guides/model-training-tips/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UGent Panno Text" panose="02000506040000040003" pitchFamily="2" charset="0"/>
              </a:rPr>
              <a:t>Wang, Y., et al. (2016). "Optimization of perfusion bioreactor systems for large-scale cell culture applications in biotechnology." Biotechnology and Bioengineering, 113(8), 1801-1811.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UGent Panno Text" panose="02000506040000040003" pitchFamily="2" charset="0"/>
              </a:rPr>
              <a:t>Yolov8 vs. </a:t>
            </a:r>
            <a:r>
              <a:rPr lang="en-US" altLang="ko-KR" sz="1800" dirty="0" err="1">
                <a:latin typeface="UGent Panno Text" panose="02000506040000040003" pitchFamily="2" charset="0"/>
              </a:rPr>
              <a:t>EfficientNet</a:t>
            </a:r>
            <a:r>
              <a:rPr lang="en-US" altLang="ko-KR" sz="1800" dirty="0">
                <a:latin typeface="UGent Panno Text" panose="02000506040000040003" pitchFamily="2" charset="0"/>
              </a:rPr>
              <a:t>. Compared and Contrasted. (n.d.). https://roboflow.com/compare/yolov8-vs-efficientnet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7BDA73-2280-D9A3-5EFB-F2547B4DD9A0}"/>
              </a:ext>
            </a:extLst>
          </p:cNvPr>
          <p:cNvSpPr/>
          <p:nvPr/>
        </p:nvSpPr>
        <p:spPr>
          <a:xfrm>
            <a:off x="0" y="6693646"/>
            <a:ext cx="12192000" cy="164353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FBB6C33-AC39-8066-8C97-70C3FEDB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28</a:t>
            </a:fld>
            <a:r>
              <a:rPr lang="ko-KR" altLang="en-US"/>
              <a:t> </a:t>
            </a:r>
            <a:r>
              <a:rPr lang="en-US" altLang="ko-KR"/>
              <a:t>/29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3674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DB051-EDA7-46D1-4720-B719DC8A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C0517E6-F406-4137-0D15-8A67D1FC018D}"/>
              </a:ext>
            </a:extLst>
          </p:cNvPr>
          <p:cNvSpPr/>
          <p:nvPr/>
        </p:nvSpPr>
        <p:spPr>
          <a:xfrm>
            <a:off x="0" y="-1"/>
            <a:ext cx="12192000" cy="5118282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CD42D4-C6CF-2942-45D3-9675D2AE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65544"/>
            <a:ext cx="10515600" cy="2852737"/>
          </a:xfrm>
        </p:spPr>
        <p:txBody>
          <a:bodyPr>
            <a:normAutofit/>
          </a:bodyPr>
          <a:lstStyle/>
          <a:p>
            <a:r>
              <a:rPr lang="en-US" altLang="ko-KR" sz="4700" dirty="0">
                <a:solidFill>
                  <a:schemeClr val="bg1"/>
                </a:solidFill>
                <a:latin typeface="UGent Panno Text Medium" panose="02000606040000040003" pitchFamily="2" charset="0"/>
              </a:rPr>
              <a:t>Thank you. Any Questions?</a:t>
            </a:r>
            <a:endParaRPr lang="ko-KR" altLang="en-US" sz="4700" dirty="0">
              <a:solidFill>
                <a:schemeClr val="bg1"/>
              </a:solidFill>
              <a:latin typeface="UGent Panno Text Medium" panose="02000606040000040003" pitchFamily="2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B6D778-780C-6012-C262-36D3EF15A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145269"/>
            <a:ext cx="10515600" cy="1500187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UGent Panno Text" panose="02000506040000040003" pitchFamily="2" charset="0"/>
              </a:rPr>
              <a:t>AI-powered Quality control in Bioprocessing: automation of CRO test with Computer Vision</a:t>
            </a:r>
          </a:p>
          <a:p>
            <a:r>
              <a:rPr lang="en-US" altLang="ko-KR" dirty="0">
                <a:solidFill>
                  <a:schemeClr val="tx1"/>
                </a:solidFill>
                <a:latin typeface="UGent Panno Text" panose="02000506040000040003" pitchFamily="2" charset="0"/>
              </a:rPr>
              <a:t>02216822 Subin Hyun</a:t>
            </a:r>
            <a:endParaRPr lang="ko-KR" altLang="en-US" dirty="0">
              <a:solidFill>
                <a:schemeClr val="tx1"/>
              </a:solidFill>
              <a:latin typeface="UGent Panno Text" panose="02000506040000040003" pitchFamily="2" charset="0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2549DB-1C60-8FED-084E-6872AD89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E643F-74BF-4EBF-A462-65DED07D36D4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2015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UGent Panno Text">
      <a:majorFont>
        <a:latin typeface="UGent Panno Text Medium"/>
        <a:ea typeface="돋움"/>
        <a:cs typeface=""/>
      </a:majorFont>
      <a:minorFont>
        <a:latin typeface="UGent Panno Text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1827</TotalTime>
  <Words>1454</Words>
  <Application>Microsoft Office PowerPoint</Application>
  <PresentationFormat>와이드스크린</PresentationFormat>
  <Paragraphs>329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inherit</vt:lpstr>
      <vt:lpstr>맑은 고딕</vt:lpstr>
      <vt:lpstr>Arial</vt:lpstr>
      <vt:lpstr>Cambria Math</vt:lpstr>
      <vt:lpstr>Symbol</vt:lpstr>
      <vt:lpstr>UGent Panno Text</vt:lpstr>
      <vt:lpstr>UGent Panno Text Medium</vt:lpstr>
      <vt:lpstr>Office 테마</vt:lpstr>
      <vt:lpstr>AI-powered Quality control in Bioprocessing: automation of CRO test with Computer Vision</vt:lpstr>
      <vt:lpstr>Index</vt:lpstr>
      <vt:lpstr>Introduction-Keywords</vt:lpstr>
      <vt:lpstr>Introduction-Keywords</vt:lpstr>
      <vt:lpstr>Introduction-Why automation of QC required?</vt:lpstr>
      <vt:lpstr>FDA regulations for CRO test</vt:lpstr>
      <vt:lpstr>Main Idea: automation of counting micro-organisms</vt:lpstr>
      <vt:lpstr>Model training-dataset selection</vt:lpstr>
      <vt:lpstr>Model training-annotated data</vt:lpstr>
      <vt:lpstr>Model training-model type selection</vt:lpstr>
      <vt:lpstr>Model training-yolo version selection</vt:lpstr>
      <vt:lpstr>Model training-loss trend graph: Box loss</vt:lpstr>
      <vt:lpstr>Model training-loss trend graph: Classification loss</vt:lpstr>
      <vt:lpstr>Model training-loss trend graph: distribution focal loss</vt:lpstr>
      <vt:lpstr>Model training-validation</vt:lpstr>
      <vt:lpstr>Model training-validation</vt:lpstr>
      <vt:lpstr>Model evaluation</vt:lpstr>
      <vt:lpstr>Result</vt:lpstr>
      <vt:lpstr>Model evaluation-test metric values (not augmented)</vt:lpstr>
      <vt:lpstr>Model improvement-data augmentation</vt:lpstr>
      <vt:lpstr>Model improvement-test metric values (augmented)</vt:lpstr>
      <vt:lpstr>Model improvement-test metric values (augmented)</vt:lpstr>
      <vt:lpstr>Conclusion</vt:lpstr>
      <vt:lpstr>Industrial use : Growth Direct® System</vt:lpstr>
      <vt:lpstr>Discussion: Gained Knowledge &amp; Experiences</vt:lpstr>
      <vt:lpstr>Discussion: Further study ideas</vt:lpstr>
      <vt:lpstr>References (1)</vt:lpstr>
      <vt:lpstr>References (2)</vt:lpstr>
      <vt:lpstr>Thank you.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Subin Hyun</dc:creator>
  <cp:lastModifiedBy>Subin Hyun</cp:lastModifiedBy>
  <cp:revision>113</cp:revision>
  <dcterms:created xsi:type="dcterms:W3CDTF">2025-01-22T15:50:38Z</dcterms:created>
  <dcterms:modified xsi:type="dcterms:W3CDTF">2025-02-27T02:16:23Z</dcterms:modified>
</cp:coreProperties>
</file>